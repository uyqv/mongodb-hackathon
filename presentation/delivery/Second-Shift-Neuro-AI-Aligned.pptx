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35042469b414117" /><Relationship Type="http://schemas.openxmlformats.org/officeDocument/2006/relationships/extended-properties" Target="/docProps/app.xml" Id="R95a9cc156b5c40f5" /><Relationship Type="http://schemas.openxmlformats.org/officeDocument/2006/relationships/officeDocument" Target="/ppt/presentation.xml" Id="R01b6e54da9094c98" /></Relationships>
</file>

<file path=ppt/presentation.xml><?xml version="1.0" encoding="utf-8"?>
<p:presentation xmlns:p="http://schemas.openxmlformats.org/presentationml/2006/main">
  <p:sldMasterIdLst>
    <p:sldMasterId xmlns:r="http://schemas.openxmlformats.org/officeDocument/2006/relationships" id="2147483648" r:id="Rbb5f29822d564f49"/>
  </p:sldMasterIdLst>
  <p:notesMasterIdLst>
    <p:notesMasterId xmlns:r="http://schemas.openxmlformats.org/officeDocument/2006/relationships" r:id="R222f7934bde846cd"/>
  </p:notesMasterIdLst>
  <p:sldIdLst>
    <p:sldId xmlns:r="http://schemas.openxmlformats.org/officeDocument/2006/relationships" id="256" r:id="R10053bb260a9478b"/>
    <p:sldId xmlns:r="http://schemas.openxmlformats.org/officeDocument/2006/relationships" id="257" r:id="R55abb3f4520546dd"/>
    <p:sldId xmlns:r="http://schemas.openxmlformats.org/officeDocument/2006/relationships" id="258" r:id="R68947741ac5644ca"/>
    <p:sldId xmlns:r="http://schemas.openxmlformats.org/officeDocument/2006/relationships" id="259" r:id="Rbbfa4694d634426b"/>
    <p:sldId xmlns:r="http://schemas.openxmlformats.org/officeDocument/2006/relationships" id="260" r:id="R3176f4ff4c4046fb"/>
    <p:sldId xmlns:r="http://schemas.openxmlformats.org/officeDocument/2006/relationships" id="261" r:id="R8409d06a6c3142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7b410bcbea4fab" /><Relationship Type="http://schemas.openxmlformats.org/officeDocument/2006/relationships/slideMaster" Target="/ppt/slideMasters/slideMaster1.xml" Id="Rbb5f29822d564f49" /><Relationship Type="http://schemas.openxmlformats.org/officeDocument/2006/relationships/notesMaster" Target="/ppt/notesMasters/notesMaster1.xml" Id="R222f7934bde846cd" /><Relationship Type="http://schemas.openxmlformats.org/officeDocument/2006/relationships/presProps" Target="/ppt/presProps.xml" Id="R531d24f3e305402e" /><Relationship Type="http://schemas.openxmlformats.org/officeDocument/2006/relationships/tableStyles" Target="/ppt/tableStyles.xml" Id="Rb6c31ee26f1546c8" /><Relationship Type="http://schemas.openxmlformats.org/officeDocument/2006/relationships/slide" Target="/ppt/slides/slide1.xml" Id="R10053bb260a9478b" /><Relationship Type="http://schemas.openxmlformats.org/officeDocument/2006/relationships/slide" Target="/ppt/slides/slide2.xml" Id="R55abb3f4520546dd" /><Relationship Type="http://schemas.openxmlformats.org/officeDocument/2006/relationships/slide" Target="/ppt/slides/slide3.xml" Id="R68947741ac5644ca" /><Relationship Type="http://schemas.openxmlformats.org/officeDocument/2006/relationships/slide" Target="/ppt/slides/slide4.xml" Id="Rbbfa4694d634426b" /><Relationship Type="http://schemas.openxmlformats.org/officeDocument/2006/relationships/slide" Target="/ppt/slides/slide5.xml" Id="R3176f4ff4c4046fb" /><Relationship Type="http://schemas.openxmlformats.org/officeDocument/2006/relationships/slide" Target="/ppt/slides/slide6.xml" Id="R8409d06a6c3142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19b3f805b84c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b180ee95ea4b01" /><Relationship Type="http://schemas.openxmlformats.org/officeDocument/2006/relationships/notesMaster" Target="/ppt/notesMasters/notesMaster1.xml" Id="Rd1511f0a88c247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734634ced8450b" /><Relationship Type="http://schemas.openxmlformats.org/officeDocument/2006/relationships/notesMaster" Target="/ppt/notesMasters/notesMaster1.xml" Id="R25dbc9dddfa54b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aa77e9d20243fa" /><Relationship Type="http://schemas.openxmlformats.org/officeDocument/2006/relationships/notesMaster" Target="/ppt/notesMasters/notesMaster1.xml" Id="Rfce5b93fa9f74d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a3e1e578dc4cd3" /><Relationship Type="http://schemas.openxmlformats.org/officeDocument/2006/relationships/notesMaster" Target="/ppt/notesMasters/notesMaster1.xml" Id="R43e4111487204a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c48fd90fc84d02" /><Relationship Type="http://schemas.openxmlformats.org/officeDocument/2006/relationships/notesMaster" Target="/ppt/notesMasters/notesMaster1.xml" Id="Re31313dd2e034b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97d46523f44a3d" /><Relationship Type="http://schemas.openxmlformats.org/officeDocument/2006/relationships/notesMaster" Target="/ppt/notesMasters/notesMaster1.xml" Id="R82fc0aae979e4c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 seconds</a:t>
            </a:r>
          </a:p>
          <a:p xmlns:a="http://schemas.openxmlformats.org/drawingml/2006/main">
            <a:r>
              <a:t/>
            </a:r>
          </a:p>
          <a:p xmlns:a="http://schemas.openxmlformats.org/drawingml/2006/main">
            <a:r>
              <a:t>We built Second Shift, a neuroscience harness that keeps EEG research moving when an agent crashes or loses its working context.</a:t>
            </a:r>
          </a:p>
          <a:p xmlns:a="http://schemas.openxmlformats.org/drawingml/2006/main">
            <a:r>
              <a:t/>
            </a:r>
          </a:p>
          <a:p xmlns:a="http://schemas.openxmlformats.org/drawingml/2006/main">
            <a:r>
              <a:t>Sources and context</a:t>
            </a:r>
          </a:p>
          <a:p xmlns:a="http://schemas.openxmlformats.org/drawingml/2006/main">
            <a:r>
              <a:t>- README.md: What it does</a:t>
            </a:r>
          </a:p>
          <a:p xmlns:a="http://schemas.openxmlformats.org/drawingml/2006/main">
            <a:r>
              <a:t>- Conceptual artwork generated with built-in image_gen. Electrode placement is illustrative, not a measured montage.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12–27 seconds</a:t>
            </a:r>
          </a:p>
          <a:p xmlns:a="http://schemas.openxmlformats.org/drawingml/2006/main">
            <a:r>
              <a:t/>
            </a:r>
          </a:p>
          <a:p xmlns:a="http://schemas.openxmlformats.org/drawingml/2006/main">
            <a:r>
              <a:t>EEG records electrical activity from the scalp. Our task is to distinguish imagined fists from imagined feet. The agent searches 225 configurations, and each measured result helps guide its next experiment.</a:t>
            </a:r>
          </a:p>
          <a:p xmlns:a="http://schemas.openxmlformats.org/drawingml/2006/main">
            <a:r>
              <a:t/>
            </a:r>
          </a:p>
          <a:p xmlns:a="http://schemas.openxmlformats.org/drawingml/2006/main">
            <a:r>
              <a:t>Sources and context</a:t>
            </a:r>
          </a:p>
          <a:p xmlns:a="http://schemas.openxmlformats.org/drawingml/2006/main">
            <a:r>
              <a:t>- harness/contracts.py: 225 effective configurations</a:t>
            </a:r>
          </a:p>
          <a:p xmlns:a="http://schemas.openxmlformats.org/drawingml/2006/main">
            <a:r>
              <a:t>- harness/eeg.py: within-subject run 6 training, run 10 validation, run 14 sealed test</a:t>
            </a:r>
          </a:p>
          <a:p xmlns:a="http://schemas.openxmlformats.org/drawingml/2006/main">
            <a:r>
              <a:t>- PhysioNet EEG Motor Movement/Imagery v1.0.0: https://physionet.org/content/eegmmidb/1.0.0/</a:t>
            </a:r>
          </a:p>
          <a:p xmlns:a="http://schemas.openxmlformats.org/drawingml/2006/main">
            <a:r>
              <a:t>- Plot: S001R06.edf, channel C3, first T1 cue at 12.5 seconds, unfiltered 160 Hz samples. See source/eeg.json.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27–45 seconds</a:t>
            </a:r>
          </a:p>
          <a:p xmlns:a="http://schemas.openxmlformats.org/drawingml/2006/main">
            <a:r>
              <a:t/>
            </a:r>
          </a:p>
          <a:p xmlns:a="http://schemas.openxmlformats.org/drawingml/2006/main">
            <a:r>
              <a:t>Each decision starts with evidence from Atlas. Exact reads retrieve measured results. Vector search retrieves notes. Claude chooses the next experiment, and numerical code evaluates it. The result returns to Atlas for the next decision.</a:t>
            </a:r>
          </a:p>
          <a:p xmlns:a="http://schemas.openxmlformats.org/drawingml/2006/main">
            <a:r>
              <a:t/>
            </a:r>
          </a:p>
          <a:p xmlns:a="http://schemas.openxmlformats.org/drawingml/2006/main">
            <a:r>
              <a:t>Sources and context</a:t>
            </a:r>
          </a:p>
          <a:p xmlns:a="http://schemas.openxmlformats.org/drawingml/2006/main">
            <a:r>
              <a:t>- harness/worker.py</a:t>
            </a:r>
          </a:p>
          <a:p xmlns:a="http://schemas.openxmlformats.org/drawingml/2006/main">
            <a:r>
              <a:t>- harness/context.py: exact reads of best, leaders, laggards, recent results; semantic retrieval over notes</a:t>
            </a:r>
          </a:p>
          <a:p xmlns:a="http://schemas.openxmlformats.org/drawingml/2006/main">
            <a:r>
              <a:t>- harness/store.py: deduplication, protocol identity, lease-fenced commits</a:t>
            </a:r>
          </a:p>
          <a:p xmlns:a="http://schemas.openxmlformats.org/drawingml/2006/main">
            <a:r>
              <a:t>- harness/eeg.py: numerical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45–140 seconds</a:t>
            </a:r>
          </a:p>
          <a:p xmlns:a="http://schemas.openxmlformats.org/drawingml/2006/main">
            <a:r>
              <a:t/>
            </a:r>
          </a:p>
          <a:p xmlns:a="http://schemas.openxmlformats.org/drawingml/2006/main">
            <a:r>
              <a:t>Watch the saved results survive a restart and a tighter electrode limit.</a:t>
            </a:r>
          </a:p>
          <a:p xmlns:a="http://schemas.openxmlformats.org/drawingml/2006/main">
            <a:r>
              <a:t/>
            </a:r>
          </a:p>
          <a:p xmlns:a="http://schemas.openxmlformats.org/drawingml/2006/main">
            <a:r>
              <a:t>At 0:50, press Enter. Let the 90-second narration play without speaking over it. Advance when the video ends at 2:20.</a:t>
            </a:r>
          </a:p>
          <a:p xmlns:a="http://schemas.openxmlformats.org/drawingml/2006/main">
            <a:r>
              <a:t/>
            </a:r>
          </a:p>
          <a:p xmlns:a="http://schemas.openxmlformats.org/drawingml/2006/main">
            <a:r>
              <a:t>Sources and context</a:t>
            </a:r>
          </a:p>
          <a:p xmlns:a="http://schemas.openxmlformats.org/drawingml/2006/main">
            <a:r>
              <a:t>- presentation/second-shift-neuroai-90s.mp4: 90 seconds, campaign camp_639cfbea, original narration preserved</a:t>
            </a:r>
          </a:p>
          <a:p xmlns:a="http://schemas.openxmlformats.org/drawingml/2006/main">
            <a:r>
              <a:t>- run/video-v6/export/edit-decisions.json and transcript-review.json</a:t>
            </a:r>
          </a:p>
          <a:p xmlns:a="http://schemas.openxmlformats.org/drawingml/2006/main">
            <a:r>
              <a:t>- run/video-v6/take-1/recovery-proof.json: interrupted experiment resumes as attempt 2</a:t>
            </a:r>
          </a:p>
          <a:p xmlns:a="http://schemas.openxmlformats.org/drawingml/2006/main">
            <a:r>
              <a:t/>
            </a:r>
          </a:p>
          <a:p xmlns:a="http://schemas.openxmlformats.org/drawingml/2006/main">
            <a:r>
              <a:t>Play media/second-shift-neuroai-90s.mp4 with its existing narration. This static backup does not embed the movie.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140–162 seconds</a:t>
            </a:r>
          </a:p>
          <a:p xmlns:a="http://schemas.openxmlformats.org/drawingml/2006/main">
            <a:r>
              <a:t/>
            </a:r>
          </a:p>
          <a:p xmlns:a="http://schemas.openxmlformats.org/drawingml/2006/main">
            <a:r>
              <a:t>The demo reaches seventy five point nine percent validation balanced accuracy using nine electrodes. Separately, our reference campaign scored seventy three point two percent on its sealed test using twenty one electrodes. These are small offline experiments, supported by separate reliability checks.</a:t>
            </a:r>
          </a:p>
          <a:p xmlns:a="http://schemas.openxmlformats.org/drawingml/2006/main">
            <a:r>
              <a:t/>
            </a:r>
          </a:p>
          <a:p xmlns:a="http://schemas.openxmlformats.org/drawingml/2006/main">
            <a:r>
              <a:t>Sources and context</a:t>
            </a:r>
          </a:p>
          <a:p xmlns:a="http://schemas.openxmlformats.org/drawingml/2006/main">
            <a:r>
              <a:t>- presentation/second-shift-neuroai-90s.mp4 at 1:26–1:29: 0.759 best eligible validation score with 9 electrodes</a:t>
            </a:r>
          </a:p>
          <a:p xmlns:a="http://schemas.openxmlformats.org/drawingml/2006/main">
            <a:r>
              <a:t>- run/video-v6/take-1/experiments.json: camp_639cfbea, central9, val_balanced_accuracy 0.7592, n_val 75</a:t>
            </a:r>
          </a:p>
          <a:p xmlns:a="http://schemas.openxmlformats.org/drawingml/2006/main">
            <a:r>
              <a:t>- README.md: camp_0f8981ee, 0.774 validation, 0.732 sealed test, 21 electrodes, 75 test trials, subjects 1–5</a:t>
            </a:r>
          </a:p>
          <a:p xmlns:a="http://schemas.openxmlformats.org/drawingml/2006/main">
            <a:r>
              <a:t>- eval/checks.json: camp_51b0f538 recovery 8/8; camp_66e4900c constraint 5/5</a:t>
            </a:r>
          </a:p>
          <a:p xmlns:a="http://schemas.openxmlformats.org/drawingml/2006/main">
            <a:r>
              <a:t>- Validation guides model selection. The 73.2% sealed test result and reliability checks come from separate campaigns, not the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162–175 seconds</a:t>
            </a:r>
          </a:p>
          <a:p xmlns:a="http://schemas.openxmlformats.org/drawingml/2006/main">
            <a:r>
              <a:t/>
            </a:r>
          </a:p>
          <a:p xmlns:a="http://schemas.openxmlformats.org/drawingml/2006/main">
            <a:r>
              <a:t>We tested memory with ten thousand distractor notes. Billions of tokens remains the goal. Second Shift keeps research moving, even when the agent starts over. Thank you.</a:t>
            </a:r>
          </a:p>
          <a:p xmlns:a="http://schemas.openxmlformats.org/drawingml/2006/main">
            <a:r>
              <a:t/>
            </a:r>
          </a:p>
          <a:p xmlns:a="http://schemas.openxmlformats.org/drawingml/2006/main">
            <a:r>
              <a:t>Sources and context</a:t>
            </a:r>
          </a:p>
          <a:p xmlns:a="http://schemas.openxmlformats.org/drawingml/2006/main">
            <a:r>
              <a:t>- eval/stress.json: 10,000 synthetic distractor notes in a copied real campaign</a:t>
            </a:r>
          </a:p>
          <a:p xmlns:a="http://schemas.openxmlformats.org/drawingml/2006/main">
            <a:r>
              <a:t>- eval/stress_current_packet.json: 10,009 total memories, estimated 1,204 tokens within a 4,000 token budget</a:t>
            </a:r>
          </a:p>
          <a:p xmlns:a="http://schemas.openxmlformats.org/drawingml/2006/main">
            <a:r>
              <a:t>- README.md: billions of tokens is a target, not an achieved scale</a:t>
            </a:r>
          </a:p>
          <a:p xmlns:a="http://schemas.openxmlformats.org/drawingml/2006/main">
            <a:r>
              <a:t>- README.md: project scope and team</a:t>
            </a:r>
          </a:p>
          <a:p xmlns:a="http://schemas.openxmlformats.org/drawingml/2006/main">
            <a:r>
              <a:t>- Repository: https://github.com/uyqv/MongoDB-Hackathon</a:t>
            </a:r>
          </a:p>
          <a:p xmlns:a="http://schemas.openxmlformats.org/drawingml/2006/main">
            <a:r>
              <a:t>- Conceptual brain and evidence-layer artwork generated with built-in image_gen.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cc74245e2748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9bc023efd24823" /><Relationship Type="http://schemas.openxmlformats.org/officeDocument/2006/relationships/slideLayout" Target="/ppt/slideLayouts/slideLayout1.xml" Id="R2cfb632aa5f646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fb632aa5f646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a56fe5dda14e30" /><Relationship Type="http://schemas.openxmlformats.org/officeDocument/2006/relationships/image" Target="/ppt/media/image.png" Id="R2e5d928e85b044a4" /><Relationship Type="http://schemas.openxmlformats.org/officeDocument/2006/relationships/image" Target="/ppt/media/image.svg" Id="Rdabfe0e8229a404a" /><Relationship Type="http://schemas.openxmlformats.org/officeDocument/2006/relationships/image" Target="/ppt/media/image2.png" Id="Rb637156dd73645ec" /><Relationship Type="http://schemas.openxmlformats.org/officeDocument/2006/relationships/notesSlide" Target="/ppt/notesSlides/notesSlide1.xml" Id="R4df917d506134f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1cb4975b094cbb" /><Relationship Type="http://schemas.openxmlformats.org/officeDocument/2006/relationships/image" Target="/ppt/media/image3.png" Id="Rb5fa93e7609b4539" /><Relationship Type="http://schemas.openxmlformats.org/officeDocument/2006/relationships/image" Target="/ppt/media/image2.svg" Id="Ra5b05bf6ec5f4b91" /><Relationship Type="http://schemas.openxmlformats.org/officeDocument/2006/relationships/chart" Target="/ppt/slides/charts/chart1.xml" Id="Ra31a6a969a544568" /><Relationship Type="http://schemas.openxmlformats.org/officeDocument/2006/relationships/notesSlide" Target="/ppt/notesSlides/notesSlide2.xml" Id="Ra290f037314c4f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a1d804a5f84d0d" /><Relationship Type="http://schemas.openxmlformats.org/officeDocument/2006/relationships/image" Target="/ppt/media/image4.png" Id="R913fc5f1942f4a96" /><Relationship Type="http://schemas.openxmlformats.org/officeDocument/2006/relationships/image" Target="/ppt/media/image3.svg" Id="R8e80ed531bd140a8" /><Relationship Type="http://schemas.openxmlformats.org/officeDocument/2006/relationships/notesSlide" Target="/ppt/notesSlides/notesSlide3.xml" Id="Rd32a10fecab347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a7abc227b44114" /><Relationship Type="http://schemas.openxmlformats.org/officeDocument/2006/relationships/image" Target="/ppt/media/image5.png" Id="Re2537e660be04bc9" /><Relationship Type="http://schemas.openxmlformats.org/officeDocument/2006/relationships/image" Target="/ppt/media/image4.svg" Id="R96b61ed2331d4d44" /><Relationship Type="http://schemas.openxmlformats.org/officeDocument/2006/relationships/notesSlide" Target="/ppt/notesSlides/notesSlide4.xml" Id="Rd2722d6f637d46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a6d3c6cc4149a5" /><Relationship Type="http://schemas.openxmlformats.org/officeDocument/2006/relationships/image" Target="/ppt/media/image6.png" Id="R5b92e9d880af4d3b" /><Relationship Type="http://schemas.openxmlformats.org/officeDocument/2006/relationships/image" Target="/ppt/media/image5.svg" Id="Rc1cc9b11b1dd4c14" /><Relationship Type="http://schemas.openxmlformats.org/officeDocument/2006/relationships/notesSlide" Target="/ppt/notesSlides/notesSlide5.xml" Id="R8f25c82e0fd245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290bccdd844c14" /><Relationship Type="http://schemas.openxmlformats.org/officeDocument/2006/relationships/image" Target="/ppt/media/image7.png" Id="R1752f181ec324b4e" /><Relationship Type="http://schemas.openxmlformats.org/officeDocument/2006/relationships/image" Target="/ppt/media/image6.svg" Id="Rb84cb7a239f6442c" /><Relationship Type="http://schemas.openxmlformats.org/officeDocument/2006/relationships/image" Target="/ppt/media/image8.png" Id="Rded550e44dcd466d" /><Relationship Type="http://schemas.openxmlformats.org/officeDocument/2006/relationships/hyperlink" Target="https://github.com/uyqv/MongoDB-Hackathon" TargetMode="External" Id="R751887a1242f437b" /><Relationship Type="http://schemas.openxmlformats.org/officeDocument/2006/relationships/notesSlide" Target="/ppt/notesSlides/notesSlide6.xml" Id="R3a04f32af3934dd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C3 EEG (µV)</c:v>
          </c:tx>
          <c:spPr>
            <a:solidFill xmlns:a="http://schemas.openxmlformats.org/drawingml/2006/main">
              <a:srgbClr val="006D46"/>
            </a:solidFill>
            <a:ln xmlns:a="http://schemas.openxmlformats.org/drawingml/2006/main" w="12383">
              <a:solidFill>
                <a:srgbClr val="006D46"/>
              </a:solidFill>
            </a:ln>
          </c:spPr>
          <c:marker>
            <c:symbol val="none"/>
          </c:marker>
          <c:xVal>
            <c:numRef>
              <c:f>'Chart Data'!$A$2:$A$321</c:f>
              <c:numCache>
                <c:formatCode>General</c:formatCode>
                <c:ptCount val="320"/>
                <c:pt idx="0">
                  <c:v>0</c:v>
                </c:pt>
                <c:pt idx="1">
                  <c:v>0.00625</c:v>
                </c:pt>
                <c:pt idx="2">
                  <c:v>0.0125</c:v>
                </c:pt>
                <c:pt idx="3">
                  <c:v>0.01875</c:v>
                </c:pt>
                <c:pt idx="4">
                  <c:v>0.025</c:v>
                </c:pt>
                <c:pt idx="5">
                  <c:v>0.03125</c:v>
                </c:pt>
                <c:pt idx="6">
                  <c:v>0.0375</c:v>
                </c:pt>
                <c:pt idx="7">
                  <c:v>0.04375</c:v>
                </c:pt>
                <c:pt idx="8">
                  <c:v>0.05</c:v>
                </c:pt>
                <c:pt idx="9">
                  <c:v>0.05625</c:v>
                </c:pt>
                <c:pt idx="10">
                  <c:v>0.0625</c:v>
                </c:pt>
                <c:pt idx="11">
                  <c:v>0.06875</c:v>
                </c:pt>
                <c:pt idx="12">
                  <c:v>0.075</c:v>
                </c:pt>
                <c:pt idx="13">
                  <c:v>0.08125</c:v>
                </c:pt>
                <c:pt idx="14">
                  <c:v>0.0875</c:v>
                </c:pt>
                <c:pt idx="15">
                  <c:v>0.09375</c:v>
                </c:pt>
                <c:pt idx="16">
                  <c:v>0.1</c:v>
                </c:pt>
                <c:pt idx="17">
                  <c:v>0.10625</c:v>
                </c:pt>
                <c:pt idx="18">
                  <c:v>0.1125</c:v>
                </c:pt>
                <c:pt idx="19">
                  <c:v>0.11875</c:v>
                </c:pt>
                <c:pt idx="20">
                  <c:v>0.125</c:v>
                </c:pt>
                <c:pt idx="21">
                  <c:v>0.13125</c:v>
                </c:pt>
                <c:pt idx="22">
                  <c:v>0.1375</c:v>
                </c:pt>
                <c:pt idx="23">
                  <c:v>0.14375</c:v>
                </c:pt>
                <c:pt idx="24">
                  <c:v>0.15</c:v>
                </c:pt>
                <c:pt idx="25">
                  <c:v>0.15625</c:v>
                </c:pt>
                <c:pt idx="26">
                  <c:v>0.1625</c:v>
                </c:pt>
                <c:pt idx="27">
                  <c:v>0.16875</c:v>
                </c:pt>
                <c:pt idx="28">
                  <c:v>0.175</c:v>
                </c:pt>
                <c:pt idx="29">
                  <c:v>0.18125</c:v>
                </c:pt>
                <c:pt idx="30">
                  <c:v>0.1875</c:v>
                </c:pt>
                <c:pt idx="31">
                  <c:v>0.19375</c:v>
                </c:pt>
                <c:pt idx="32">
                  <c:v>0.2</c:v>
                </c:pt>
                <c:pt idx="33">
                  <c:v>0.20625</c:v>
                </c:pt>
                <c:pt idx="34">
                  <c:v>0.2125</c:v>
                </c:pt>
                <c:pt idx="35">
                  <c:v>0.21875</c:v>
                </c:pt>
                <c:pt idx="36">
                  <c:v>0.225</c:v>
                </c:pt>
                <c:pt idx="37">
                  <c:v>0.23125</c:v>
                </c:pt>
                <c:pt idx="38">
                  <c:v>0.2375</c:v>
                </c:pt>
                <c:pt idx="39">
                  <c:v>0.24375</c:v>
                </c:pt>
                <c:pt idx="40">
                  <c:v>0.25</c:v>
                </c:pt>
                <c:pt idx="41">
                  <c:v>0.25625</c:v>
                </c:pt>
                <c:pt idx="42">
                  <c:v>0.2625</c:v>
                </c:pt>
                <c:pt idx="43">
                  <c:v>0.26875</c:v>
                </c:pt>
                <c:pt idx="44">
                  <c:v>0.275</c:v>
                </c:pt>
                <c:pt idx="45">
                  <c:v>0.28125</c:v>
                </c:pt>
                <c:pt idx="46">
                  <c:v>0.2875</c:v>
                </c:pt>
                <c:pt idx="47">
                  <c:v>0.29375</c:v>
                </c:pt>
                <c:pt idx="48">
                  <c:v>0.3</c:v>
                </c:pt>
                <c:pt idx="49">
                  <c:v>0.30625</c:v>
                </c:pt>
                <c:pt idx="50">
                  <c:v>0.3125</c:v>
                </c:pt>
                <c:pt idx="51">
                  <c:v>0.31875</c:v>
                </c:pt>
                <c:pt idx="52">
                  <c:v>0.325</c:v>
                </c:pt>
                <c:pt idx="53">
                  <c:v>0.33125</c:v>
                </c:pt>
                <c:pt idx="54">
                  <c:v>0.3375</c:v>
                </c:pt>
                <c:pt idx="55">
                  <c:v>0.34375</c:v>
                </c:pt>
                <c:pt idx="56">
                  <c:v>0.35</c:v>
                </c:pt>
                <c:pt idx="57">
                  <c:v>0.35625</c:v>
                </c:pt>
                <c:pt idx="58">
                  <c:v>0.3625</c:v>
                </c:pt>
                <c:pt idx="59">
                  <c:v>0.36875</c:v>
                </c:pt>
                <c:pt idx="60">
                  <c:v>0.375</c:v>
                </c:pt>
                <c:pt idx="61">
                  <c:v>0.38125</c:v>
                </c:pt>
                <c:pt idx="62">
                  <c:v>0.3875</c:v>
                </c:pt>
                <c:pt idx="63">
                  <c:v>0.39375</c:v>
                </c:pt>
                <c:pt idx="64">
                  <c:v>0.4</c:v>
                </c:pt>
                <c:pt idx="65">
                  <c:v>0.40625</c:v>
                </c:pt>
                <c:pt idx="66">
                  <c:v>0.4125</c:v>
                </c:pt>
                <c:pt idx="67">
                  <c:v>0.41875</c:v>
                </c:pt>
                <c:pt idx="68">
                  <c:v>0.425</c:v>
                </c:pt>
                <c:pt idx="69">
                  <c:v>0.43125</c:v>
                </c:pt>
                <c:pt idx="70">
                  <c:v>0.4375</c:v>
                </c:pt>
                <c:pt idx="71">
                  <c:v>0.44375</c:v>
                </c:pt>
                <c:pt idx="72">
                  <c:v>0.45</c:v>
                </c:pt>
                <c:pt idx="73">
                  <c:v>0.45625</c:v>
                </c:pt>
                <c:pt idx="74">
                  <c:v>0.4625</c:v>
                </c:pt>
                <c:pt idx="75">
                  <c:v>0.46875</c:v>
                </c:pt>
                <c:pt idx="76">
                  <c:v>0.475</c:v>
                </c:pt>
                <c:pt idx="77">
                  <c:v>0.48125</c:v>
                </c:pt>
                <c:pt idx="78">
                  <c:v>0.4875</c:v>
                </c:pt>
                <c:pt idx="79">
                  <c:v>0.49375</c:v>
                </c:pt>
                <c:pt idx="80">
                  <c:v>0.5</c:v>
                </c:pt>
                <c:pt idx="81">
                  <c:v>0.50625</c:v>
                </c:pt>
                <c:pt idx="82">
                  <c:v>0.5125</c:v>
                </c:pt>
                <c:pt idx="83">
                  <c:v>0.51875</c:v>
                </c:pt>
                <c:pt idx="84">
                  <c:v>0.525</c:v>
                </c:pt>
                <c:pt idx="85">
                  <c:v>0.53125</c:v>
                </c:pt>
                <c:pt idx="86">
                  <c:v>0.5375</c:v>
                </c:pt>
                <c:pt idx="87">
                  <c:v>0.54375</c:v>
                </c:pt>
                <c:pt idx="88">
                  <c:v>0.55</c:v>
                </c:pt>
                <c:pt idx="89">
                  <c:v>0.55625</c:v>
                </c:pt>
                <c:pt idx="90">
                  <c:v>0.5625</c:v>
                </c:pt>
                <c:pt idx="91">
                  <c:v>0.56875</c:v>
                </c:pt>
                <c:pt idx="92">
                  <c:v>0.575</c:v>
                </c:pt>
                <c:pt idx="93">
                  <c:v>0.58125</c:v>
                </c:pt>
                <c:pt idx="94">
                  <c:v>0.5875</c:v>
                </c:pt>
                <c:pt idx="95">
                  <c:v>0.59375</c:v>
                </c:pt>
                <c:pt idx="96">
                  <c:v>0.6</c:v>
                </c:pt>
                <c:pt idx="97">
                  <c:v>0.60625</c:v>
                </c:pt>
                <c:pt idx="98">
                  <c:v>0.6125</c:v>
                </c:pt>
                <c:pt idx="99">
                  <c:v>0.61875</c:v>
                </c:pt>
                <c:pt idx="100">
                  <c:v>0.625</c:v>
                </c:pt>
                <c:pt idx="101">
                  <c:v>0.63125</c:v>
                </c:pt>
                <c:pt idx="102">
                  <c:v>0.6375</c:v>
                </c:pt>
                <c:pt idx="103">
                  <c:v>0.64375</c:v>
                </c:pt>
                <c:pt idx="104">
                  <c:v>0.65</c:v>
                </c:pt>
                <c:pt idx="105">
                  <c:v>0.65625</c:v>
                </c:pt>
                <c:pt idx="106">
                  <c:v>0.6625</c:v>
                </c:pt>
                <c:pt idx="107">
                  <c:v>0.66875</c:v>
                </c:pt>
                <c:pt idx="108">
                  <c:v>0.675</c:v>
                </c:pt>
                <c:pt idx="109">
                  <c:v>0.68125</c:v>
                </c:pt>
                <c:pt idx="110">
                  <c:v>0.6875</c:v>
                </c:pt>
                <c:pt idx="111">
                  <c:v>0.69375</c:v>
                </c:pt>
                <c:pt idx="112">
                  <c:v>0.7</c:v>
                </c:pt>
                <c:pt idx="113">
                  <c:v>0.70625</c:v>
                </c:pt>
                <c:pt idx="114">
                  <c:v>0.7125</c:v>
                </c:pt>
                <c:pt idx="115">
                  <c:v>0.71875</c:v>
                </c:pt>
                <c:pt idx="116">
                  <c:v>0.725</c:v>
                </c:pt>
                <c:pt idx="117">
                  <c:v>0.73125</c:v>
                </c:pt>
                <c:pt idx="118">
                  <c:v>0.7375</c:v>
                </c:pt>
                <c:pt idx="119">
                  <c:v>0.74375</c:v>
                </c:pt>
                <c:pt idx="120">
                  <c:v>0.75</c:v>
                </c:pt>
                <c:pt idx="121">
                  <c:v>0.75625</c:v>
                </c:pt>
                <c:pt idx="122">
                  <c:v>0.7625</c:v>
                </c:pt>
                <c:pt idx="123">
                  <c:v>0.76875</c:v>
                </c:pt>
                <c:pt idx="124">
                  <c:v>0.775</c:v>
                </c:pt>
                <c:pt idx="125">
                  <c:v>0.78125</c:v>
                </c:pt>
                <c:pt idx="126">
                  <c:v>0.7875</c:v>
                </c:pt>
                <c:pt idx="127">
                  <c:v>0.79375</c:v>
                </c:pt>
                <c:pt idx="128">
                  <c:v>0.8</c:v>
                </c:pt>
                <c:pt idx="129">
                  <c:v>0.80625</c:v>
                </c:pt>
                <c:pt idx="130">
                  <c:v>0.8125</c:v>
                </c:pt>
                <c:pt idx="131">
                  <c:v>0.81875</c:v>
                </c:pt>
                <c:pt idx="132">
                  <c:v>0.825</c:v>
                </c:pt>
                <c:pt idx="133">
                  <c:v>0.83125</c:v>
                </c:pt>
                <c:pt idx="134">
                  <c:v>0.8375</c:v>
                </c:pt>
                <c:pt idx="135">
                  <c:v>0.84375</c:v>
                </c:pt>
                <c:pt idx="136">
                  <c:v>0.85</c:v>
                </c:pt>
                <c:pt idx="137">
                  <c:v>0.85625</c:v>
                </c:pt>
                <c:pt idx="138">
                  <c:v>0.8625</c:v>
                </c:pt>
                <c:pt idx="139">
                  <c:v>0.86875</c:v>
                </c:pt>
                <c:pt idx="140">
                  <c:v>0.875</c:v>
                </c:pt>
                <c:pt idx="141">
                  <c:v>0.88125</c:v>
                </c:pt>
                <c:pt idx="142">
                  <c:v>0.8875</c:v>
                </c:pt>
                <c:pt idx="143">
                  <c:v>0.89375</c:v>
                </c:pt>
                <c:pt idx="144">
                  <c:v>0.9</c:v>
                </c:pt>
                <c:pt idx="145">
                  <c:v>0.90625</c:v>
                </c:pt>
                <c:pt idx="146">
                  <c:v>0.9125</c:v>
                </c:pt>
                <c:pt idx="147">
                  <c:v>0.91875</c:v>
                </c:pt>
                <c:pt idx="148">
                  <c:v>0.925</c:v>
                </c:pt>
                <c:pt idx="149">
                  <c:v>0.93125</c:v>
                </c:pt>
                <c:pt idx="150">
                  <c:v>0.9375</c:v>
                </c:pt>
                <c:pt idx="151">
                  <c:v>0.94375</c:v>
                </c:pt>
                <c:pt idx="152">
                  <c:v>0.95</c:v>
                </c:pt>
                <c:pt idx="153">
                  <c:v>0.95625</c:v>
                </c:pt>
                <c:pt idx="154">
                  <c:v>0.9625</c:v>
                </c:pt>
                <c:pt idx="155">
                  <c:v>0.96875</c:v>
                </c:pt>
                <c:pt idx="156">
                  <c:v>0.975</c:v>
                </c:pt>
                <c:pt idx="157">
                  <c:v>0.98125</c:v>
                </c:pt>
                <c:pt idx="158">
                  <c:v>0.9875</c:v>
                </c:pt>
                <c:pt idx="159">
                  <c:v>0.99375</c:v>
                </c:pt>
                <c:pt idx="160">
                  <c:v>1</c:v>
                </c:pt>
                <c:pt idx="161">
                  <c:v>1.00625</c:v>
                </c:pt>
                <c:pt idx="162">
                  <c:v>1.0125</c:v>
                </c:pt>
                <c:pt idx="163">
                  <c:v>1.01875</c:v>
                </c:pt>
                <c:pt idx="164">
                  <c:v>1.025</c:v>
                </c:pt>
                <c:pt idx="165">
                  <c:v>1.03125</c:v>
                </c:pt>
                <c:pt idx="166">
                  <c:v>1.0375</c:v>
                </c:pt>
                <c:pt idx="167">
                  <c:v>1.04375</c:v>
                </c:pt>
                <c:pt idx="168">
                  <c:v>1.05</c:v>
                </c:pt>
                <c:pt idx="169">
                  <c:v>1.05625</c:v>
                </c:pt>
                <c:pt idx="170">
                  <c:v>1.0625</c:v>
                </c:pt>
                <c:pt idx="171">
                  <c:v>1.06875</c:v>
                </c:pt>
                <c:pt idx="172">
                  <c:v>1.075</c:v>
                </c:pt>
                <c:pt idx="173">
                  <c:v>1.08125</c:v>
                </c:pt>
                <c:pt idx="174">
                  <c:v>1.0875</c:v>
                </c:pt>
                <c:pt idx="175">
                  <c:v>1.09375</c:v>
                </c:pt>
                <c:pt idx="176">
                  <c:v>1.1</c:v>
                </c:pt>
                <c:pt idx="177">
                  <c:v>1.10625</c:v>
                </c:pt>
                <c:pt idx="178">
                  <c:v>1.1125</c:v>
                </c:pt>
                <c:pt idx="179">
                  <c:v>1.11875</c:v>
                </c:pt>
                <c:pt idx="180">
                  <c:v>1.125</c:v>
                </c:pt>
                <c:pt idx="181">
                  <c:v>1.13125</c:v>
                </c:pt>
                <c:pt idx="182">
                  <c:v>1.1375</c:v>
                </c:pt>
                <c:pt idx="183">
                  <c:v>1.14375</c:v>
                </c:pt>
                <c:pt idx="184">
                  <c:v>1.15</c:v>
                </c:pt>
                <c:pt idx="185">
                  <c:v>1.15625</c:v>
                </c:pt>
                <c:pt idx="186">
                  <c:v>1.1625</c:v>
                </c:pt>
                <c:pt idx="187">
                  <c:v>1.16875</c:v>
                </c:pt>
                <c:pt idx="188">
                  <c:v>1.175</c:v>
                </c:pt>
                <c:pt idx="189">
                  <c:v>1.18125</c:v>
                </c:pt>
                <c:pt idx="190">
                  <c:v>1.1875</c:v>
                </c:pt>
                <c:pt idx="191">
                  <c:v>1.19375</c:v>
                </c:pt>
                <c:pt idx="192">
                  <c:v>1.2</c:v>
                </c:pt>
                <c:pt idx="193">
                  <c:v>1.20625</c:v>
                </c:pt>
                <c:pt idx="194">
                  <c:v>1.2125</c:v>
                </c:pt>
                <c:pt idx="195">
                  <c:v>1.21875</c:v>
                </c:pt>
                <c:pt idx="196">
                  <c:v>1.225</c:v>
                </c:pt>
                <c:pt idx="197">
                  <c:v>1.23125</c:v>
                </c:pt>
                <c:pt idx="198">
                  <c:v>1.2375</c:v>
                </c:pt>
                <c:pt idx="199">
                  <c:v>1.24375</c:v>
                </c:pt>
                <c:pt idx="200">
                  <c:v>1.25</c:v>
                </c:pt>
                <c:pt idx="201">
                  <c:v>1.25625</c:v>
                </c:pt>
                <c:pt idx="202">
                  <c:v>1.2625</c:v>
                </c:pt>
                <c:pt idx="203">
                  <c:v>1.26875</c:v>
                </c:pt>
                <c:pt idx="204">
                  <c:v>1.275</c:v>
                </c:pt>
                <c:pt idx="205">
                  <c:v>1.28125</c:v>
                </c:pt>
                <c:pt idx="206">
                  <c:v>1.2875</c:v>
                </c:pt>
                <c:pt idx="207">
                  <c:v>1.29375</c:v>
                </c:pt>
                <c:pt idx="208">
                  <c:v>1.3</c:v>
                </c:pt>
                <c:pt idx="209">
                  <c:v>1.30625</c:v>
                </c:pt>
                <c:pt idx="210">
                  <c:v>1.3125</c:v>
                </c:pt>
                <c:pt idx="211">
                  <c:v>1.31875</c:v>
                </c:pt>
                <c:pt idx="212">
                  <c:v>1.325</c:v>
                </c:pt>
                <c:pt idx="213">
                  <c:v>1.33125</c:v>
                </c:pt>
                <c:pt idx="214">
                  <c:v>1.3375</c:v>
                </c:pt>
                <c:pt idx="215">
                  <c:v>1.34375</c:v>
                </c:pt>
                <c:pt idx="216">
                  <c:v>1.35</c:v>
                </c:pt>
                <c:pt idx="217">
                  <c:v>1.35625</c:v>
                </c:pt>
                <c:pt idx="218">
                  <c:v>1.3625</c:v>
                </c:pt>
                <c:pt idx="219">
                  <c:v>1.36875</c:v>
                </c:pt>
                <c:pt idx="220">
                  <c:v>1.375</c:v>
                </c:pt>
                <c:pt idx="221">
                  <c:v>1.38125</c:v>
                </c:pt>
                <c:pt idx="222">
                  <c:v>1.3875</c:v>
                </c:pt>
                <c:pt idx="223">
                  <c:v>1.39375</c:v>
                </c:pt>
                <c:pt idx="224">
                  <c:v>1.4</c:v>
                </c:pt>
                <c:pt idx="225">
                  <c:v>1.40625</c:v>
                </c:pt>
                <c:pt idx="226">
                  <c:v>1.4125</c:v>
                </c:pt>
                <c:pt idx="227">
                  <c:v>1.41875</c:v>
                </c:pt>
                <c:pt idx="228">
                  <c:v>1.425</c:v>
                </c:pt>
                <c:pt idx="229">
                  <c:v>1.43125</c:v>
                </c:pt>
                <c:pt idx="230">
                  <c:v>1.4375</c:v>
                </c:pt>
                <c:pt idx="231">
                  <c:v>1.44375</c:v>
                </c:pt>
                <c:pt idx="232">
                  <c:v>1.45</c:v>
                </c:pt>
                <c:pt idx="233">
                  <c:v>1.45625</c:v>
                </c:pt>
                <c:pt idx="234">
                  <c:v>1.4625</c:v>
                </c:pt>
                <c:pt idx="235">
                  <c:v>1.46875</c:v>
                </c:pt>
                <c:pt idx="236">
                  <c:v>1.475</c:v>
                </c:pt>
                <c:pt idx="237">
                  <c:v>1.48125</c:v>
                </c:pt>
                <c:pt idx="238">
                  <c:v>1.4875</c:v>
                </c:pt>
                <c:pt idx="239">
                  <c:v>1.49375</c:v>
                </c:pt>
                <c:pt idx="240">
                  <c:v>1.5</c:v>
                </c:pt>
                <c:pt idx="241">
                  <c:v>1.50625</c:v>
                </c:pt>
                <c:pt idx="242">
                  <c:v>1.5125</c:v>
                </c:pt>
                <c:pt idx="243">
                  <c:v>1.51875</c:v>
                </c:pt>
                <c:pt idx="244">
                  <c:v>1.525</c:v>
                </c:pt>
                <c:pt idx="245">
                  <c:v>1.53125</c:v>
                </c:pt>
                <c:pt idx="246">
                  <c:v>1.5375</c:v>
                </c:pt>
                <c:pt idx="247">
                  <c:v>1.54375</c:v>
                </c:pt>
                <c:pt idx="248">
                  <c:v>1.55</c:v>
                </c:pt>
                <c:pt idx="249">
                  <c:v>1.55625</c:v>
                </c:pt>
                <c:pt idx="250">
                  <c:v>1.5625</c:v>
                </c:pt>
                <c:pt idx="251">
                  <c:v>1.56875</c:v>
                </c:pt>
                <c:pt idx="252">
                  <c:v>1.575</c:v>
                </c:pt>
                <c:pt idx="253">
                  <c:v>1.58125</c:v>
                </c:pt>
                <c:pt idx="254">
                  <c:v>1.5875</c:v>
                </c:pt>
                <c:pt idx="255">
                  <c:v>1.59375</c:v>
                </c:pt>
                <c:pt idx="256">
                  <c:v>1.6</c:v>
                </c:pt>
                <c:pt idx="257">
                  <c:v>1.60625</c:v>
                </c:pt>
                <c:pt idx="258">
                  <c:v>1.6125</c:v>
                </c:pt>
                <c:pt idx="259">
                  <c:v>1.61875</c:v>
                </c:pt>
                <c:pt idx="260">
                  <c:v>1.625</c:v>
                </c:pt>
                <c:pt idx="261">
                  <c:v>1.63125</c:v>
                </c:pt>
                <c:pt idx="262">
                  <c:v>1.6375</c:v>
                </c:pt>
                <c:pt idx="263">
                  <c:v>1.64375</c:v>
                </c:pt>
                <c:pt idx="264">
                  <c:v>1.65</c:v>
                </c:pt>
                <c:pt idx="265">
                  <c:v>1.65625</c:v>
                </c:pt>
                <c:pt idx="266">
                  <c:v>1.6625</c:v>
                </c:pt>
                <c:pt idx="267">
                  <c:v>1.66875</c:v>
                </c:pt>
                <c:pt idx="268">
                  <c:v>1.675</c:v>
                </c:pt>
                <c:pt idx="269">
                  <c:v>1.68125</c:v>
                </c:pt>
                <c:pt idx="270">
                  <c:v>1.6875</c:v>
                </c:pt>
                <c:pt idx="271">
                  <c:v>1.69375</c:v>
                </c:pt>
                <c:pt idx="272">
                  <c:v>1.7</c:v>
                </c:pt>
                <c:pt idx="273">
                  <c:v>1.70625</c:v>
                </c:pt>
                <c:pt idx="274">
                  <c:v>1.7125</c:v>
                </c:pt>
                <c:pt idx="275">
                  <c:v>1.71875</c:v>
                </c:pt>
                <c:pt idx="276">
                  <c:v>1.725</c:v>
                </c:pt>
                <c:pt idx="277">
                  <c:v>1.73125</c:v>
                </c:pt>
                <c:pt idx="278">
                  <c:v>1.7375</c:v>
                </c:pt>
                <c:pt idx="279">
                  <c:v>1.74375</c:v>
                </c:pt>
                <c:pt idx="280">
                  <c:v>1.75</c:v>
                </c:pt>
                <c:pt idx="281">
                  <c:v>1.75625</c:v>
                </c:pt>
                <c:pt idx="282">
                  <c:v>1.7625</c:v>
                </c:pt>
                <c:pt idx="283">
                  <c:v>1.76875</c:v>
                </c:pt>
                <c:pt idx="284">
                  <c:v>1.775</c:v>
                </c:pt>
                <c:pt idx="285">
                  <c:v>1.78125</c:v>
                </c:pt>
                <c:pt idx="286">
                  <c:v>1.7875</c:v>
                </c:pt>
                <c:pt idx="287">
                  <c:v>1.79375</c:v>
                </c:pt>
                <c:pt idx="288">
                  <c:v>1.8</c:v>
                </c:pt>
                <c:pt idx="289">
                  <c:v>1.80625</c:v>
                </c:pt>
                <c:pt idx="290">
                  <c:v>1.8125</c:v>
                </c:pt>
                <c:pt idx="291">
                  <c:v>1.81875</c:v>
                </c:pt>
                <c:pt idx="292">
                  <c:v>1.825</c:v>
                </c:pt>
                <c:pt idx="293">
                  <c:v>1.83125</c:v>
                </c:pt>
                <c:pt idx="294">
                  <c:v>1.8375</c:v>
                </c:pt>
                <c:pt idx="295">
                  <c:v>1.84375</c:v>
                </c:pt>
                <c:pt idx="296">
                  <c:v>1.85</c:v>
                </c:pt>
                <c:pt idx="297">
                  <c:v>1.85625</c:v>
                </c:pt>
                <c:pt idx="298">
                  <c:v>1.8625</c:v>
                </c:pt>
                <c:pt idx="299">
                  <c:v>1.86875</c:v>
                </c:pt>
                <c:pt idx="300">
                  <c:v>1.875</c:v>
                </c:pt>
                <c:pt idx="301">
                  <c:v>1.88125</c:v>
                </c:pt>
                <c:pt idx="302">
                  <c:v>1.8875</c:v>
                </c:pt>
                <c:pt idx="303">
                  <c:v>1.89375</c:v>
                </c:pt>
                <c:pt idx="304">
                  <c:v>1.9</c:v>
                </c:pt>
                <c:pt idx="305">
                  <c:v>1.90625</c:v>
                </c:pt>
                <c:pt idx="306">
                  <c:v>1.9125</c:v>
                </c:pt>
                <c:pt idx="307">
                  <c:v>1.91875</c:v>
                </c:pt>
                <c:pt idx="308">
                  <c:v>1.925</c:v>
                </c:pt>
                <c:pt idx="309">
                  <c:v>1.93125</c:v>
                </c:pt>
                <c:pt idx="310">
                  <c:v>1.9375</c:v>
                </c:pt>
                <c:pt idx="311">
                  <c:v>1.94375</c:v>
                </c:pt>
                <c:pt idx="312">
                  <c:v>1.95</c:v>
                </c:pt>
                <c:pt idx="313">
                  <c:v>1.95625</c:v>
                </c:pt>
                <c:pt idx="314">
                  <c:v>1.9625</c:v>
                </c:pt>
                <c:pt idx="315">
                  <c:v>1.96875</c:v>
                </c:pt>
                <c:pt idx="316">
                  <c:v>1.975</c:v>
                </c:pt>
                <c:pt idx="317">
                  <c:v>1.98125</c:v>
                </c:pt>
                <c:pt idx="318">
                  <c:v>1.9875</c:v>
                </c:pt>
                <c:pt idx="319">
                  <c:v>1.99375</c:v>
                </c:pt>
              </c:numCache>
            </c:numRef>
          </c:xVal>
          <c:yVal>
            <c:numRef>
              <c:f>'Chart Data'!$B$2:$B$321</c:f>
              <c:numCache>
                <c:formatCode>0</c:formatCode>
                <c:ptCount val="320"/>
                <c:pt idx="0">
                  <c:v>53</c:v>
                </c:pt>
                <c:pt idx="1">
                  <c:v>42</c:v>
                </c:pt>
                <c:pt idx="2">
                  <c:v>15</c:v>
                </c:pt>
                <c:pt idx="3">
                  <c:v>11</c:v>
                </c:pt>
                <c:pt idx="4">
                  <c:v>-1</c:v>
                </c:pt>
                <c:pt idx="5">
                  <c:v>16</c:v>
                </c:pt>
                <c:pt idx="6">
                  <c:v>45</c:v>
                </c:pt>
                <c:pt idx="7">
                  <c:v>33</c:v>
                </c:pt>
                <c:pt idx="8">
                  <c:v>24</c:v>
                </c:pt>
                <c:pt idx="9">
                  <c:v>26</c:v>
                </c:pt>
                <c:pt idx="10">
                  <c:v>41</c:v>
                </c:pt>
                <c:pt idx="11">
                  <c:v>35</c:v>
                </c:pt>
                <c:pt idx="12">
                  <c:v>38</c:v>
                </c:pt>
                <c:pt idx="13">
                  <c:v>47</c:v>
                </c:pt>
                <c:pt idx="14">
                  <c:v>8</c:v>
                </c:pt>
                <c:pt idx="15">
                  <c:v>1</c:v>
                </c:pt>
                <c:pt idx="16">
                  <c:v>18</c:v>
                </c:pt>
                <c:pt idx="17">
                  <c:v>17</c:v>
                </c:pt>
                <c:pt idx="18">
                  <c:v>13</c:v>
                </c:pt>
                <c:pt idx="19">
                  <c:v>21</c:v>
                </c:pt>
                <c:pt idx="20">
                  <c:v>15</c:v>
                </c:pt>
                <c:pt idx="21">
                  <c:v>42</c:v>
                </c:pt>
                <c:pt idx="22">
                  <c:v>44</c:v>
                </c:pt>
                <c:pt idx="23">
                  <c:v>49</c:v>
                </c:pt>
                <c:pt idx="24">
                  <c:v>62</c:v>
                </c:pt>
                <c:pt idx="25">
                  <c:v>44</c:v>
                </c:pt>
                <c:pt idx="26">
                  <c:v>26</c:v>
                </c:pt>
                <c:pt idx="27">
                  <c:v>18</c:v>
                </c:pt>
                <c:pt idx="28">
                  <c:v>9</c:v>
                </c:pt>
                <c:pt idx="29">
                  <c:v>14</c:v>
                </c:pt>
                <c:pt idx="30">
                  <c:v>27</c:v>
                </c:pt>
                <c:pt idx="31">
                  <c:v>34</c:v>
                </c:pt>
                <c:pt idx="32">
                  <c:v>47</c:v>
                </c:pt>
                <c:pt idx="33">
                  <c:v>64</c:v>
                </c:pt>
                <c:pt idx="34">
                  <c:v>58</c:v>
                </c:pt>
                <c:pt idx="35">
                  <c:v>40</c:v>
                </c:pt>
                <c:pt idx="36">
                  <c:v>16</c:v>
                </c:pt>
                <c:pt idx="37">
                  <c:v>19</c:v>
                </c:pt>
                <c:pt idx="38">
                  <c:v>27</c:v>
                </c:pt>
                <c:pt idx="39">
                  <c:v>44</c:v>
                </c:pt>
                <c:pt idx="40">
                  <c:v>61</c:v>
                </c:pt>
                <c:pt idx="41">
                  <c:v>53</c:v>
                </c:pt>
                <c:pt idx="42">
                  <c:v>70</c:v>
                </c:pt>
                <c:pt idx="43">
                  <c:v>105</c:v>
                </c:pt>
                <c:pt idx="44">
                  <c:v>112</c:v>
                </c:pt>
                <c:pt idx="45">
                  <c:v>125</c:v>
                </c:pt>
                <c:pt idx="46">
                  <c:v>108</c:v>
                </c:pt>
                <c:pt idx="47">
                  <c:v>76</c:v>
                </c:pt>
                <c:pt idx="48">
                  <c:v>61</c:v>
                </c:pt>
                <c:pt idx="49">
                  <c:v>59</c:v>
                </c:pt>
                <c:pt idx="50">
                  <c:v>49</c:v>
                </c:pt>
                <c:pt idx="51">
                  <c:v>55</c:v>
                </c:pt>
                <c:pt idx="52">
                  <c:v>54</c:v>
                </c:pt>
                <c:pt idx="53">
                  <c:v>71</c:v>
                </c:pt>
                <c:pt idx="54">
                  <c:v>83</c:v>
                </c:pt>
                <c:pt idx="55">
                  <c:v>91</c:v>
                </c:pt>
                <c:pt idx="56">
                  <c:v>86</c:v>
                </c:pt>
                <c:pt idx="57">
                  <c:v>63</c:v>
                </c:pt>
                <c:pt idx="58">
                  <c:v>87</c:v>
                </c:pt>
                <c:pt idx="59">
                  <c:v>73</c:v>
                </c:pt>
                <c:pt idx="60">
                  <c:v>51</c:v>
                </c:pt>
                <c:pt idx="61">
                  <c:v>53</c:v>
                </c:pt>
                <c:pt idx="62">
                  <c:v>46</c:v>
                </c:pt>
                <c:pt idx="63">
                  <c:v>68</c:v>
                </c:pt>
                <c:pt idx="64">
                  <c:v>48</c:v>
                </c:pt>
                <c:pt idx="65">
                  <c:v>26</c:v>
                </c:pt>
                <c:pt idx="66">
                  <c:v>36</c:v>
                </c:pt>
                <c:pt idx="67">
                  <c:v>33</c:v>
                </c:pt>
                <c:pt idx="68">
                  <c:v>41</c:v>
                </c:pt>
                <c:pt idx="69">
                  <c:v>55</c:v>
                </c:pt>
                <c:pt idx="70">
                  <c:v>82</c:v>
                </c:pt>
                <c:pt idx="71">
                  <c:v>107</c:v>
                </c:pt>
                <c:pt idx="72">
                  <c:v>106</c:v>
                </c:pt>
                <c:pt idx="73">
                  <c:v>85</c:v>
                </c:pt>
                <c:pt idx="74">
                  <c:v>88</c:v>
                </c:pt>
                <c:pt idx="75">
                  <c:v>91</c:v>
                </c:pt>
                <c:pt idx="76">
                  <c:v>78</c:v>
                </c:pt>
                <c:pt idx="77">
                  <c:v>71</c:v>
                </c:pt>
                <c:pt idx="78">
                  <c:v>67</c:v>
                </c:pt>
                <c:pt idx="79">
                  <c:v>55</c:v>
                </c:pt>
                <c:pt idx="80">
                  <c:v>15</c:v>
                </c:pt>
                <c:pt idx="81">
                  <c:v>-33</c:v>
                </c:pt>
                <c:pt idx="82">
                  <c:v>-51</c:v>
                </c:pt>
                <c:pt idx="83">
                  <c:v>-51</c:v>
                </c:pt>
                <c:pt idx="84">
                  <c:v>-13</c:v>
                </c:pt>
                <c:pt idx="85">
                  <c:v>-4</c:v>
                </c:pt>
                <c:pt idx="86">
                  <c:v>13</c:v>
                </c:pt>
                <c:pt idx="87">
                  <c:v>39</c:v>
                </c:pt>
                <c:pt idx="88">
                  <c:v>41</c:v>
                </c:pt>
                <c:pt idx="89">
                  <c:v>12</c:v>
                </c:pt>
                <c:pt idx="90">
                  <c:v>-14</c:v>
                </c:pt>
                <c:pt idx="91">
                  <c:v>-14</c:v>
                </c:pt>
                <c:pt idx="92">
                  <c:v>-21</c:v>
                </c:pt>
                <c:pt idx="93">
                  <c:v>-14</c:v>
                </c:pt>
                <c:pt idx="94">
                  <c:v>-14</c:v>
                </c:pt>
                <c:pt idx="95">
                  <c:v>-16</c:v>
                </c:pt>
                <c:pt idx="96">
                  <c:v>-2</c:v>
                </c:pt>
                <c:pt idx="97">
                  <c:v>-3</c:v>
                </c:pt>
                <c:pt idx="98">
                  <c:v>-23</c:v>
                </c:pt>
                <c:pt idx="99">
                  <c:v>-8</c:v>
                </c:pt>
                <c:pt idx="100">
                  <c:v>-10</c:v>
                </c:pt>
                <c:pt idx="101">
                  <c:v>-3</c:v>
                </c:pt>
                <c:pt idx="102">
                  <c:v>-4</c:v>
                </c:pt>
                <c:pt idx="103">
                  <c:v>-23</c:v>
                </c:pt>
                <c:pt idx="104">
                  <c:v>-25</c:v>
                </c:pt>
                <c:pt idx="105">
                  <c:v>-2</c:v>
                </c:pt>
                <c:pt idx="106">
                  <c:v>19</c:v>
                </c:pt>
                <c:pt idx="107">
                  <c:v>7</c:v>
                </c:pt>
                <c:pt idx="108">
                  <c:v>-1</c:v>
                </c:pt>
                <c:pt idx="109">
                  <c:v>7</c:v>
                </c:pt>
                <c:pt idx="110">
                  <c:v>21</c:v>
                </c:pt>
                <c:pt idx="111">
                  <c:v>-14</c:v>
                </c:pt>
                <c:pt idx="112">
                  <c:v>-22</c:v>
                </c:pt>
                <c:pt idx="113">
                  <c:v>-16</c:v>
                </c:pt>
                <c:pt idx="114">
                  <c:v>-23</c:v>
                </c:pt>
                <c:pt idx="115">
                  <c:v>-6</c:v>
                </c:pt>
                <c:pt idx="116">
                  <c:v>4</c:v>
                </c:pt>
                <c:pt idx="117">
                  <c:v>25</c:v>
                </c:pt>
                <c:pt idx="118">
                  <c:v>20</c:v>
                </c:pt>
                <c:pt idx="119">
                  <c:v>6</c:v>
                </c:pt>
                <c:pt idx="120">
                  <c:v>14</c:v>
                </c:pt>
                <c:pt idx="121">
                  <c:v>17</c:v>
                </c:pt>
                <c:pt idx="122">
                  <c:v>15</c:v>
                </c:pt>
                <c:pt idx="123">
                  <c:v>27</c:v>
                </c:pt>
                <c:pt idx="124">
                  <c:v>24</c:v>
                </c:pt>
                <c:pt idx="125">
                  <c:v>31</c:v>
                </c:pt>
                <c:pt idx="126">
                  <c:v>19</c:v>
                </c:pt>
                <c:pt idx="127">
                  <c:v>11</c:v>
                </c:pt>
                <c:pt idx="128">
                  <c:v>1</c:v>
                </c:pt>
                <c:pt idx="129">
                  <c:v>-11</c:v>
                </c:pt>
                <c:pt idx="130">
                  <c:v>-25</c:v>
                </c:pt>
                <c:pt idx="131">
                  <c:v>-29</c:v>
                </c:pt>
                <c:pt idx="132">
                  <c:v>-31</c:v>
                </c:pt>
                <c:pt idx="133">
                  <c:v>-23</c:v>
                </c:pt>
                <c:pt idx="134">
                  <c:v>-45</c:v>
                </c:pt>
                <c:pt idx="135">
                  <c:v>-65</c:v>
                </c:pt>
                <c:pt idx="136">
                  <c:v>-59</c:v>
                </c:pt>
                <c:pt idx="137">
                  <c:v>-58</c:v>
                </c:pt>
                <c:pt idx="138">
                  <c:v>-25</c:v>
                </c:pt>
                <c:pt idx="139">
                  <c:v>-36</c:v>
                </c:pt>
                <c:pt idx="140">
                  <c:v>-69</c:v>
                </c:pt>
                <c:pt idx="141">
                  <c:v>-33</c:v>
                </c:pt>
                <c:pt idx="142">
                  <c:v>-38</c:v>
                </c:pt>
                <c:pt idx="143">
                  <c:v>-56</c:v>
                </c:pt>
                <c:pt idx="144">
                  <c:v>-30</c:v>
                </c:pt>
                <c:pt idx="145">
                  <c:v>-22</c:v>
                </c:pt>
                <c:pt idx="146">
                  <c:v>-36</c:v>
                </c:pt>
                <c:pt idx="147">
                  <c:v>-16</c:v>
                </c:pt>
                <c:pt idx="148">
                  <c:v>-11</c:v>
                </c:pt>
                <c:pt idx="149">
                  <c:v>3</c:v>
                </c:pt>
                <c:pt idx="150">
                  <c:v>7</c:v>
                </c:pt>
                <c:pt idx="151">
                  <c:v>-5</c:v>
                </c:pt>
                <c:pt idx="152">
                  <c:v>-6</c:v>
                </c:pt>
                <c:pt idx="153">
                  <c:v>-2</c:v>
                </c:pt>
                <c:pt idx="154">
                  <c:v>-12</c:v>
                </c:pt>
                <c:pt idx="155">
                  <c:v>-13</c:v>
                </c:pt>
                <c:pt idx="156">
                  <c:v>-11</c:v>
                </c:pt>
                <c:pt idx="157">
                  <c:v>-11</c:v>
                </c:pt>
                <c:pt idx="158">
                  <c:v>-15</c:v>
                </c:pt>
                <c:pt idx="159">
                  <c:v>5</c:v>
                </c:pt>
                <c:pt idx="160">
                  <c:v>7</c:v>
                </c:pt>
                <c:pt idx="161">
                  <c:v>-5</c:v>
                </c:pt>
                <c:pt idx="162">
                  <c:v>7</c:v>
                </c:pt>
                <c:pt idx="163">
                  <c:v>9</c:v>
                </c:pt>
                <c:pt idx="164">
                  <c:v>10</c:v>
                </c:pt>
                <c:pt idx="165">
                  <c:v>7</c:v>
                </c:pt>
                <c:pt idx="166">
                  <c:v>1</c:v>
                </c:pt>
                <c:pt idx="167">
                  <c:v>-14</c:v>
                </c:pt>
                <c:pt idx="168">
                  <c:v>1</c:v>
                </c:pt>
                <c:pt idx="169">
                  <c:v>19</c:v>
                </c:pt>
                <c:pt idx="170">
                  <c:v>29</c:v>
                </c:pt>
                <c:pt idx="171">
                  <c:v>-4</c:v>
                </c:pt>
                <c:pt idx="172">
                  <c:v>-16</c:v>
                </c:pt>
                <c:pt idx="173">
                  <c:v>-9</c:v>
                </c:pt>
                <c:pt idx="174">
                  <c:v>-13</c:v>
                </c:pt>
                <c:pt idx="175">
                  <c:v>22</c:v>
                </c:pt>
                <c:pt idx="176">
                  <c:v>18</c:v>
                </c:pt>
                <c:pt idx="177">
                  <c:v>27</c:v>
                </c:pt>
                <c:pt idx="178">
                  <c:v>27</c:v>
                </c:pt>
                <c:pt idx="179">
                  <c:v>-3</c:v>
                </c:pt>
                <c:pt idx="180">
                  <c:v>10</c:v>
                </c:pt>
                <c:pt idx="181">
                  <c:v>31</c:v>
                </c:pt>
                <c:pt idx="182">
                  <c:v>23</c:v>
                </c:pt>
                <c:pt idx="183">
                  <c:v>-1</c:v>
                </c:pt>
                <c:pt idx="184">
                  <c:v>-3</c:v>
                </c:pt>
                <c:pt idx="185">
                  <c:v>-12</c:v>
                </c:pt>
                <c:pt idx="186">
                  <c:v>11</c:v>
                </c:pt>
                <c:pt idx="187">
                  <c:v>24</c:v>
                </c:pt>
                <c:pt idx="188">
                  <c:v>20</c:v>
                </c:pt>
                <c:pt idx="189">
                  <c:v>22</c:v>
                </c:pt>
                <c:pt idx="190">
                  <c:v>-1</c:v>
                </c:pt>
                <c:pt idx="191">
                  <c:v>-10</c:v>
                </c:pt>
                <c:pt idx="192">
                  <c:v>4</c:v>
                </c:pt>
                <c:pt idx="193">
                  <c:v>7</c:v>
                </c:pt>
                <c:pt idx="194">
                  <c:v>1</c:v>
                </c:pt>
                <c:pt idx="195">
                  <c:v>-16</c:v>
                </c:pt>
                <c:pt idx="196">
                  <c:v>-10</c:v>
                </c:pt>
                <c:pt idx="197">
                  <c:v>3</c:v>
                </c:pt>
                <c:pt idx="198">
                  <c:v>1</c:v>
                </c:pt>
                <c:pt idx="199">
                  <c:v>-2</c:v>
                </c:pt>
                <c:pt idx="200">
                  <c:v>5</c:v>
                </c:pt>
                <c:pt idx="201">
                  <c:v>-8</c:v>
                </c:pt>
                <c:pt idx="202">
                  <c:v>-25</c:v>
                </c:pt>
                <c:pt idx="203">
                  <c:v>-33</c:v>
                </c:pt>
                <c:pt idx="204">
                  <c:v>-20</c:v>
                </c:pt>
                <c:pt idx="205">
                  <c:v>-6</c:v>
                </c:pt>
                <c:pt idx="206">
                  <c:v>-6</c:v>
                </c:pt>
                <c:pt idx="207">
                  <c:v>-13</c:v>
                </c:pt>
                <c:pt idx="208">
                  <c:v>-31</c:v>
                </c:pt>
                <c:pt idx="209">
                  <c:v>-39</c:v>
                </c:pt>
                <c:pt idx="210">
                  <c:v>-29</c:v>
                </c:pt>
                <c:pt idx="211">
                  <c:v>-12</c:v>
                </c:pt>
                <c:pt idx="212">
                  <c:v>-15</c:v>
                </c:pt>
                <c:pt idx="213">
                  <c:v>-8</c:v>
                </c:pt>
                <c:pt idx="214">
                  <c:v>-12</c:v>
                </c:pt>
                <c:pt idx="215">
                  <c:v>-2</c:v>
                </c:pt>
                <c:pt idx="216">
                  <c:v>23</c:v>
                </c:pt>
                <c:pt idx="217">
                  <c:v>2</c:v>
                </c:pt>
                <c:pt idx="218">
                  <c:v>7</c:v>
                </c:pt>
                <c:pt idx="219">
                  <c:v>8</c:v>
                </c:pt>
                <c:pt idx="220">
                  <c:v>13</c:v>
                </c:pt>
                <c:pt idx="221">
                  <c:v>-2</c:v>
                </c:pt>
                <c:pt idx="222">
                  <c:v>17</c:v>
                </c:pt>
                <c:pt idx="223">
                  <c:v>18</c:v>
                </c:pt>
                <c:pt idx="224">
                  <c:v>3</c:v>
                </c:pt>
                <c:pt idx="225">
                  <c:v>-10</c:v>
                </c:pt>
                <c:pt idx="226">
                  <c:v>-27</c:v>
                </c:pt>
                <c:pt idx="227">
                  <c:v>-51</c:v>
                </c:pt>
                <c:pt idx="228">
                  <c:v>-50</c:v>
                </c:pt>
                <c:pt idx="229">
                  <c:v>-24</c:v>
                </c:pt>
                <c:pt idx="230">
                  <c:v>-30</c:v>
                </c:pt>
                <c:pt idx="231">
                  <c:v>-26</c:v>
                </c:pt>
                <c:pt idx="232">
                  <c:v>-33</c:v>
                </c:pt>
                <c:pt idx="233">
                  <c:v>-23</c:v>
                </c:pt>
                <c:pt idx="234">
                  <c:v>-11</c:v>
                </c:pt>
                <c:pt idx="235">
                  <c:v>4</c:v>
                </c:pt>
                <c:pt idx="236">
                  <c:v>20</c:v>
                </c:pt>
                <c:pt idx="237">
                  <c:v>39</c:v>
                </c:pt>
                <c:pt idx="238">
                  <c:v>69</c:v>
                </c:pt>
                <c:pt idx="239">
                  <c:v>85</c:v>
                </c:pt>
                <c:pt idx="240">
                  <c:v>67</c:v>
                </c:pt>
                <c:pt idx="241">
                  <c:v>20</c:v>
                </c:pt>
                <c:pt idx="242">
                  <c:v>0</c:v>
                </c:pt>
                <c:pt idx="243">
                  <c:v>-4</c:v>
                </c:pt>
                <c:pt idx="244">
                  <c:v>-15</c:v>
                </c:pt>
                <c:pt idx="245">
                  <c:v>-34</c:v>
                </c:pt>
                <c:pt idx="246">
                  <c:v>-36</c:v>
                </c:pt>
                <c:pt idx="247">
                  <c:v>-44</c:v>
                </c:pt>
                <c:pt idx="248">
                  <c:v>-35</c:v>
                </c:pt>
                <c:pt idx="249">
                  <c:v>-58</c:v>
                </c:pt>
                <c:pt idx="250">
                  <c:v>-86</c:v>
                </c:pt>
                <c:pt idx="251">
                  <c:v>-50</c:v>
                </c:pt>
                <c:pt idx="252">
                  <c:v>-51</c:v>
                </c:pt>
                <c:pt idx="253">
                  <c:v>-52</c:v>
                </c:pt>
                <c:pt idx="254">
                  <c:v>-61</c:v>
                </c:pt>
                <c:pt idx="255">
                  <c:v>-58</c:v>
                </c:pt>
                <c:pt idx="256">
                  <c:v>-65</c:v>
                </c:pt>
                <c:pt idx="257">
                  <c:v>-83</c:v>
                </c:pt>
                <c:pt idx="258">
                  <c:v>-63</c:v>
                </c:pt>
                <c:pt idx="259">
                  <c:v>-53</c:v>
                </c:pt>
                <c:pt idx="260">
                  <c:v>-62</c:v>
                </c:pt>
                <c:pt idx="261">
                  <c:v>-52</c:v>
                </c:pt>
                <c:pt idx="262">
                  <c:v>-40</c:v>
                </c:pt>
                <c:pt idx="263">
                  <c:v>-23</c:v>
                </c:pt>
                <c:pt idx="264">
                  <c:v>-43</c:v>
                </c:pt>
                <c:pt idx="265">
                  <c:v>-63</c:v>
                </c:pt>
                <c:pt idx="266">
                  <c:v>-64</c:v>
                </c:pt>
                <c:pt idx="267">
                  <c:v>-53</c:v>
                </c:pt>
                <c:pt idx="268">
                  <c:v>-54</c:v>
                </c:pt>
                <c:pt idx="269">
                  <c:v>-72</c:v>
                </c:pt>
                <c:pt idx="270">
                  <c:v>-65</c:v>
                </c:pt>
                <c:pt idx="271">
                  <c:v>-25</c:v>
                </c:pt>
                <c:pt idx="272">
                  <c:v>-7</c:v>
                </c:pt>
                <c:pt idx="273">
                  <c:v>17</c:v>
                </c:pt>
                <c:pt idx="274">
                  <c:v>15</c:v>
                </c:pt>
                <c:pt idx="275">
                  <c:v>14</c:v>
                </c:pt>
                <c:pt idx="276">
                  <c:v>7</c:v>
                </c:pt>
                <c:pt idx="277">
                  <c:v>21</c:v>
                </c:pt>
                <c:pt idx="278">
                  <c:v>26</c:v>
                </c:pt>
                <c:pt idx="279">
                  <c:v>22</c:v>
                </c:pt>
                <c:pt idx="280">
                  <c:v>14</c:v>
                </c:pt>
                <c:pt idx="281">
                  <c:v>-3</c:v>
                </c:pt>
                <c:pt idx="282">
                  <c:v>2</c:v>
                </c:pt>
                <c:pt idx="283">
                  <c:v>15</c:v>
                </c:pt>
                <c:pt idx="284">
                  <c:v>6</c:v>
                </c:pt>
                <c:pt idx="285">
                  <c:v>10</c:v>
                </c:pt>
                <c:pt idx="286">
                  <c:v>13</c:v>
                </c:pt>
                <c:pt idx="287">
                  <c:v>23</c:v>
                </c:pt>
                <c:pt idx="288">
                  <c:v>47</c:v>
                </c:pt>
                <c:pt idx="289">
                  <c:v>48</c:v>
                </c:pt>
                <c:pt idx="290">
                  <c:v>46</c:v>
                </c:pt>
                <c:pt idx="291">
                  <c:v>39</c:v>
                </c:pt>
                <c:pt idx="292">
                  <c:v>2</c:v>
                </c:pt>
                <c:pt idx="293">
                  <c:v>31</c:v>
                </c:pt>
                <c:pt idx="294">
                  <c:v>36</c:v>
                </c:pt>
                <c:pt idx="295">
                  <c:v>18</c:v>
                </c:pt>
                <c:pt idx="296">
                  <c:v>-17</c:v>
                </c:pt>
                <c:pt idx="297">
                  <c:v>-35</c:v>
                </c:pt>
                <c:pt idx="298">
                  <c:v>-34</c:v>
                </c:pt>
                <c:pt idx="299">
                  <c:v>-43</c:v>
                </c:pt>
                <c:pt idx="300">
                  <c:v>-15</c:v>
                </c:pt>
                <c:pt idx="301">
                  <c:v>-18</c:v>
                </c:pt>
                <c:pt idx="302">
                  <c:v>-13</c:v>
                </c:pt>
                <c:pt idx="303">
                  <c:v>-10</c:v>
                </c:pt>
                <c:pt idx="304">
                  <c:v>-44</c:v>
                </c:pt>
                <c:pt idx="305">
                  <c:v>-48</c:v>
                </c:pt>
                <c:pt idx="306">
                  <c:v>-60</c:v>
                </c:pt>
                <c:pt idx="307">
                  <c:v>-77</c:v>
                </c:pt>
                <c:pt idx="308">
                  <c:v>-86</c:v>
                </c:pt>
                <c:pt idx="309">
                  <c:v>-88</c:v>
                </c:pt>
                <c:pt idx="310">
                  <c:v>-63</c:v>
                </c:pt>
                <c:pt idx="311">
                  <c:v>-76</c:v>
                </c:pt>
                <c:pt idx="312">
                  <c:v>-76</c:v>
                </c:pt>
                <c:pt idx="313">
                  <c:v>-61</c:v>
                </c:pt>
                <c:pt idx="314">
                  <c:v>-75</c:v>
                </c:pt>
                <c:pt idx="315">
                  <c:v>-86</c:v>
                </c:pt>
                <c:pt idx="316">
                  <c:v>-92</c:v>
                </c:pt>
                <c:pt idx="317">
                  <c:v>-117</c:v>
                </c:pt>
                <c:pt idx="318">
                  <c:v>-108</c:v>
                </c:pt>
                <c:pt idx="319">
                  <c:v>-125</c:v>
                </c:pt>
              </c:numCache>
            </c:numRef>
          </c:yVal>
        </c:ser>
        <c:dLbls>
          <c:txPr>
            <a:bodyPr xmlns:a="http://schemas.openxmlformats.org/drawingml/2006/main" anchorCtr="1"/>
            <a:lstStyle xmlns:a="http://schemas.openxmlformats.org/drawingml/2006/main"/>
            <a:p xmlns:a="http://schemas.openxmlformats.org/drawingml/2006/main">
              <a:pPr>
                <a:defRPr>
                  <a:latin typeface="Source Sans 3"/>
                  <a:ea typeface="Source Sans 3"/>
                  <a:cs typeface="Source Sans 3"/>
                </a:defRPr>
              </a:pPr>
            </a:p>
          </c:txPr>
          <c:showLegendKey val="0"/>
          <c:showVal val="0"/>
          <c:showCatName val="0"/>
          <c:showSerName val="0"/>
          <c:showPercent val="0"/>
          <c:showBubbleSize val="0"/>
          <c:showLeaderLines val="0"/>
        </c:dLbls>
        <c:axId val="48650112"/>
        <c:axId val="48672768"/>
      </c:scatterChart>
      <c:valAx>
        <c:axId val="48672768"/>
        <c:scaling>
          <c:orientation val="minMax"/>
          <c:max val="130"/>
          <c:min val="-130"/>
        </c:scaling>
        <c:delete val="0"/>
        <c:axPos val="l"/>
        <c:majorGridlines>
          <c:spPr>
            <a:ln xmlns:a="http://schemas.openxmlformats.org/drawingml/2006/main" w="5715">
              <a:solidFill>
                <a:srgbClr val="CFD6CB"/>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5B6861"/>
                </a:solidFill>
                <a:latin typeface="Source Sans 3"/>
                <a:ea typeface="Source Sans 3"/>
                <a:cs typeface="Source Sans 3"/>
              </a:defRPr>
            </a:pPr>
          </a:p>
        </c:txPr>
        <c:crossAx val="48650112"/>
        <c:majorUnit val="130"/>
      </c:valAx>
      <c:valAx>
        <c:axId val="48650112"/>
        <c:scaling>
          <c:orientation val="minMax"/>
          <c:max val="2"/>
          <c:min val="0"/>
        </c:scaling>
        <c:delete val="0"/>
        <c:axPos val="b"/>
        <c:numFmt formatCode="0&quot; s&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5B6861"/>
                </a:solidFill>
                <a:latin typeface="Source Sans 3"/>
                <a:ea typeface="Source Sans 3"/>
                <a:cs typeface="Source Sans 3"/>
              </a:defRPr>
            </a:pPr>
          </a:p>
        </c:txPr>
        <c:crossAx val="48672768"/>
        <c:majorUnit val="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e5d928e85b044a4">
            <a:extLst>
              <a:ext uri="{96DAC541-7B7A-43D3-8B79-37D633B846F1}">
                <asvg:svgBlip xmlns:asvg="http://schemas.microsoft.com/office/drawing/2016/SVG/main" r:embed="Rdabfe0e8229a404a"/>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8FAD7D-EA8A-462A-85CB-C4B0ED43F06E}"/>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35770EE1-D68E-405E-AB4A-6407B6D7B50A}"/>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MongoDB × Cerebral Valley</a:t>
            </a:r>
          </a:p>
        </p:txBody>
      </p:sp>
      <p:sp>
        <p:nvSpPr>
          <p:cNvPr id="4" name="">
            <a:extLst xmlns:a="http://schemas.openxmlformats.org/drawingml/2006/main">
              <a:ext uri="{FF2B5EF4-FFF2-40B4-BE49-F238E27FC236}">
                <a16:creationId xmlns:a16="http://schemas.microsoft.com/office/drawing/2014/main" id="{3AE4E3A7-76AD-40B0-9DBA-F2A4B4BC5C8C}"/>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EE58E608-F811-41CD-BBE2-997CBD592342}"/>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06164EA2-40C5-427D-9CC3-6A100FCAAC84}"/>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01 / 06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637156dd73645ec"/>
          <a:stretch xmlns:a="http://schemas.openxmlformats.org/drawingml/2006/main"/>
        </p:blipFill>
        <p:spPr>
          <a:xfrm xmlns:a="http://schemas.openxmlformats.org/drawingml/2006/main">
            <a:off x="6108700" y="857250"/>
            <a:ext cx="5397500" cy="5397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191F4E9-F6E2-499B-998E-9AEADAE96D74}"/>
              </a:ext>
            </a:extLst>
          </p:cNvPr>
          <p:cNvSpPr>
            <a:spLocks xmlns:a="http://schemas.openxmlformats.org/drawingml/2006/main" noGrp="1"/>
          </p:cNvSpPr>
          <p:nvPr/>
        </p:nvSpPr>
        <p:spPr>
          <a:xfrm xmlns:a="http://schemas.openxmlformats.org/drawingml/2006/main">
            <a:off x="609600" y="1524000"/>
            <a:ext cx="5143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50" b="1">
                <a:solidFill>
                  <a:srgbClr val="006D46"/>
                </a:solidFill>
                <a:latin typeface="Source Sans 3"/>
                <a:ea typeface="Source Sans 3"/>
                <a:cs typeface="Source Sans 3"/>
              </a:defRPr>
            </a:pPr>
            <a:r>
              <a:rPr sz="1250" b="1">
                <a:solidFill>
                  <a:srgbClr val="006D46"/>
                </a:solidFill>
                <a:latin typeface="Source Sans 3"/>
                <a:ea typeface="Source Sans 3"/>
                <a:cs typeface="Source Sans 3"/>
              </a:rPr>
              <a:t>AUTONOMOUS NEUROSCIENCE RESEARCH</a:t>
            </a:r>
          </a:p>
        </p:txBody>
      </p:sp>
      <p:sp>
        <p:nvSpPr>
          <p:cNvPr id="9" name="">
            <a:extLst xmlns:a="http://schemas.openxmlformats.org/drawingml/2006/main">
              <a:ext uri="{FF2B5EF4-FFF2-40B4-BE49-F238E27FC236}">
                <a16:creationId xmlns:a16="http://schemas.microsoft.com/office/drawing/2014/main" id="{48603CA9-6214-4272-8E71-F01C1E8A859B}"/>
              </a:ext>
            </a:extLst>
          </p:cNvPr>
          <p:cNvSpPr>
            <a:spLocks xmlns:a="http://schemas.openxmlformats.org/drawingml/2006/main" noGrp="1"/>
          </p:cNvSpPr>
          <p:nvPr/>
        </p:nvSpPr>
        <p:spPr>
          <a:xfrm xmlns:a="http://schemas.openxmlformats.org/drawingml/2006/main">
            <a:off x="565150" y="1936750"/>
            <a:ext cx="53340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800" b="0">
                <a:solidFill>
                  <a:srgbClr val="1A2924"/>
                </a:solidFill>
                <a:latin typeface="Space Grotesk"/>
                <a:ea typeface="Space Grotesk"/>
                <a:cs typeface="Space Grotesk"/>
              </a:defRPr>
            </a:pPr>
            <a:r>
              <a:rPr sz="8800" b="0">
                <a:solidFill>
                  <a:srgbClr val="1A2924"/>
                </a:solidFill>
                <a:latin typeface="Space Grotesk"/>
                <a:ea typeface="Space Grotesk"/>
                <a:cs typeface="Space Grotesk"/>
              </a:rPr>
              <a:t>Second</a:t>
            </a:r>
          </a:p>
        </p:txBody>
      </p:sp>
      <p:sp>
        <p:nvSpPr>
          <p:cNvPr id="10" name="">
            <a:extLst xmlns:a="http://schemas.openxmlformats.org/drawingml/2006/main">
              <a:ext uri="{FF2B5EF4-FFF2-40B4-BE49-F238E27FC236}">
                <a16:creationId xmlns:a16="http://schemas.microsoft.com/office/drawing/2014/main" id="{6DE5295A-4139-42E0-9356-9AE20E383D4B}"/>
              </a:ext>
            </a:extLst>
          </p:cNvPr>
          <p:cNvSpPr>
            <a:spLocks xmlns:a="http://schemas.openxmlformats.org/drawingml/2006/main" noGrp="1"/>
          </p:cNvSpPr>
          <p:nvPr/>
        </p:nvSpPr>
        <p:spPr>
          <a:xfrm xmlns:a="http://schemas.openxmlformats.org/drawingml/2006/main">
            <a:off x="565150" y="3028950"/>
            <a:ext cx="48895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800" b="0">
                <a:solidFill>
                  <a:srgbClr val="1A2924"/>
                </a:solidFill>
                <a:latin typeface="Space Grotesk"/>
                <a:ea typeface="Space Grotesk"/>
                <a:cs typeface="Space Grotesk"/>
              </a:defRPr>
            </a:pPr>
            <a:r>
              <a:rPr sz="8800" b="0">
                <a:solidFill>
                  <a:srgbClr val="1A2924"/>
                </a:solidFill>
                <a:latin typeface="Space Grotesk"/>
                <a:ea typeface="Space Grotesk"/>
                <a:cs typeface="Space Grotesk"/>
              </a:rPr>
              <a:t>Shift</a:t>
            </a:r>
          </a:p>
        </p:txBody>
      </p:sp>
      <p:sp>
        <p:nvSpPr>
          <p:cNvPr id="11" name="">
            <a:extLst xmlns:a="http://schemas.openxmlformats.org/drawingml/2006/main">
              <a:ext uri="{FF2B5EF4-FFF2-40B4-BE49-F238E27FC236}">
                <a16:creationId xmlns:a16="http://schemas.microsoft.com/office/drawing/2014/main" id="{303CCA30-611A-4B4E-930D-9EC000D29444}"/>
              </a:ext>
            </a:extLst>
          </p:cNvPr>
          <p:cNvSpPr>
            <a:spLocks xmlns:a="http://schemas.openxmlformats.org/drawingml/2006/main" noGrp="1"/>
          </p:cNvSpPr>
          <p:nvPr/>
        </p:nvSpPr>
        <p:spPr>
          <a:xfrm xmlns:a="http://schemas.openxmlformats.org/drawingml/2006/main">
            <a:off x="622300" y="4508500"/>
            <a:ext cx="488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50" b="0">
                <a:solidFill>
                  <a:srgbClr val="1A2924"/>
                </a:solidFill>
                <a:latin typeface="Source Sans 3"/>
                <a:ea typeface="Source Sans 3"/>
                <a:cs typeface="Source Sans 3"/>
              </a:defRPr>
            </a:pPr>
            <a:r>
              <a:rPr sz="2450" b="0">
                <a:solidFill>
                  <a:srgbClr val="1A2924"/>
                </a:solidFill>
                <a:latin typeface="Source Sans 3"/>
                <a:ea typeface="Source Sans 3"/>
                <a:cs typeface="Source Sans 3"/>
              </a:rPr>
              <a:t>A neuroscience harness</a:t>
            </a:r>
          </a:p>
          <a:p xmlns:a="http://schemas.openxmlformats.org/drawingml/2006/main">
            <a:pPr algn="l">
              <a:defRPr sz="2450" b="0">
                <a:solidFill>
                  <a:srgbClr val="1A2924"/>
                </a:solidFill>
                <a:latin typeface="Source Sans 3"/>
                <a:ea typeface="Source Sans 3"/>
                <a:cs typeface="Source Sans 3"/>
              </a:defRPr>
            </a:pPr>
            <a:r>
              <a:rPr sz="2450" b="0">
                <a:solidFill>
                  <a:srgbClr val="1A2924"/>
                </a:solidFill>
                <a:latin typeface="Source Sans 3"/>
                <a:ea typeface="Source Sans 3"/>
                <a:cs typeface="Source Sans 3"/>
              </a:rPr>
              <a:t>for recorded brain signals.</a:t>
            </a:r>
          </a:p>
        </p:txBody>
      </p:sp>
      <p:sp>
        <p:nvSpPr>
          <p:cNvPr id="12" name="">
            <a:extLst xmlns:a="http://schemas.openxmlformats.org/drawingml/2006/main">
              <a:ext uri="{FF2B5EF4-FFF2-40B4-BE49-F238E27FC236}">
                <a16:creationId xmlns:a16="http://schemas.microsoft.com/office/drawing/2014/main" id="{47F36FBF-8E87-4061-82F1-C50D1DBDB043}"/>
              </a:ext>
            </a:extLst>
          </p:cNvPr>
          <p:cNvSpPr>
            <a:spLocks xmlns:a="http://schemas.openxmlformats.org/drawingml/2006/main" noGrp="1"/>
          </p:cNvSpPr>
          <p:nvPr/>
        </p:nvSpPr>
        <p:spPr>
          <a:xfrm xmlns:a="http://schemas.openxmlformats.org/drawingml/2006/main">
            <a:off x="622300" y="5803900"/>
            <a:ext cx="4953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B6861"/>
                </a:solidFill>
                <a:latin typeface="Source Sans 3"/>
                <a:ea typeface="Source Sans 3"/>
                <a:cs typeface="Source Sans 3"/>
              </a:defRPr>
            </a:pPr>
            <a:r>
              <a:rPr sz="1300" b="0">
                <a:solidFill>
                  <a:srgbClr val="5B6861"/>
                </a:solidFill>
                <a:latin typeface="Source Sans 3"/>
                <a:ea typeface="Source Sans 3"/>
                <a:cs typeface="Source Sans 3"/>
              </a:rPr>
              <a:t>Andrew Shatsky and David Shatsky</a:t>
            </a:r>
          </a:p>
        </p:txBody>
      </p:sp>
    </p:spTree>
    <p:extLst>
      <p:ext uri="{BB962C8B-B14F-4D97-AF65-F5344CB8AC3E}">
        <p14:creationId xmlns:p14="http://schemas.microsoft.com/office/powerpoint/2010/main" val="2090949329"/>
      </p:ext>
    </p:extLst>
  </p:cSld>
</p:sld>
</file>

<file path=ppt/slides/slide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5fa93e7609b4539">
            <a:extLst>
              <a:ext uri="{96DAC541-7B7A-43D3-8B79-37D633B846F1}">
                <asvg:svgBlip xmlns:asvg="http://schemas.microsoft.com/office/drawing/2016/SVG/main" r:embed="Ra5b05bf6ec5f4b91"/>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634BB1-CA86-49D5-A096-9A7BE4CB5C82}"/>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761DA614-5698-475E-B3EB-F9BE9871BF70}"/>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The research question</a:t>
            </a:r>
          </a:p>
        </p:txBody>
      </p:sp>
      <p:sp>
        <p:nvSpPr>
          <p:cNvPr id="4" name="">
            <a:extLst xmlns:a="http://schemas.openxmlformats.org/drawingml/2006/main">
              <a:ext uri="{FF2B5EF4-FFF2-40B4-BE49-F238E27FC236}">
                <a16:creationId xmlns:a16="http://schemas.microsoft.com/office/drawing/2014/main" id="{F39F5FE9-B083-48C9-BF70-EADADC50C8EB}"/>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693B55AF-199E-4013-996F-62BF4CDA195C}"/>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1AE4ED73-6368-4930-A9E3-1A0EB611B3E5}"/>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02 / 06</a:t>
            </a:r>
          </a:p>
        </p:txBody>
      </p:sp>
      <p:sp>
        <p:nvSpPr>
          <p:cNvPr id="7" name="">
            <a:extLst xmlns:a="http://schemas.openxmlformats.org/drawingml/2006/main">
              <a:ext uri="{FF2B5EF4-FFF2-40B4-BE49-F238E27FC236}">
                <a16:creationId xmlns:a16="http://schemas.microsoft.com/office/drawing/2014/main" id="{1CA586C2-9B91-4B12-ADE1-44EEC75365E0}"/>
              </a:ext>
            </a:extLst>
          </p:cNvPr>
          <p:cNvSpPr>
            <a:spLocks xmlns:a="http://schemas.openxmlformats.org/drawingml/2006/main" noGrp="1"/>
          </p:cNvSpPr>
          <p:nvPr/>
        </p:nvSpPr>
        <p:spPr>
          <a:xfrm xmlns:a="http://schemas.openxmlformats.org/drawingml/2006/main">
            <a:off x="609600" y="984250"/>
            <a:ext cx="9080500" cy="153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300" b="0">
                <a:solidFill>
                  <a:srgbClr val="1A2924"/>
                </a:solidFill>
                <a:latin typeface="Space Grotesk"/>
                <a:ea typeface="Space Grotesk"/>
                <a:cs typeface="Space Grotesk"/>
              </a:defRPr>
            </a:pPr>
            <a:r>
              <a:rPr sz="5300" b="0">
                <a:solidFill>
                  <a:srgbClr val="1A2924"/>
                </a:solidFill>
                <a:latin typeface="Space Grotesk"/>
                <a:ea typeface="Space Grotesk"/>
                <a:cs typeface="Space Grotesk"/>
              </a:rPr>
              <a:t>Finding patterns in</a:t>
            </a:r>
          </a:p>
          <a:p xmlns:a="http://schemas.openxmlformats.org/drawingml/2006/main">
            <a:pPr algn="l">
              <a:defRPr sz="5300" b="0">
                <a:solidFill>
                  <a:srgbClr val="1A2924"/>
                </a:solidFill>
                <a:latin typeface="Space Grotesk"/>
                <a:ea typeface="Space Grotesk"/>
                <a:cs typeface="Space Grotesk"/>
              </a:defRPr>
            </a:pPr>
            <a:r>
              <a:rPr sz="5300" b="0">
                <a:solidFill>
                  <a:srgbClr val="1A2924"/>
                </a:solidFill>
                <a:latin typeface="Space Grotesk"/>
                <a:ea typeface="Space Grotesk"/>
                <a:cs typeface="Space Grotesk"/>
              </a:rPr>
              <a:t>brain signals</a:t>
            </a:r>
          </a:p>
        </p:txBody>
      </p:sp>
      <p:sp>
        <p:nvSpPr>
          <p:cNvPr id="8" name="">
            <a:extLst xmlns:a="http://schemas.openxmlformats.org/drawingml/2006/main">
              <a:ext uri="{FF2B5EF4-FFF2-40B4-BE49-F238E27FC236}">
                <a16:creationId xmlns:a16="http://schemas.microsoft.com/office/drawing/2014/main" id="{4196656B-56B9-4915-93D3-ACA56226945D}"/>
              </a:ext>
            </a:extLst>
          </p:cNvPr>
          <p:cNvSpPr>
            <a:spLocks xmlns:a="http://schemas.openxmlformats.org/drawingml/2006/main" noGrp="1"/>
          </p:cNvSpPr>
          <p:nvPr/>
        </p:nvSpPr>
        <p:spPr>
          <a:xfrm xmlns:a="http://schemas.openxmlformats.org/drawingml/2006/main">
            <a:off x="622300" y="2667000"/>
            <a:ext cx="768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50" b="1">
                <a:solidFill>
                  <a:srgbClr val="1A2924"/>
                </a:solidFill>
                <a:latin typeface="Source Sans 3"/>
                <a:ea typeface="Source Sans 3"/>
                <a:cs typeface="Source Sans 3"/>
              </a:defRPr>
            </a:pPr>
            <a:r>
              <a:rPr sz="2650" b="1">
                <a:solidFill>
                  <a:srgbClr val="1A2924"/>
                </a:solidFill>
                <a:latin typeface="Source Sans 3"/>
                <a:ea typeface="Source Sans 3"/>
                <a:cs typeface="Source Sans 3"/>
              </a:rPr>
              <a:t>Imagined fists or imagined feet?</a:t>
            </a:r>
          </a:p>
        </p:txBody>
      </p:sp>
      <p:sp>
        <p:nvSpPr>
          <p:cNvPr id="9" name="">
            <a:extLst xmlns:a="http://schemas.openxmlformats.org/drawingml/2006/main">
              <a:ext uri="{FF2B5EF4-FFF2-40B4-BE49-F238E27FC236}">
                <a16:creationId xmlns:a16="http://schemas.microsoft.com/office/drawing/2014/main" id="{36946429-567E-4621-A2E2-CEB1457EBE35}"/>
              </a:ext>
            </a:extLst>
          </p:cNvPr>
          <p:cNvSpPr>
            <a:spLocks xmlns:a="http://schemas.openxmlformats.org/drawingml/2006/main" noGrp="1"/>
          </p:cNvSpPr>
          <p:nvPr/>
        </p:nvSpPr>
        <p:spPr>
          <a:xfrm xmlns:a="http://schemas.openxmlformats.org/drawingml/2006/main">
            <a:off x="622300" y="31940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861"/>
                </a:solidFill>
                <a:latin typeface="Source Sans 3"/>
                <a:ea typeface="Source Sans 3"/>
                <a:cs typeface="Source Sans 3"/>
              </a:defRPr>
            </a:pPr>
            <a:r>
              <a:rPr sz="1650" b="0">
                <a:solidFill>
                  <a:srgbClr val="5B6861"/>
                </a:solidFill>
                <a:latin typeface="Source Sans 3"/>
                <a:ea typeface="Source Sans 3"/>
                <a:cs typeface="Source Sans 3"/>
              </a:rPr>
              <a:t>Electrical activity recorded from the scalp</a:t>
            </a:r>
          </a:p>
        </p:txBody>
      </p:sp>
      <p:graphicFrame>
        <p:nvGraphicFramePr>
          <p:cNvPr id="25" name="Chart"/>
          <p:cNvGraphicFramePr/>
          <p:nvPr/>
        </p:nvGraphicFramePr>
        <p:xfrm>
          <a:off xmlns:a="http://schemas.openxmlformats.org/drawingml/2006/main" x="609600" y="3924300"/>
          <a:ext xmlns:a="http://schemas.openxmlformats.org/drawingml/2006/main" cx="6604000" cy="1428750"/>
        </p:xfrm>
        <a:graphic xmlns:a="http://schemas.openxmlformats.org/drawingml/2006/main">
          <a:graphicData uri="http://schemas.openxmlformats.org/drawingml/2006/chart">
            <c:chart xmlns:r="http://schemas.openxmlformats.org/officeDocument/2006/relationships" xmlns:c="http://schemas.openxmlformats.org/drawingml/2006/chart" r:id="Ra31a6a969a544568"/>
          </a:graphicData>
        </a:graphic>
      </p:graphicFrame>
      <p:sp>
        <p:nvSpPr>
          <p:cNvPr id="11" name="">
            <a:extLst xmlns:a="http://schemas.openxmlformats.org/drawingml/2006/main">
              <a:ext uri="{FF2B5EF4-FFF2-40B4-BE49-F238E27FC236}">
                <a16:creationId xmlns:a16="http://schemas.microsoft.com/office/drawing/2014/main" id="{6C5E0B03-3012-4E11-B81B-9DADC398CDFF}"/>
              </a:ext>
            </a:extLst>
          </p:cNvPr>
          <p:cNvSpPr>
            <a:spLocks xmlns:a="http://schemas.openxmlformats.org/drawingml/2006/main" noGrp="1"/>
          </p:cNvSpPr>
          <p:nvPr/>
        </p:nvSpPr>
        <p:spPr>
          <a:xfrm xmlns:a="http://schemas.openxmlformats.org/drawingml/2006/main">
            <a:off x="622300" y="5524500"/>
            <a:ext cx="6667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B6861"/>
                </a:solidFill>
                <a:latin typeface="Source Sans 3"/>
                <a:ea typeface="Source Sans 3"/>
                <a:cs typeface="Source Sans 3"/>
              </a:defRPr>
            </a:pPr>
            <a:r>
              <a:rPr sz="1350" b="0">
                <a:solidFill>
                  <a:srgbClr val="5B6861"/>
                </a:solidFill>
                <a:latin typeface="Source Sans 3"/>
                <a:ea typeface="Source Sans 3"/>
                <a:cs typeface="Source Sans 3"/>
              </a:rPr>
              <a:t>Real EEG excerpt · C3 · amplitude in µV</a:t>
            </a:r>
          </a:p>
        </p:txBody>
      </p:sp>
      <p:sp>
        <p:nvSpPr>
          <p:cNvPr id="12" name="">
            <a:extLst xmlns:a="http://schemas.openxmlformats.org/drawingml/2006/main">
              <a:ext uri="{FF2B5EF4-FFF2-40B4-BE49-F238E27FC236}">
                <a16:creationId xmlns:a16="http://schemas.microsoft.com/office/drawing/2014/main" id="{B77F905E-0D12-4383-97F8-A85D76C97B26}"/>
              </a:ext>
            </a:extLst>
          </p:cNvPr>
          <p:cNvSpPr>
            <a:spLocks xmlns:a="http://schemas.openxmlformats.org/drawingml/2006/main" noGrp="1"/>
          </p:cNvSpPr>
          <p:nvPr/>
        </p:nvSpPr>
        <p:spPr>
          <a:xfrm xmlns:a="http://schemas.openxmlformats.org/drawingml/2006/main">
            <a:off x="7759700" y="2901950"/>
            <a:ext cx="37973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13" name="">
            <a:extLst xmlns:a="http://schemas.openxmlformats.org/drawingml/2006/main">
              <a:ext uri="{FF2B5EF4-FFF2-40B4-BE49-F238E27FC236}">
                <a16:creationId xmlns:a16="http://schemas.microsoft.com/office/drawing/2014/main" id="{5539EEDC-AA9E-4003-9A9E-E43FFEE00359}"/>
              </a:ext>
            </a:extLst>
          </p:cNvPr>
          <p:cNvSpPr>
            <a:spLocks xmlns:a="http://schemas.openxmlformats.org/drawingml/2006/main" noGrp="1"/>
          </p:cNvSpPr>
          <p:nvPr/>
        </p:nvSpPr>
        <p:spPr>
          <a:xfrm xmlns:a="http://schemas.openxmlformats.org/drawingml/2006/main">
            <a:off x="7785100" y="3194050"/>
            <a:ext cx="3683000" cy="130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500" b="0">
                <a:solidFill>
                  <a:srgbClr val="006D46"/>
                </a:solidFill>
                <a:latin typeface="Space Grotesk"/>
                <a:ea typeface="Space Grotesk"/>
                <a:cs typeface="Space Grotesk"/>
              </a:defRPr>
            </a:pPr>
            <a:r>
              <a:rPr sz="8500" b="0">
                <a:solidFill>
                  <a:srgbClr val="006D46"/>
                </a:solidFill>
                <a:latin typeface="Space Grotesk"/>
                <a:ea typeface="Space Grotesk"/>
                <a:cs typeface="Space Grotesk"/>
              </a:rPr>
              <a:t>225</a:t>
            </a:r>
          </a:p>
        </p:txBody>
      </p:sp>
      <p:sp>
        <p:nvSpPr>
          <p:cNvPr id="14" name="">
            <a:extLst xmlns:a="http://schemas.openxmlformats.org/drawingml/2006/main">
              <a:ext uri="{FF2B5EF4-FFF2-40B4-BE49-F238E27FC236}">
                <a16:creationId xmlns:a16="http://schemas.microsoft.com/office/drawing/2014/main" id="{C94C2414-BAAE-4F11-83F7-D61212C0CE5D}"/>
              </a:ext>
            </a:extLst>
          </p:cNvPr>
          <p:cNvSpPr>
            <a:spLocks xmlns:a="http://schemas.openxmlformats.org/drawingml/2006/main" noGrp="1"/>
          </p:cNvSpPr>
          <p:nvPr/>
        </p:nvSpPr>
        <p:spPr>
          <a:xfrm xmlns:a="http://schemas.openxmlformats.org/drawingml/2006/main">
            <a:off x="7810500" y="4641850"/>
            <a:ext cx="36830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A2924"/>
                </a:solidFill>
                <a:latin typeface="Source Sans 3"/>
                <a:ea typeface="Source Sans 3"/>
                <a:cs typeface="Source Sans 3"/>
              </a:defRPr>
            </a:pPr>
            <a:r>
              <a:rPr sz="1800" b="0">
                <a:solidFill>
                  <a:srgbClr val="1A2924"/>
                </a:solidFill>
                <a:latin typeface="Source Sans 3"/>
                <a:ea typeface="Source Sans 3"/>
                <a:cs typeface="Source Sans 3"/>
              </a:rPr>
              <a:t>possible experiment configurations</a:t>
            </a:r>
          </a:p>
        </p:txBody>
      </p:sp>
      <p:sp>
        <p:nvSpPr>
          <p:cNvPr id="15" name="">
            <a:extLst xmlns:a="http://schemas.openxmlformats.org/drawingml/2006/main">
              <a:ext uri="{FF2B5EF4-FFF2-40B4-BE49-F238E27FC236}">
                <a16:creationId xmlns:a16="http://schemas.microsoft.com/office/drawing/2014/main" id="{3038B299-E093-4303-BA6F-65EB1C367D8A}"/>
              </a:ext>
            </a:extLst>
          </p:cNvPr>
          <p:cNvSpPr>
            <a:spLocks xmlns:a="http://schemas.openxmlformats.org/drawingml/2006/main" noGrp="1"/>
          </p:cNvSpPr>
          <p:nvPr/>
        </p:nvSpPr>
        <p:spPr>
          <a:xfrm xmlns:a="http://schemas.openxmlformats.org/drawingml/2006/main">
            <a:off x="7810500" y="5384800"/>
            <a:ext cx="3683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B6861"/>
                </a:solidFill>
                <a:latin typeface="Source Sans 3"/>
                <a:ea typeface="Source Sans 3"/>
                <a:cs typeface="Source Sans 3"/>
              </a:defRPr>
            </a:pPr>
            <a:r>
              <a:rPr sz="1500" b="0">
                <a:solidFill>
                  <a:srgbClr val="5B6861"/>
                </a:solidFill>
                <a:latin typeface="Source Sans 3"/>
                <a:ea typeface="Source Sans 3"/>
                <a:cs typeface="Source Sans 3"/>
              </a:rPr>
              <a:t>Electrodes, frequency bands,</a:t>
            </a:r>
          </a:p>
          <a:p xmlns:a="http://schemas.openxmlformats.org/drawingml/2006/main">
            <a:pPr algn="l">
              <a:defRPr sz="1500" b="0">
                <a:solidFill>
                  <a:srgbClr val="5B6861"/>
                </a:solidFill>
                <a:latin typeface="Source Sans 3"/>
                <a:ea typeface="Source Sans 3"/>
                <a:cs typeface="Source Sans 3"/>
              </a:defRPr>
            </a:pPr>
            <a:r>
              <a:rPr sz="1500" b="0">
                <a:solidFill>
                  <a:srgbClr val="5B6861"/>
                </a:solidFill>
                <a:latin typeface="Source Sans 3"/>
                <a:ea typeface="Source Sans 3"/>
                <a:cs typeface="Source Sans 3"/>
              </a:rPr>
              <a:t>time windows, classifiers</a:t>
            </a:r>
          </a:p>
        </p:txBody>
      </p:sp>
    </p:spTree>
    <p:extLst>
      <p:ext uri="{BB962C8B-B14F-4D97-AF65-F5344CB8AC3E}">
        <p14:creationId xmlns:p14="http://schemas.microsoft.com/office/powerpoint/2010/main" val="1173643237"/>
      </p:ext>
    </p:extLst>
  </p:cSld>
</p:sld>
</file>

<file path=ppt/slides/slide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13fc5f1942f4a96">
            <a:extLst>
              <a:ext uri="{96DAC541-7B7A-43D3-8B79-37D633B846F1}">
                <asvg:svgBlip xmlns:asvg="http://schemas.microsoft.com/office/drawing/2016/SVG/main" r:embed="R8e80ed531bd140a8"/>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556FA5-1B0E-4AF1-9DAB-7EC7B9F72CF0}"/>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69642119-C0C6-45F8-9DCA-C0148E8E2C1F}"/>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The research loop</a:t>
            </a:r>
          </a:p>
        </p:txBody>
      </p:sp>
      <p:sp>
        <p:nvSpPr>
          <p:cNvPr id="4" name="">
            <a:extLst xmlns:a="http://schemas.openxmlformats.org/drawingml/2006/main">
              <a:ext uri="{FF2B5EF4-FFF2-40B4-BE49-F238E27FC236}">
                <a16:creationId xmlns:a16="http://schemas.microsoft.com/office/drawing/2014/main" id="{A444DE2B-2D9A-4335-A552-5EC10E81D735}"/>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1BA4D619-5CC2-4EF7-8768-EB87A515573C}"/>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685BFA19-2CDD-4736-91C0-3E53187ADFC9}"/>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03 / 06</a:t>
            </a:r>
          </a:p>
        </p:txBody>
      </p:sp>
      <p:sp>
        <p:nvSpPr>
          <p:cNvPr id="7" name="">
            <a:extLst xmlns:a="http://schemas.openxmlformats.org/drawingml/2006/main">
              <a:ext uri="{FF2B5EF4-FFF2-40B4-BE49-F238E27FC236}">
                <a16:creationId xmlns:a16="http://schemas.microsoft.com/office/drawing/2014/main" id="{9585C994-5D4D-4299-B761-33D68697BE8B}"/>
              </a:ext>
            </a:extLst>
          </p:cNvPr>
          <p:cNvSpPr>
            <a:spLocks xmlns:a="http://schemas.openxmlformats.org/drawingml/2006/main" noGrp="1"/>
          </p:cNvSpPr>
          <p:nvPr/>
        </p:nvSpPr>
        <p:spPr>
          <a:xfrm xmlns:a="http://schemas.openxmlformats.org/drawingml/2006/main">
            <a:off x="609600" y="984250"/>
            <a:ext cx="9525000" cy="155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300" b="0">
                <a:solidFill>
                  <a:srgbClr val="1A2924"/>
                </a:solidFill>
                <a:latin typeface="Space Grotesk"/>
                <a:ea typeface="Space Grotesk"/>
                <a:cs typeface="Space Grotesk"/>
              </a:defRPr>
            </a:pPr>
            <a:r>
              <a:rPr sz="5300" b="0">
                <a:solidFill>
                  <a:srgbClr val="1A2924"/>
                </a:solidFill>
                <a:latin typeface="Space Grotesk"/>
                <a:ea typeface="Space Grotesk"/>
                <a:cs typeface="Space Grotesk"/>
              </a:rPr>
              <a:t>How Second Shift</a:t>
            </a:r>
          </a:p>
          <a:p xmlns:a="http://schemas.openxmlformats.org/drawingml/2006/main">
            <a:pPr algn="l">
              <a:defRPr sz="5300" b="0">
                <a:solidFill>
                  <a:srgbClr val="1A2924"/>
                </a:solidFill>
                <a:latin typeface="Space Grotesk"/>
                <a:ea typeface="Space Grotesk"/>
                <a:cs typeface="Space Grotesk"/>
              </a:defRPr>
            </a:pPr>
            <a:r>
              <a:rPr sz="5300" b="0">
                <a:solidFill>
                  <a:srgbClr val="1A2924"/>
                </a:solidFill>
                <a:latin typeface="Space Grotesk"/>
                <a:ea typeface="Space Grotesk"/>
                <a:cs typeface="Space Grotesk"/>
              </a:rPr>
              <a:t>researches</a:t>
            </a:r>
          </a:p>
        </p:txBody>
      </p:sp>
      <p:sp>
        <p:nvSpPr>
          <p:cNvPr id="8" name="">
            <a:extLst xmlns:a="http://schemas.openxmlformats.org/drawingml/2006/main">
              <a:ext uri="{FF2B5EF4-FFF2-40B4-BE49-F238E27FC236}">
                <a16:creationId xmlns:a16="http://schemas.microsoft.com/office/drawing/2014/main" id="{60464035-2157-4D05-9224-07132109D41E}"/>
              </a:ext>
            </a:extLst>
          </p:cNvPr>
          <p:cNvSpPr>
            <a:spLocks xmlns:a="http://schemas.openxmlformats.org/drawingml/2006/main" noGrp="1"/>
          </p:cNvSpPr>
          <p:nvPr/>
        </p:nvSpPr>
        <p:spPr>
          <a:xfrm xmlns:a="http://schemas.openxmlformats.org/drawingml/2006/main">
            <a:off x="622300" y="2660650"/>
            <a:ext cx="99060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B6861"/>
                </a:solidFill>
                <a:latin typeface="Source Sans 3"/>
                <a:ea typeface="Source Sans 3"/>
                <a:cs typeface="Source Sans 3"/>
              </a:defRPr>
            </a:pPr>
            <a:r>
              <a:rPr sz="2100" b="0">
                <a:solidFill>
                  <a:srgbClr val="5B6861"/>
                </a:solidFill>
                <a:latin typeface="Source Sans 3"/>
                <a:ea typeface="Source Sans 3"/>
                <a:cs typeface="Source Sans 3"/>
              </a:rPr>
              <a:t>Fresh context for every experiment</a:t>
            </a:r>
          </a:p>
        </p:txBody>
      </p:sp>
      <p:sp>
        <p:nvSpPr>
          <p:cNvPr id="9" name="">
            <a:extLst xmlns:a="http://schemas.openxmlformats.org/drawingml/2006/main">
              <a:ext uri="{FF2B5EF4-FFF2-40B4-BE49-F238E27FC236}">
                <a16:creationId xmlns:a16="http://schemas.microsoft.com/office/drawing/2014/main" id="{1DA62067-5EBF-42EF-AFE0-854D970705C1}"/>
              </a:ext>
            </a:extLst>
          </p:cNvPr>
          <p:cNvSpPr>
            <a:spLocks xmlns:a="http://schemas.openxmlformats.org/drawingml/2006/main" noGrp="1"/>
          </p:cNvSpPr>
          <p:nvPr/>
        </p:nvSpPr>
        <p:spPr>
          <a:xfrm xmlns:a="http://schemas.openxmlformats.org/drawingml/2006/main">
            <a:off x="635000" y="3448050"/>
            <a:ext cx="1460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50" b="0">
                <a:solidFill>
                  <a:srgbClr val="006D46"/>
                </a:solidFill>
                <a:latin typeface="Space Grotesk"/>
                <a:ea typeface="Space Grotesk"/>
                <a:cs typeface="Space Grotesk"/>
              </a:defRPr>
            </a:pPr>
            <a:r>
              <a:rPr sz="3550" b="0">
                <a:solidFill>
                  <a:srgbClr val="006D46"/>
                </a:solidFill>
                <a:latin typeface="Space Grotesk"/>
                <a:ea typeface="Space Grotesk"/>
                <a:cs typeface="Space Grotesk"/>
              </a:rPr>
              <a:t>01</a:t>
            </a:r>
          </a:p>
        </p:txBody>
      </p:sp>
      <p:sp>
        <p:nvSpPr>
          <p:cNvPr id="10" name="">
            <a:extLst xmlns:a="http://schemas.openxmlformats.org/drawingml/2006/main">
              <a:ext uri="{FF2B5EF4-FFF2-40B4-BE49-F238E27FC236}">
                <a16:creationId xmlns:a16="http://schemas.microsoft.com/office/drawing/2014/main" id="{FA11EC1A-446B-4BEF-84FD-DEB465930616}"/>
              </a:ext>
            </a:extLst>
          </p:cNvPr>
          <p:cNvSpPr>
            <a:spLocks xmlns:a="http://schemas.openxmlformats.org/drawingml/2006/main" noGrp="1"/>
          </p:cNvSpPr>
          <p:nvPr/>
        </p:nvSpPr>
        <p:spPr>
          <a:xfrm xmlns:a="http://schemas.openxmlformats.org/drawingml/2006/main">
            <a:off x="4457700" y="3448050"/>
            <a:ext cx="1460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50" b="0">
                <a:solidFill>
                  <a:srgbClr val="006D46"/>
                </a:solidFill>
                <a:latin typeface="Space Grotesk"/>
                <a:ea typeface="Space Grotesk"/>
                <a:cs typeface="Space Grotesk"/>
              </a:defRPr>
            </a:pPr>
            <a:r>
              <a:rPr sz="3550" b="0">
                <a:solidFill>
                  <a:srgbClr val="006D46"/>
                </a:solidFill>
                <a:latin typeface="Space Grotesk"/>
                <a:ea typeface="Space Grotesk"/>
                <a:cs typeface="Space Grotesk"/>
              </a:rPr>
              <a:t>02</a:t>
            </a:r>
          </a:p>
        </p:txBody>
      </p:sp>
      <p:sp>
        <p:nvSpPr>
          <p:cNvPr id="11" name="">
            <a:extLst xmlns:a="http://schemas.openxmlformats.org/drawingml/2006/main">
              <a:ext uri="{FF2B5EF4-FFF2-40B4-BE49-F238E27FC236}">
                <a16:creationId xmlns:a16="http://schemas.microsoft.com/office/drawing/2014/main" id="{C7A9434F-67DA-4BD8-AFFE-293420B45883}"/>
              </a:ext>
            </a:extLst>
          </p:cNvPr>
          <p:cNvSpPr>
            <a:spLocks xmlns:a="http://schemas.openxmlformats.org/drawingml/2006/main" noGrp="1"/>
          </p:cNvSpPr>
          <p:nvPr/>
        </p:nvSpPr>
        <p:spPr>
          <a:xfrm xmlns:a="http://schemas.openxmlformats.org/drawingml/2006/main">
            <a:off x="8280400" y="3448050"/>
            <a:ext cx="1460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50" b="0">
                <a:solidFill>
                  <a:srgbClr val="006D46"/>
                </a:solidFill>
                <a:latin typeface="Space Grotesk"/>
                <a:ea typeface="Space Grotesk"/>
                <a:cs typeface="Space Grotesk"/>
              </a:defRPr>
            </a:pPr>
            <a:r>
              <a:rPr sz="3550" b="0">
                <a:solidFill>
                  <a:srgbClr val="006D46"/>
                </a:solidFill>
                <a:latin typeface="Space Grotesk"/>
                <a:ea typeface="Space Grotesk"/>
                <a:cs typeface="Space Grotesk"/>
              </a:rPr>
              <a:t>03</a:t>
            </a:r>
          </a:p>
        </p:txBody>
      </p:sp>
      <p:sp>
        <p:nvSpPr>
          <p:cNvPr id="12" name="">
            <a:extLst xmlns:a="http://schemas.openxmlformats.org/drawingml/2006/main">
              <a:ext uri="{FF2B5EF4-FFF2-40B4-BE49-F238E27FC236}">
                <a16:creationId xmlns:a16="http://schemas.microsoft.com/office/drawing/2014/main" id="{15AC759F-ADDD-44FB-98EC-1B73A77949B2}"/>
              </a:ext>
            </a:extLst>
          </p:cNvPr>
          <p:cNvSpPr>
            <a:spLocks xmlns:a="http://schemas.openxmlformats.org/drawingml/2006/main" noGrp="1"/>
          </p:cNvSpPr>
          <p:nvPr/>
        </p:nvSpPr>
        <p:spPr>
          <a:xfrm xmlns:a="http://schemas.openxmlformats.org/drawingml/2006/main">
            <a:off x="635000" y="4171950"/>
            <a:ext cx="331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50" b="0">
                <a:solidFill>
                  <a:srgbClr val="1A2924"/>
                </a:solidFill>
                <a:latin typeface="Space Grotesk"/>
                <a:ea typeface="Space Grotesk"/>
                <a:cs typeface="Space Grotesk"/>
              </a:defRPr>
            </a:pPr>
            <a:r>
              <a:rPr sz="2950" b="0">
                <a:solidFill>
                  <a:srgbClr val="1A2924"/>
                </a:solidFill>
                <a:latin typeface="Space Grotesk"/>
                <a:ea typeface="Space Grotesk"/>
                <a:cs typeface="Space Grotesk"/>
              </a:rPr>
              <a:t>Remember</a:t>
            </a:r>
          </a:p>
        </p:txBody>
      </p:sp>
      <p:sp>
        <p:nvSpPr>
          <p:cNvPr id="13" name="">
            <a:extLst xmlns:a="http://schemas.openxmlformats.org/drawingml/2006/main">
              <a:ext uri="{FF2B5EF4-FFF2-40B4-BE49-F238E27FC236}">
                <a16:creationId xmlns:a16="http://schemas.microsoft.com/office/drawing/2014/main" id="{D02DD3EF-4F19-43E7-AD6B-E69D2AAEFC6F}"/>
              </a:ext>
            </a:extLst>
          </p:cNvPr>
          <p:cNvSpPr>
            <a:spLocks xmlns:a="http://schemas.openxmlformats.org/drawingml/2006/main" noGrp="1"/>
          </p:cNvSpPr>
          <p:nvPr/>
        </p:nvSpPr>
        <p:spPr>
          <a:xfrm xmlns:a="http://schemas.openxmlformats.org/drawingml/2006/main">
            <a:off x="4457700" y="4171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50" b="0">
                <a:solidFill>
                  <a:srgbClr val="1A2924"/>
                </a:solidFill>
                <a:latin typeface="Space Grotesk"/>
                <a:ea typeface="Space Grotesk"/>
                <a:cs typeface="Space Grotesk"/>
              </a:defRPr>
            </a:pPr>
            <a:r>
              <a:rPr sz="2950" b="0">
                <a:solidFill>
                  <a:srgbClr val="1A2924"/>
                </a:solidFill>
                <a:latin typeface="Space Grotesk"/>
                <a:ea typeface="Space Grotesk"/>
                <a:cs typeface="Space Grotesk"/>
              </a:rPr>
              <a:t>Decide</a:t>
            </a:r>
          </a:p>
        </p:txBody>
      </p:sp>
      <p:sp>
        <p:nvSpPr>
          <p:cNvPr id="14" name="">
            <a:extLst xmlns:a="http://schemas.openxmlformats.org/drawingml/2006/main">
              <a:ext uri="{FF2B5EF4-FFF2-40B4-BE49-F238E27FC236}">
                <a16:creationId xmlns:a16="http://schemas.microsoft.com/office/drawing/2014/main" id="{322CB4B8-D600-48AF-BB50-3F0015E6165A}"/>
              </a:ext>
            </a:extLst>
          </p:cNvPr>
          <p:cNvSpPr>
            <a:spLocks xmlns:a="http://schemas.openxmlformats.org/drawingml/2006/main" noGrp="1"/>
          </p:cNvSpPr>
          <p:nvPr/>
        </p:nvSpPr>
        <p:spPr>
          <a:xfrm xmlns:a="http://schemas.openxmlformats.org/drawingml/2006/main">
            <a:off x="8280400" y="4171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1A2924"/>
                </a:solidFill>
                <a:latin typeface="Space Grotesk"/>
                <a:ea typeface="Space Grotesk"/>
                <a:cs typeface="Space Grotesk"/>
              </a:defRPr>
            </a:pPr>
            <a:r>
              <a:rPr sz="2800" b="0">
                <a:solidFill>
                  <a:srgbClr val="1A2924"/>
                </a:solidFill>
                <a:latin typeface="Space Grotesk"/>
                <a:ea typeface="Space Grotesk"/>
                <a:cs typeface="Space Grotesk"/>
              </a:rPr>
              <a:t>Experiment</a:t>
            </a:r>
          </a:p>
        </p:txBody>
      </p:sp>
      <p:sp>
        <p:nvSpPr>
          <p:cNvPr id="15" name="">
            <a:extLst xmlns:a="http://schemas.openxmlformats.org/drawingml/2006/main">
              <a:ext uri="{FF2B5EF4-FFF2-40B4-BE49-F238E27FC236}">
                <a16:creationId xmlns:a16="http://schemas.microsoft.com/office/drawing/2014/main" id="{CDEDC192-F452-427C-B786-437700A5713B}"/>
              </a:ext>
            </a:extLst>
          </p:cNvPr>
          <p:cNvSpPr>
            <a:spLocks xmlns:a="http://schemas.openxmlformats.org/drawingml/2006/main" noGrp="1"/>
          </p:cNvSpPr>
          <p:nvPr/>
        </p:nvSpPr>
        <p:spPr>
          <a:xfrm xmlns:a="http://schemas.openxmlformats.org/drawingml/2006/main">
            <a:off x="635000" y="4787900"/>
            <a:ext cx="32766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861"/>
                </a:solidFill>
                <a:latin typeface="Source Sans 3"/>
                <a:ea typeface="Source Sans 3"/>
                <a:cs typeface="Source Sans 3"/>
              </a:defRPr>
            </a:pPr>
            <a:r>
              <a:rPr sz="1650" b="0">
                <a:solidFill>
                  <a:srgbClr val="5B6861"/>
                </a:solidFill>
                <a:latin typeface="Source Sans 3"/>
                <a:ea typeface="Source Sans 3"/>
                <a:cs typeface="Source Sans 3"/>
              </a:rPr>
              <a:t>Exact results and relevant notes</a:t>
            </a:r>
          </a:p>
        </p:txBody>
      </p:sp>
      <p:sp>
        <p:nvSpPr>
          <p:cNvPr id="16" name="">
            <a:extLst xmlns:a="http://schemas.openxmlformats.org/drawingml/2006/main">
              <a:ext uri="{FF2B5EF4-FFF2-40B4-BE49-F238E27FC236}">
                <a16:creationId xmlns:a16="http://schemas.microsoft.com/office/drawing/2014/main" id="{0FB19962-F981-4D24-937B-209C7D26C559}"/>
              </a:ext>
            </a:extLst>
          </p:cNvPr>
          <p:cNvSpPr>
            <a:spLocks xmlns:a="http://schemas.openxmlformats.org/drawingml/2006/main" noGrp="1"/>
          </p:cNvSpPr>
          <p:nvPr/>
        </p:nvSpPr>
        <p:spPr>
          <a:xfrm xmlns:a="http://schemas.openxmlformats.org/drawingml/2006/main">
            <a:off x="4457700" y="4787900"/>
            <a:ext cx="34417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5B6861"/>
                </a:solidFill>
                <a:latin typeface="Source Sans 3"/>
                <a:ea typeface="Source Sans 3"/>
                <a:cs typeface="Source Sans 3"/>
              </a:defRPr>
            </a:pPr>
            <a:r>
              <a:rPr sz="1600" b="0">
                <a:solidFill>
                  <a:srgbClr val="5B6861"/>
                </a:solidFill>
                <a:latin typeface="Source Sans 3"/>
                <a:ea typeface="Source Sans 3"/>
                <a:cs typeface="Source Sans 3"/>
              </a:rPr>
              <a:t>Claude plans via OpenRouter</a:t>
            </a:r>
          </a:p>
        </p:txBody>
      </p:sp>
      <p:sp>
        <p:nvSpPr>
          <p:cNvPr id="17" name="">
            <a:extLst xmlns:a="http://schemas.openxmlformats.org/drawingml/2006/main">
              <a:ext uri="{FF2B5EF4-FFF2-40B4-BE49-F238E27FC236}">
                <a16:creationId xmlns:a16="http://schemas.microsoft.com/office/drawing/2014/main" id="{159CC31C-B8D2-4955-B6B1-D0AD54773785}"/>
              </a:ext>
            </a:extLst>
          </p:cNvPr>
          <p:cNvSpPr>
            <a:spLocks xmlns:a="http://schemas.openxmlformats.org/drawingml/2006/main" noGrp="1"/>
          </p:cNvSpPr>
          <p:nvPr/>
        </p:nvSpPr>
        <p:spPr>
          <a:xfrm xmlns:a="http://schemas.openxmlformats.org/drawingml/2006/main">
            <a:off x="8280400" y="4787900"/>
            <a:ext cx="33147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5B6861"/>
                </a:solidFill>
                <a:latin typeface="Source Sans 3"/>
                <a:ea typeface="Source Sans 3"/>
                <a:cs typeface="Source Sans 3"/>
              </a:defRPr>
            </a:pPr>
            <a:r>
              <a:rPr sz="1600" b="0">
                <a:solidFill>
                  <a:srgbClr val="5B6861"/>
                </a:solidFill>
                <a:latin typeface="Source Sans 3"/>
                <a:ea typeface="Source Sans 3"/>
                <a:cs typeface="Source Sans 3"/>
              </a:rPr>
              <a:t>Code measures EEG accuracy</a:t>
            </a:r>
          </a:p>
        </p:txBody>
      </p:sp>
      <p:sp>
        <p:nvSpPr>
          <p:cNvPr id="18" name="">
            <a:extLst xmlns:a="http://schemas.openxmlformats.org/drawingml/2006/main">
              <a:ext uri="{FF2B5EF4-FFF2-40B4-BE49-F238E27FC236}">
                <a16:creationId xmlns:a16="http://schemas.microsoft.com/office/drawing/2014/main" id="{FB4BB317-600C-4F3A-AD71-DB28C391CCAF}"/>
              </a:ext>
            </a:extLst>
          </p:cNvPr>
          <p:cNvSpPr>
            <a:spLocks xmlns:a="http://schemas.openxmlformats.org/drawingml/2006/main" noGrp="1"/>
          </p:cNvSpPr>
          <p:nvPr/>
        </p:nvSpPr>
        <p:spPr>
          <a:xfrm xmlns:a="http://schemas.openxmlformats.org/drawingml/2006/main">
            <a:off x="3333750" y="3765550"/>
            <a:ext cx="730250" cy="6350"/>
          </a:xfrm>
          <a:prstGeom xmlns:a="http://schemas.openxmlformats.org/drawingml/2006/main" prst="line">
            <a:avLst/>
          </a:prstGeom>
          <a:noFill xmlns:a="http://schemas.openxmlformats.org/drawingml/2006/main"/>
          <a:ln xmlns:a="http://schemas.openxmlformats.org/drawingml/2006/main" w="11906">
            <a:solidFill>
              <a:srgbClr val="006D46"/>
            </a:solidFill>
          </a:ln>
        </p:spPr>
      </p:sp>
      <p:sp>
        <p:nvSpPr>
          <p:cNvPr id="19" name="">
            <a:extLst xmlns:a="http://schemas.openxmlformats.org/drawingml/2006/main">
              <a:ext uri="{FF2B5EF4-FFF2-40B4-BE49-F238E27FC236}">
                <a16:creationId xmlns:a16="http://schemas.microsoft.com/office/drawing/2014/main" id="{C8BA7BC1-5077-4A00-B52B-C664D434C1E9}"/>
              </a:ext>
            </a:extLst>
          </p:cNvPr>
          <p:cNvSpPr>
            <a:spLocks xmlns:a="http://schemas.openxmlformats.org/drawingml/2006/main" noGrp="1"/>
          </p:cNvSpPr>
          <p:nvPr/>
        </p:nvSpPr>
        <p:spPr>
          <a:xfrm xmlns:a="http://schemas.openxmlformats.org/drawingml/2006/main">
            <a:off x="3987800" y="3727450"/>
            <a:ext cx="76200" cy="76200"/>
          </a:xfrm>
          <a:prstGeom xmlns:a="http://schemas.openxmlformats.org/drawingml/2006/main" prst="rightArrow">
            <a:avLst/>
          </a:prstGeom>
          <a:solidFill xmlns:a="http://schemas.openxmlformats.org/drawingml/2006/main">
            <a:srgbClr val="006D4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5042D85-640F-4202-89AA-31EC4CE55C27}"/>
              </a:ext>
            </a:extLst>
          </p:cNvPr>
          <p:cNvSpPr>
            <a:spLocks xmlns:a="http://schemas.openxmlformats.org/drawingml/2006/main" noGrp="1"/>
          </p:cNvSpPr>
          <p:nvPr/>
        </p:nvSpPr>
        <p:spPr>
          <a:xfrm xmlns:a="http://schemas.openxmlformats.org/drawingml/2006/main">
            <a:off x="7175500" y="3765550"/>
            <a:ext cx="723900" cy="6350"/>
          </a:xfrm>
          <a:prstGeom xmlns:a="http://schemas.openxmlformats.org/drawingml/2006/main" prst="line">
            <a:avLst/>
          </a:prstGeom>
          <a:noFill xmlns:a="http://schemas.openxmlformats.org/drawingml/2006/main"/>
          <a:ln xmlns:a="http://schemas.openxmlformats.org/drawingml/2006/main" w="11906">
            <a:solidFill>
              <a:srgbClr val="006D46"/>
            </a:solidFill>
          </a:ln>
        </p:spPr>
      </p:sp>
      <p:sp>
        <p:nvSpPr>
          <p:cNvPr id="21" name="">
            <a:extLst xmlns:a="http://schemas.openxmlformats.org/drawingml/2006/main">
              <a:ext uri="{FF2B5EF4-FFF2-40B4-BE49-F238E27FC236}">
                <a16:creationId xmlns:a16="http://schemas.microsoft.com/office/drawing/2014/main" id="{25816228-539F-49B1-8F5A-600BEE620698}"/>
              </a:ext>
            </a:extLst>
          </p:cNvPr>
          <p:cNvSpPr>
            <a:spLocks xmlns:a="http://schemas.openxmlformats.org/drawingml/2006/main" noGrp="1"/>
          </p:cNvSpPr>
          <p:nvPr/>
        </p:nvSpPr>
        <p:spPr>
          <a:xfrm xmlns:a="http://schemas.openxmlformats.org/drawingml/2006/main">
            <a:off x="7823200" y="3727450"/>
            <a:ext cx="76200" cy="76200"/>
          </a:xfrm>
          <a:prstGeom xmlns:a="http://schemas.openxmlformats.org/drawingml/2006/main" prst="rightArrow">
            <a:avLst/>
          </a:prstGeom>
          <a:solidFill xmlns:a="http://schemas.openxmlformats.org/drawingml/2006/main">
            <a:srgbClr val="006D4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146F6AB-B004-4CBF-B9D1-42478E06329E}"/>
              </a:ext>
            </a:extLst>
          </p:cNvPr>
          <p:cNvSpPr>
            <a:spLocks xmlns:a="http://schemas.openxmlformats.org/drawingml/2006/main" noGrp="1"/>
          </p:cNvSpPr>
          <p:nvPr/>
        </p:nvSpPr>
        <p:spPr>
          <a:xfrm xmlns:a="http://schemas.openxmlformats.org/drawingml/2006/main">
            <a:off x="635000" y="52070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006D46"/>
                </a:solidFill>
                <a:latin typeface="Source Sans 3"/>
                <a:ea typeface="Source Sans 3"/>
                <a:cs typeface="Source Sans 3"/>
              </a:defRPr>
            </a:pPr>
            <a:r>
              <a:rPr sz="1300" b="0">
                <a:solidFill>
                  <a:srgbClr val="006D46"/>
                </a:solidFill>
                <a:latin typeface="Source Sans 3"/>
                <a:ea typeface="Source Sans 3"/>
                <a:cs typeface="Source Sans 3"/>
              </a:rPr>
              <a:t>Each decision rebuilds context within a 4,000 token budget</a:t>
            </a:r>
          </a:p>
        </p:txBody>
      </p:sp>
      <p:sp>
        <p:nvSpPr>
          <p:cNvPr id="23" name="">
            <a:extLst xmlns:a="http://schemas.openxmlformats.org/drawingml/2006/main">
              <a:ext uri="{FF2B5EF4-FFF2-40B4-BE49-F238E27FC236}">
                <a16:creationId xmlns:a16="http://schemas.microsoft.com/office/drawing/2014/main" id="{6578A25E-0B98-4318-AC04-C9D0E42F5CF7}"/>
              </a:ext>
            </a:extLst>
          </p:cNvPr>
          <p:cNvSpPr>
            <a:spLocks xmlns:a="http://schemas.openxmlformats.org/drawingml/2006/main" noGrp="1"/>
          </p:cNvSpPr>
          <p:nvPr/>
        </p:nvSpPr>
        <p:spPr>
          <a:xfrm xmlns:a="http://schemas.openxmlformats.org/drawingml/2006/main">
            <a:off x="635000" y="5511800"/>
            <a:ext cx="10922000" cy="406400"/>
          </a:xfrm>
          <a:prstGeom xmlns:a="http://schemas.openxmlformats.org/drawingml/2006/main" prst="rect">
            <a:avLst/>
          </a:prstGeom>
          <a:solidFill xmlns:a="http://schemas.openxmlformats.org/drawingml/2006/main">
            <a:srgbClr val="E5EBE0"/>
          </a:solidFill>
          <a:ln xmlns:a="http://schemas.openxmlformats.org/drawingml/2006/main" w="5715">
            <a:solidFill>
              <a:srgbClr val="CFD6CB"/>
            </a:solidFill>
          </a:ln>
        </p:spPr>
      </p:sp>
      <p:sp>
        <p:nvSpPr>
          <p:cNvPr id="24" name="">
            <a:extLst xmlns:a="http://schemas.openxmlformats.org/drawingml/2006/main">
              <a:ext uri="{FF2B5EF4-FFF2-40B4-BE49-F238E27FC236}">
                <a16:creationId xmlns:a16="http://schemas.microsoft.com/office/drawing/2014/main" id="{004AE622-539B-4C68-A384-90781B7F1FB8}"/>
              </a:ext>
            </a:extLst>
          </p:cNvPr>
          <p:cNvSpPr>
            <a:spLocks xmlns:a="http://schemas.openxmlformats.org/drawingml/2006/main" noGrp="1"/>
          </p:cNvSpPr>
          <p:nvPr/>
        </p:nvSpPr>
        <p:spPr>
          <a:xfrm xmlns:a="http://schemas.openxmlformats.org/drawingml/2006/main">
            <a:off x="762000" y="5588000"/>
            <a:ext cx="10350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6D46"/>
                </a:solidFill>
                <a:latin typeface="Source Sans 3"/>
                <a:ea typeface="Source Sans 3"/>
                <a:cs typeface="Source Sans 3"/>
              </a:defRPr>
            </a:pPr>
            <a:r>
              <a:rPr sz="1500" b="1">
                <a:solidFill>
                  <a:srgbClr val="006D46"/>
                </a:solidFill>
                <a:latin typeface="Source Sans 3"/>
                <a:ea typeface="Source Sans 3"/>
                <a:cs typeface="Source Sans 3"/>
              </a:rPr>
              <a:t>Atlas stores results. Jev routes notes. Voyage embeds them.</a:t>
            </a:r>
          </a:p>
        </p:txBody>
      </p:sp>
    </p:spTree>
    <p:extLst>
      <p:ext uri="{BB962C8B-B14F-4D97-AF65-F5344CB8AC3E}">
        <p14:creationId xmlns:p14="http://schemas.microsoft.com/office/powerpoint/2010/main" val="1131575283"/>
      </p:ext>
    </p:extLst>
  </p:cSld>
</p:sld>
</file>

<file path=ppt/slides/slide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2537e660be04bc9">
            <a:extLst>
              <a:ext uri="{96DAC541-7B7A-43D3-8B79-37D633B846F1}">
                <asvg:svgBlip xmlns:asvg="http://schemas.microsoft.com/office/drawing/2016/SVG/main" r:embed="R96b61ed2331d4d44"/>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773439D-CD87-499D-B032-514304B71793}"/>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BD0B3F18-9FBE-4528-9767-04AF2ED820F4}"/>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90-second narrated demo</a:t>
            </a:r>
          </a:p>
        </p:txBody>
      </p:sp>
      <p:sp>
        <p:nvSpPr>
          <p:cNvPr id="4" name="">
            <a:extLst xmlns:a="http://schemas.openxmlformats.org/drawingml/2006/main">
              <a:ext uri="{FF2B5EF4-FFF2-40B4-BE49-F238E27FC236}">
                <a16:creationId xmlns:a16="http://schemas.microsoft.com/office/drawing/2014/main" id="{05268B9F-6C0E-4C38-94B6-305839A30C6D}"/>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1A95B847-25D2-4987-AD69-4DC1B790C73E}"/>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A47113C7-4344-4ABB-8CFF-965C971E124A}"/>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04 / 06</a:t>
            </a:r>
          </a:p>
        </p:txBody>
      </p:sp>
      <p:sp>
        <p:nvSpPr>
          <p:cNvPr id="7" name="">
            <a:extLst xmlns:a="http://schemas.openxmlformats.org/drawingml/2006/main">
              <a:ext uri="{FF2B5EF4-FFF2-40B4-BE49-F238E27FC236}">
                <a16:creationId xmlns:a16="http://schemas.microsoft.com/office/drawing/2014/main" id="{DE6189D1-C41A-46A0-B4A3-BA36D70E9981}"/>
              </a:ext>
            </a:extLst>
          </p:cNvPr>
          <p:cNvSpPr>
            <a:spLocks xmlns:a="http://schemas.openxmlformats.org/drawingml/2006/main" noGrp="1"/>
          </p:cNvSpPr>
          <p:nvPr/>
        </p:nvSpPr>
        <p:spPr>
          <a:xfrm xmlns:a="http://schemas.openxmlformats.org/drawingml/2006/main">
            <a:off x="609600" y="1193800"/>
            <a:ext cx="10160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250" b="0">
                <a:solidFill>
                  <a:srgbClr val="1A2924"/>
                </a:solidFill>
                <a:latin typeface="Space Grotesk"/>
                <a:ea typeface="Space Grotesk"/>
                <a:cs typeface="Space Grotesk"/>
              </a:defRPr>
            </a:pPr>
            <a:r>
              <a:rPr sz="6250" b="0">
                <a:solidFill>
                  <a:srgbClr val="1A2924"/>
                </a:solidFill>
                <a:latin typeface="Space Grotesk"/>
                <a:ea typeface="Space Grotesk"/>
                <a:cs typeface="Space Grotesk"/>
              </a:rPr>
              <a:t>The working</a:t>
            </a:r>
          </a:p>
          <a:p xmlns:a="http://schemas.openxmlformats.org/drawingml/2006/main">
            <a:pPr algn="l">
              <a:defRPr sz="6250" b="0">
                <a:solidFill>
                  <a:srgbClr val="1A2924"/>
                </a:solidFill>
                <a:latin typeface="Space Grotesk"/>
                <a:ea typeface="Space Grotesk"/>
                <a:cs typeface="Space Grotesk"/>
              </a:defRPr>
            </a:pPr>
            <a:r>
              <a:rPr sz="6250" b="0">
                <a:solidFill>
                  <a:srgbClr val="1A2924"/>
                </a:solidFill>
                <a:latin typeface="Space Grotesk"/>
                <a:ea typeface="Space Grotesk"/>
                <a:cs typeface="Space Grotesk"/>
              </a:rPr>
              <a:t>system</a:t>
            </a:r>
          </a:p>
        </p:txBody>
      </p:sp>
      <p:sp>
        <p:nvSpPr>
          <p:cNvPr id="8" name="">
            <a:extLst xmlns:a="http://schemas.openxmlformats.org/drawingml/2006/main">
              <a:ext uri="{FF2B5EF4-FFF2-40B4-BE49-F238E27FC236}">
                <a16:creationId xmlns:a16="http://schemas.microsoft.com/office/drawing/2014/main" id="{3BB7197A-C51E-403C-B425-723244289C23}"/>
              </a:ext>
            </a:extLst>
          </p:cNvPr>
          <p:cNvSpPr>
            <a:spLocks xmlns:a="http://schemas.openxmlformats.org/drawingml/2006/main" noGrp="1"/>
          </p:cNvSpPr>
          <p:nvPr/>
        </p:nvSpPr>
        <p:spPr>
          <a:xfrm xmlns:a="http://schemas.openxmlformats.org/drawingml/2006/main">
            <a:off x="635000" y="3365500"/>
            <a:ext cx="8509000" cy="92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0">
                <a:solidFill>
                  <a:srgbClr val="1A2924"/>
                </a:solidFill>
                <a:latin typeface="Source Sans 3"/>
                <a:ea typeface="Source Sans 3"/>
                <a:cs typeface="Source Sans 3"/>
              </a:defRPr>
            </a:pPr>
            <a:r>
              <a:rPr sz="2550" b="0">
                <a:solidFill>
                  <a:srgbClr val="1A2924"/>
                </a:solidFill>
                <a:latin typeface="Source Sans 3"/>
                <a:ea typeface="Source Sans 3"/>
                <a:cs typeface="Source Sans 3"/>
              </a:rPr>
              <a:t>Saved results survive a restart.</a:t>
            </a:r>
          </a:p>
          <a:p xmlns:a="http://schemas.openxmlformats.org/drawingml/2006/main">
            <a:pPr algn="l">
              <a:defRPr sz="2550" b="0">
                <a:solidFill>
                  <a:srgbClr val="1A2924"/>
                </a:solidFill>
                <a:latin typeface="Source Sans 3"/>
                <a:ea typeface="Source Sans 3"/>
                <a:cs typeface="Source Sans 3"/>
              </a:defRPr>
            </a:pPr>
            <a:r>
              <a:rPr sz="2550" b="0">
                <a:solidFill>
                  <a:srgbClr val="1A2924"/>
                </a:solidFill>
                <a:latin typeface="Source Sans 3"/>
                <a:ea typeface="Source Sans 3"/>
                <a:cs typeface="Source Sans 3"/>
              </a:rPr>
              <a:t>The electrode limit drops from 64 to 9.</a:t>
            </a:r>
          </a:p>
        </p:txBody>
      </p:sp>
      <p:sp>
        <p:nvSpPr>
          <p:cNvPr id="9" name="">
            <a:extLst xmlns:a="http://schemas.openxmlformats.org/drawingml/2006/main">
              <a:ext uri="{FF2B5EF4-FFF2-40B4-BE49-F238E27FC236}">
                <a16:creationId xmlns:a16="http://schemas.microsoft.com/office/drawing/2014/main" id="{CDAA28AA-A9CE-4A24-8115-722F10C6D8CD}"/>
              </a:ext>
            </a:extLst>
          </p:cNvPr>
          <p:cNvSpPr>
            <a:spLocks xmlns:a="http://schemas.openxmlformats.org/drawingml/2006/main" noGrp="1"/>
          </p:cNvSpPr>
          <p:nvPr/>
        </p:nvSpPr>
        <p:spPr>
          <a:xfrm xmlns:a="http://schemas.openxmlformats.org/drawingml/2006/main">
            <a:off x="635000" y="5314950"/>
            <a:ext cx="69850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50" b="1">
                <a:solidFill>
                  <a:srgbClr val="006D46"/>
                </a:solidFill>
                <a:latin typeface="Source Sans 3"/>
                <a:ea typeface="Source Sans 3"/>
                <a:cs typeface="Source Sans 3"/>
              </a:defRPr>
            </a:pPr>
            <a:r>
              <a:rPr sz="1750" b="1">
                <a:solidFill>
                  <a:srgbClr val="006D46"/>
                </a:solidFill>
                <a:latin typeface="Source Sans 3"/>
                <a:ea typeface="Source Sans 3"/>
                <a:cs typeface="Source Sans 3"/>
              </a:rPr>
              <a:t>Play the accompanying demo MP4</a:t>
            </a:r>
          </a:p>
        </p:txBody>
      </p:sp>
    </p:spTree>
    <p:extLst>
      <p:ext uri="{BB962C8B-B14F-4D97-AF65-F5344CB8AC3E}">
        <p14:creationId xmlns:p14="http://schemas.microsoft.com/office/powerpoint/2010/main" val="395698209"/>
      </p:ext>
    </p:extLst>
  </p:cSld>
</p:sld>
</file>

<file path=ppt/slides/slide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b92e9d880af4d3b">
            <a:extLst>
              <a:ext uri="{96DAC541-7B7A-43D3-8B79-37D633B846F1}">
                <asvg:svgBlip xmlns:asvg="http://schemas.microsoft.com/office/drawing/2016/SVG/main" r:embed="Rc1cc9b11b1dd4c14"/>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E65720-F71F-43C9-B818-7CF33941705E}"/>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6E1D0B2D-DC5C-4EA0-80F5-881B57334E45}"/>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Demo and separate evaluations</a:t>
            </a:r>
          </a:p>
        </p:txBody>
      </p:sp>
      <p:sp>
        <p:nvSpPr>
          <p:cNvPr id="4" name="">
            <a:extLst xmlns:a="http://schemas.openxmlformats.org/drawingml/2006/main">
              <a:ext uri="{FF2B5EF4-FFF2-40B4-BE49-F238E27FC236}">
                <a16:creationId xmlns:a16="http://schemas.microsoft.com/office/drawing/2014/main" id="{3B181236-15E7-4D11-87AF-CEFBB826DC1A}"/>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B100D470-45E9-4E5B-8092-17409E5FE0A2}"/>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014C9670-3AF2-4FAB-A49D-AB0D0779F2F8}"/>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05 / 06</a:t>
            </a:r>
          </a:p>
        </p:txBody>
      </p:sp>
      <p:sp>
        <p:nvSpPr>
          <p:cNvPr id="7" name="">
            <a:extLst xmlns:a="http://schemas.openxmlformats.org/drawingml/2006/main">
              <a:ext uri="{FF2B5EF4-FFF2-40B4-BE49-F238E27FC236}">
                <a16:creationId xmlns:a16="http://schemas.microsoft.com/office/drawing/2014/main" id="{5D6A5E0F-21F9-41A4-96BC-454689DDCF27}"/>
              </a:ext>
            </a:extLst>
          </p:cNvPr>
          <p:cNvSpPr>
            <a:spLocks xmlns:a="http://schemas.openxmlformats.org/drawingml/2006/main" noGrp="1"/>
          </p:cNvSpPr>
          <p:nvPr/>
        </p:nvSpPr>
        <p:spPr>
          <a:xfrm xmlns:a="http://schemas.openxmlformats.org/drawingml/2006/main">
            <a:off x="609600" y="977900"/>
            <a:ext cx="10985500" cy="908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0" b="0">
                <a:solidFill>
                  <a:srgbClr val="1A2924"/>
                </a:solidFill>
                <a:latin typeface="Space Grotesk"/>
                <a:ea typeface="Space Grotesk"/>
                <a:cs typeface="Space Grotesk"/>
              </a:defRPr>
            </a:pPr>
            <a:r>
              <a:rPr sz="5250" b="0">
                <a:solidFill>
                  <a:srgbClr val="1A2924"/>
                </a:solidFill>
                <a:latin typeface="Space Grotesk"/>
                <a:ea typeface="Space Grotesk"/>
                <a:cs typeface="Space Grotesk"/>
              </a:rPr>
              <a:t>Results and reliability</a:t>
            </a:r>
          </a:p>
        </p:txBody>
      </p:sp>
      <p:sp>
        <p:nvSpPr>
          <p:cNvPr id="8" name="">
            <a:extLst xmlns:a="http://schemas.openxmlformats.org/drawingml/2006/main">
              <a:ext uri="{FF2B5EF4-FFF2-40B4-BE49-F238E27FC236}">
                <a16:creationId xmlns:a16="http://schemas.microsoft.com/office/drawing/2014/main" id="{24CF3E4F-CEFE-40C5-BDEA-BA855D8FA435}"/>
              </a:ext>
            </a:extLst>
          </p:cNvPr>
          <p:cNvSpPr>
            <a:spLocks xmlns:a="http://schemas.openxmlformats.org/drawingml/2006/main" noGrp="1"/>
          </p:cNvSpPr>
          <p:nvPr/>
        </p:nvSpPr>
        <p:spPr>
          <a:xfrm xmlns:a="http://schemas.openxmlformats.org/drawingml/2006/main">
            <a:off x="635000" y="2349500"/>
            <a:ext cx="635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6D46"/>
                </a:solidFill>
                <a:latin typeface="Source Sans 3"/>
                <a:ea typeface="Source Sans 3"/>
                <a:cs typeface="Source Sans 3"/>
              </a:defRPr>
            </a:pPr>
            <a:r>
              <a:rPr sz="1350" b="1">
                <a:solidFill>
                  <a:srgbClr val="006D46"/>
                </a:solidFill>
                <a:latin typeface="Source Sans 3"/>
                <a:ea typeface="Source Sans 3"/>
                <a:cs typeface="Source Sans 3"/>
              </a:rPr>
              <a:t>DEMO CAMPAIGN: 9 ELECTRODES</a:t>
            </a:r>
          </a:p>
        </p:txBody>
      </p:sp>
      <p:sp>
        <p:nvSpPr>
          <p:cNvPr id="9" name="">
            <a:extLst xmlns:a="http://schemas.openxmlformats.org/drawingml/2006/main">
              <a:ext uri="{FF2B5EF4-FFF2-40B4-BE49-F238E27FC236}">
                <a16:creationId xmlns:a16="http://schemas.microsoft.com/office/drawing/2014/main" id="{CD9EEF74-5882-42E2-B822-B6D4D2C32293}"/>
              </a:ext>
            </a:extLst>
          </p:cNvPr>
          <p:cNvSpPr>
            <a:spLocks xmlns:a="http://schemas.openxmlformats.org/drawingml/2006/main" noGrp="1"/>
          </p:cNvSpPr>
          <p:nvPr/>
        </p:nvSpPr>
        <p:spPr>
          <a:xfrm xmlns:a="http://schemas.openxmlformats.org/drawingml/2006/main">
            <a:off x="552450" y="2755900"/>
            <a:ext cx="6731000" cy="178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750" b="0">
                <a:solidFill>
                  <a:srgbClr val="006D46"/>
                </a:solidFill>
                <a:latin typeface="Space Grotesk"/>
                <a:ea typeface="Space Grotesk"/>
                <a:cs typeface="Space Grotesk"/>
              </a:defRPr>
            </a:pPr>
            <a:r>
              <a:rPr sz="11750" b="0">
                <a:solidFill>
                  <a:srgbClr val="006D46"/>
                </a:solidFill>
                <a:latin typeface="Space Grotesk"/>
                <a:ea typeface="Space Grotesk"/>
                <a:cs typeface="Space Grotesk"/>
              </a:rPr>
              <a:t>75.9%</a:t>
            </a:r>
          </a:p>
        </p:txBody>
      </p:sp>
      <p:sp>
        <p:nvSpPr>
          <p:cNvPr id="10" name="">
            <a:extLst xmlns:a="http://schemas.openxmlformats.org/drawingml/2006/main">
              <a:ext uri="{FF2B5EF4-FFF2-40B4-BE49-F238E27FC236}">
                <a16:creationId xmlns:a16="http://schemas.microsoft.com/office/drawing/2014/main" id="{43642EF8-337E-4321-A8A1-8A63A2B34AA1}"/>
              </a:ext>
            </a:extLst>
          </p:cNvPr>
          <p:cNvSpPr>
            <a:spLocks xmlns:a="http://schemas.openxmlformats.org/drawingml/2006/main" noGrp="1"/>
          </p:cNvSpPr>
          <p:nvPr/>
        </p:nvSpPr>
        <p:spPr>
          <a:xfrm xmlns:a="http://schemas.openxmlformats.org/drawingml/2006/main">
            <a:off x="635000" y="4692650"/>
            <a:ext cx="6731000" cy="46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A2924"/>
                </a:solidFill>
                <a:latin typeface="Source Sans 3"/>
                <a:ea typeface="Source Sans 3"/>
                <a:cs typeface="Source Sans 3"/>
              </a:defRPr>
            </a:pPr>
            <a:r>
              <a:rPr sz="2400" b="0">
                <a:solidFill>
                  <a:srgbClr val="1A2924"/>
                </a:solidFill>
                <a:latin typeface="Source Sans 3"/>
                <a:ea typeface="Source Sans 3"/>
                <a:cs typeface="Source Sans 3"/>
              </a:rPr>
              <a:t>validation balanced accuracy</a:t>
            </a:r>
          </a:p>
        </p:txBody>
      </p:sp>
      <p:sp>
        <p:nvSpPr>
          <p:cNvPr id="11" name="">
            <a:extLst xmlns:a="http://schemas.openxmlformats.org/drawingml/2006/main">
              <a:ext uri="{FF2B5EF4-FFF2-40B4-BE49-F238E27FC236}">
                <a16:creationId xmlns:a16="http://schemas.microsoft.com/office/drawing/2014/main" id="{425A9844-8150-445A-BAB7-813201483B1C}"/>
              </a:ext>
            </a:extLst>
          </p:cNvPr>
          <p:cNvSpPr>
            <a:spLocks xmlns:a="http://schemas.openxmlformats.org/drawingml/2006/main" noGrp="1"/>
          </p:cNvSpPr>
          <p:nvPr/>
        </p:nvSpPr>
        <p:spPr>
          <a:xfrm xmlns:a="http://schemas.openxmlformats.org/drawingml/2006/main">
            <a:off x="635000" y="5346700"/>
            <a:ext cx="68580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B6861"/>
                </a:solidFill>
                <a:latin typeface="Source Sans 3"/>
                <a:ea typeface="Source Sans 3"/>
                <a:cs typeface="Source Sans 3"/>
              </a:defRPr>
            </a:pPr>
            <a:r>
              <a:rPr sz="1500" b="0">
                <a:solidFill>
                  <a:srgbClr val="5B6861"/>
                </a:solidFill>
                <a:latin typeface="Source Sans 3"/>
                <a:ea typeface="Source Sans 3"/>
                <a:cs typeface="Source Sans 3"/>
              </a:rPr>
              <a:t>After restart and the new electrode limit</a:t>
            </a:r>
          </a:p>
        </p:txBody>
      </p:sp>
      <p:sp>
        <p:nvSpPr>
          <p:cNvPr id="12" name="">
            <a:extLst xmlns:a="http://schemas.openxmlformats.org/drawingml/2006/main">
              <a:ext uri="{FF2B5EF4-FFF2-40B4-BE49-F238E27FC236}">
                <a16:creationId xmlns:a16="http://schemas.microsoft.com/office/drawing/2014/main" id="{A577E924-61FC-4409-BFD7-17BCAC2B3F8F}"/>
              </a:ext>
            </a:extLst>
          </p:cNvPr>
          <p:cNvSpPr>
            <a:spLocks xmlns:a="http://schemas.openxmlformats.org/drawingml/2006/main" noGrp="1"/>
          </p:cNvSpPr>
          <p:nvPr/>
        </p:nvSpPr>
        <p:spPr>
          <a:xfrm xmlns:a="http://schemas.openxmlformats.org/drawingml/2006/main">
            <a:off x="8064500" y="2381250"/>
            <a:ext cx="35179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13" name="">
            <a:extLst xmlns:a="http://schemas.openxmlformats.org/drawingml/2006/main">
              <a:ext uri="{FF2B5EF4-FFF2-40B4-BE49-F238E27FC236}">
                <a16:creationId xmlns:a16="http://schemas.microsoft.com/office/drawing/2014/main" id="{0F055755-D7FD-46CF-B148-9A26C814708C}"/>
              </a:ext>
            </a:extLst>
          </p:cNvPr>
          <p:cNvSpPr>
            <a:spLocks xmlns:a="http://schemas.openxmlformats.org/drawingml/2006/main" noGrp="1"/>
          </p:cNvSpPr>
          <p:nvPr/>
        </p:nvSpPr>
        <p:spPr>
          <a:xfrm xmlns:a="http://schemas.openxmlformats.org/drawingml/2006/main">
            <a:off x="8064500" y="2540000"/>
            <a:ext cx="3524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50" b="1">
                <a:solidFill>
                  <a:srgbClr val="5B6861"/>
                </a:solidFill>
                <a:latin typeface="Source Sans 3"/>
                <a:ea typeface="Source Sans 3"/>
                <a:cs typeface="Source Sans 3"/>
              </a:defRPr>
            </a:pPr>
            <a:r>
              <a:rPr sz="1250" b="1">
                <a:solidFill>
                  <a:srgbClr val="5B6861"/>
                </a:solidFill>
                <a:latin typeface="Source Sans 3"/>
                <a:ea typeface="Source Sans 3"/>
                <a:cs typeface="Source Sans 3"/>
              </a:rPr>
              <a:t>SEPARATE REFERENCE CAMPAIGN</a:t>
            </a:r>
          </a:p>
        </p:txBody>
      </p:sp>
      <p:sp>
        <p:nvSpPr>
          <p:cNvPr id="14" name="">
            <a:extLst xmlns:a="http://schemas.openxmlformats.org/drawingml/2006/main">
              <a:ext uri="{FF2B5EF4-FFF2-40B4-BE49-F238E27FC236}">
                <a16:creationId xmlns:a16="http://schemas.microsoft.com/office/drawing/2014/main" id="{90D12452-BC3D-4D1A-BC05-BBC782041C65}"/>
              </a:ext>
            </a:extLst>
          </p:cNvPr>
          <p:cNvSpPr>
            <a:spLocks xmlns:a="http://schemas.openxmlformats.org/drawingml/2006/main" noGrp="1"/>
          </p:cNvSpPr>
          <p:nvPr/>
        </p:nvSpPr>
        <p:spPr>
          <a:xfrm xmlns:a="http://schemas.openxmlformats.org/drawingml/2006/main">
            <a:off x="8026400" y="2959100"/>
            <a:ext cx="34290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b="0">
                <a:solidFill>
                  <a:srgbClr val="1A2924"/>
                </a:solidFill>
                <a:latin typeface="Space Grotesk"/>
                <a:ea typeface="Space Grotesk"/>
                <a:cs typeface="Space Grotesk"/>
              </a:defRPr>
            </a:pPr>
            <a:r>
              <a:rPr sz="5100" b="0">
                <a:solidFill>
                  <a:srgbClr val="1A2924"/>
                </a:solidFill>
                <a:latin typeface="Space Grotesk"/>
                <a:ea typeface="Space Grotesk"/>
                <a:cs typeface="Space Grotesk"/>
              </a:rPr>
              <a:t>73.2%</a:t>
            </a:r>
          </a:p>
        </p:txBody>
      </p:sp>
      <p:sp>
        <p:nvSpPr>
          <p:cNvPr id="15" name="">
            <a:extLst xmlns:a="http://schemas.openxmlformats.org/drawingml/2006/main">
              <a:ext uri="{FF2B5EF4-FFF2-40B4-BE49-F238E27FC236}">
                <a16:creationId xmlns:a16="http://schemas.microsoft.com/office/drawing/2014/main" id="{9F03720F-EA7C-44C5-9AC8-5FA6B4BF249E}"/>
              </a:ext>
            </a:extLst>
          </p:cNvPr>
          <p:cNvSpPr>
            <a:spLocks xmlns:a="http://schemas.openxmlformats.org/drawingml/2006/main" noGrp="1"/>
          </p:cNvSpPr>
          <p:nvPr/>
        </p:nvSpPr>
        <p:spPr>
          <a:xfrm xmlns:a="http://schemas.openxmlformats.org/drawingml/2006/main">
            <a:off x="8064500" y="3829050"/>
            <a:ext cx="3505200" cy="31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A2924"/>
                </a:solidFill>
                <a:latin typeface="Source Sans 3"/>
                <a:ea typeface="Source Sans 3"/>
                <a:cs typeface="Source Sans 3"/>
              </a:defRPr>
            </a:pPr>
            <a:r>
              <a:rPr sz="1600" b="0">
                <a:solidFill>
                  <a:srgbClr val="1A2924"/>
                </a:solidFill>
                <a:latin typeface="Source Sans 3"/>
                <a:ea typeface="Source Sans 3"/>
                <a:cs typeface="Source Sans 3"/>
              </a:rPr>
              <a:t>sealed test balanced accuracy</a:t>
            </a:r>
          </a:p>
        </p:txBody>
      </p:sp>
      <p:sp>
        <p:nvSpPr>
          <p:cNvPr id="16" name="">
            <a:extLst xmlns:a="http://schemas.openxmlformats.org/drawingml/2006/main">
              <a:ext uri="{FF2B5EF4-FFF2-40B4-BE49-F238E27FC236}">
                <a16:creationId xmlns:a16="http://schemas.microsoft.com/office/drawing/2014/main" id="{1A24F0A5-36A2-4A48-A317-351E85E83D60}"/>
              </a:ext>
            </a:extLst>
          </p:cNvPr>
          <p:cNvSpPr>
            <a:spLocks xmlns:a="http://schemas.openxmlformats.org/drawingml/2006/main" noGrp="1"/>
          </p:cNvSpPr>
          <p:nvPr/>
        </p:nvSpPr>
        <p:spPr>
          <a:xfrm xmlns:a="http://schemas.openxmlformats.org/drawingml/2006/main">
            <a:off x="8064500" y="4267200"/>
            <a:ext cx="3492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00" b="0">
                <a:solidFill>
                  <a:srgbClr val="5B6861"/>
                </a:solidFill>
                <a:latin typeface="Source Sans 3"/>
                <a:ea typeface="Source Sans 3"/>
                <a:cs typeface="Source Sans 3"/>
              </a:defRPr>
            </a:pPr>
            <a:r>
              <a:rPr sz="1400" b="0">
                <a:solidFill>
                  <a:srgbClr val="5B6861"/>
                </a:solidFill>
                <a:latin typeface="Source Sans 3"/>
                <a:ea typeface="Source Sans 3"/>
                <a:cs typeface="Source Sans 3"/>
              </a:rPr>
              <a:t>21 electrodes, 5 participants</a:t>
            </a:r>
          </a:p>
          <a:p xmlns:a="http://schemas.openxmlformats.org/drawingml/2006/main">
            <a:pPr algn="l">
              <a:defRPr sz="1400" b="0">
                <a:solidFill>
                  <a:srgbClr val="5B6861"/>
                </a:solidFill>
                <a:latin typeface="Source Sans 3"/>
                <a:ea typeface="Source Sans 3"/>
                <a:cs typeface="Source Sans 3"/>
              </a:defRPr>
            </a:pPr>
            <a:r>
              <a:rPr sz="1400" b="0">
                <a:solidFill>
                  <a:srgbClr val="5B6861"/>
                </a:solidFill>
                <a:latin typeface="Source Sans 3"/>
                <a:ea typeface="Source Sans 3"/>
                <a:cs typeface="Source Sans 3"/>
              </a:rPr>
              <a:t>75 test trials, scored once</a:t>
            </a:r>
          </a:p>
        </p:txBody>
      </p:sp>
      <p:sp>
        <p:nvSpPr>
          <p:cNvPr id="17" name="">
            <a:extLst xmlns:a="http://schemas.openxmlformats.org/drawingml/2006/main">
              <a:ext uri="{FF2B5EF4-FFF2-40B4-BE49-F238E27FC236}">
                <a16:creationId xmlns:a16="http://schemas.microsoft.com/office/drawing/2014/main" id="{5CF2CDAC-6350-4D3D-936D-C0A9FEC3418F}"/>
              </a:ext>
            </a:extLst>
          </p:cNvPr>
          <p:cNvSpPr>
            <a:spLocks xmlns:a="http://schemas.openxmlformats.org/drawingml/2006/main" noGrp="1"/>
          </p:cNvSpPr>
          <p:nvPr/>
        </p:nvSpPr>
        <p:spPr>
          <a:xfrm xmlns:a="http://schemas.openxmlformats.org/drawingml/2006/main">
            <a:off x="8064500" y="5022850"/>
            <a:ext cx="352425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50" b="1">
                <a:solidFill>
                  <a:srgbClr val="5B6861"/>
                </a:solidFill>
                <a:latin typeface="Source Sans 3"/>
                <a:ea typeface="Source Sans 3"/>
                <a:cs typeface="Source Sans 3"/>
              </a:defRPr>
            </a:pPr>
            <a:r>
              <a:rPr sz="1250" b="1">
                <a:solidFill>
                  <a:srgbClr val="5B6861"/>
                </a:solidFill>
                <a:latin typeface="Source Sans 3"/>
                <a:ea typeface="Source Sans 3"/>
                <a:cs typeface="Source Sans 3"/>
              </a:rPr>
              <a:t>SEPARATE RELIABILITY CHECKS</a:t>
            </a:r>
          </a:p>
        </p:txBody>
      </p:sp>
      <p:sp>
        <p:nvSpPr>
          <p:cNvPr id="18" name="">
            <a:extLst xmlns:a="http://schemas.openxmlformats.org/drawingml/2006/main">
              <a:ext uri="{FF2B5EF4-FFF2-40B4-BE49-F238E27FC236}">
                <a16:creationId xmlns:a16="http://schemas.microsoft.com/office/drawing/2014/main" id="{CC925B08-CA5D-4D28-BBED-58B93C532AF5}"/>
              </a:ext>
            </a:extLst>
          </p:cNvPr>
          <p:cNvSpPr>
            <a:spLocks xmlns:a="http://schemas.openxmlformats.org/drawingml/2006/main" noGrp="1"/>
          </p:cNvSpPr>
          <p:nvPr/>
        </p:nvSpPr>
        <p:spPr>
          <a:xfrm xmlns:a="http://schemas.openxmlformats.org/drawingml/2006/main">
            <a:off x="8064500" y="5359400"/>
            <a:ext cx="3505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0">
                <a:solidFill>
                  <a:srgbClr val="1A2924"/>
                </a:solidFill>
                <a:latin typeface="Source Sans 3"/>
                <a:ea typeface="Source Sans 3"/>
                <a:cs typeface="Source Sans 3"/>
              </a:defRPr>
            </a:pPr>
            <a:r>
              <a:rPr sz="1550" b="0">
                <a:solidFill>
                  <a:srgbClr val="1A2924"/>
                </a:solidFill>
                <a:latin typeface="Source Sans 3"/>
                <a:ea typeface="Source Sans 3"/>
                <a:cs typeface="Source Sans 3"/>
              </a:rPr>
              <a:t>8/8 recovery checks passed</a:t>
            </a:r>
          </a:p>
          <a:p xmlns:a="http://schemas.openxmlformats.org/drawingml/2006/main">
            <a:pPr algn="l">
              <a:defRPr sz="1550" b="0">
                <a:solidFill>
                  <a:srgbClr val="1A2924"/>
                </a:solidFill>
                <a:latin typeface="Source Sans 3"/>
                <a:ea typeface="Source Sans 3"/>
                <a:cs typeface="Source Sans 3"/>
              </a:defRPr>
            </a:pPr>
            <a:r>
              <a:rPr sz="1550" b="0">
                <a:solidFill>
                  <a:srgbClr val="1A2924"/>
                </a:solidFill>
                <a:latin typeface="Source Sans 3"/>
                <a:ea typeface="Source Sans 3"/>
                <a:cs typeface="Source Sans 3"/>
              </a:rPr>
              <a:t>5/5 constraint checks passed</a:t>
            </a:r>
          </a:p>
        </p:txBody>
      </p:sp>
      <p:sp>
        <p:nvSpPr>
          <p:cNvPr id="19" name="">
            <a:extLst xmlns:a="http://schemas.openxmlformats.org/drawingml/2006/main">
              <a:ext uri="{FF2B5EF4-FFF2-40B4-BE49-F238E27FC236}">
                <a16:creationId xmlns:a16="http://schemas.microsoft.com/office/drawing/2014/main" id="{365DBCED-E161-4089-A118-52838BCEA4D1}"/>
              </a:ext>
            </a:extLst>
          </p:cNvPr>
          <p:cNvSpPr>
            <a:spLocks xmlns:a="http://schemas.openxmlformats.org/drawingml/2006/main" noGrp="1"/>
          </p:cNvSpPr>
          <p:nvPr/>
        </p:nvSpPr>
        <p:spPr>
          <a:xfrm xmlns:a="http://schemas.openxmlformats.org/drawingml/2006/main">
            <a:off x="635000" y="5949950"/>
            <a:ext cx="90805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Offline research prototype. Clinical use and live decoding remain outside scope.</a:t>
            </a:r>
          </a:p>
        </p:txBody>
      </p:sp>
    </p:spTree>
    <p:extLst>
      <p:ext uri="{BB962C8B-B14F-4D97-AF65-F5344CB8AC3E}">
        <p14:creationId xmlns:p14="http://schemas.microsoft.com/office/powerpoint/2010/main" val="10529960"/>
      </p:ext>
    </p:extLst>
  </p:cSld>
</p:sld>
</file>

<file path=ppt/slides/slide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752f181ec324b4e">
            <a:extLst>
              <a:ext uri="{96DAC541-7B7A-43D3-8B79-37D633B846F1}">
                <asvg:svgBlip xmlns:asvg="http://schemas.microsoft.com/office/drawing/2016/SVG/main" r:embed="Rb84cb7a239f6442c"/>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BED9C7-6F95-4D54-ABA5-5820A33D8CCA}"/>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59ABFD2F-908B-4AE4-9FB9-EA8E025709C0}"/>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Second Shift</a:t>
            </a:r>
          </a:p>
        </p:txBody>
      </p:sp>
      <p:sp>
        <p:nvSpPr>
          <p:cNvPr id="4" name="">
            <a:extLst xmlns:a="http://schemas.openxmlformats.org/drawingml/2006/main">
              <a:ext uri="{FF2B5EF4-FFF2-40B4-BE49-F238E27FC236}">
                <a16:creationId xmlns:a16="http://schemas.microsoft.com/office/drawing/2014/main" id="{63C6A477-7978-4073-8A77-065D11222856}"/>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0AD87485-47BD-43B6-B5BA-838CC81A5FE1}"/>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CA1C2341-EBA3-4531-9493-1A0434A2D86F}"/>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06 / 06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ed550e44dcd466d"/>
          <a:stretch xmlns:a="http://schemas.openxmlformats.org/drawingml/2006/main"/>
        </p:blipFill>
        <p:spPr>
          <a:xfrm xmlns:a="http://schemas.openxmlformats.org/drawingml/2006/main">
            <a:off x="6330950" y="952500"/>
            <a:ext cx="5245100" cy="52451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75CC768-E4F0-4B27-B70E-EA07CDDA32A7}"/>
              </a:ext>
            </a:extLst>
          </p:cNvPr>
          <p:cNvSpPr>
            <a:spLocks xmlns:a="http://schemas.openxmlformats.org/drawingml/2006/main" noGrp="1"/>
          </p:cNvSpPr>
          <p:nvPr/>
        </p:nvSpPr>
        <p:spPr>
          <a:xfrm xmlns:a="http://schemas.openxmlformats.org/drawingml/2006/main">
            <a:off x="609600" y="1339850"/>
            <a:ext cx="6159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350" b="0">
                <a:solidFill>
                  <a:srgbClr val="1A2924"/>
                </a:solidFill>
                <a:latin typeface="Space Grotesk"/>
                <a:ea typeface="Space Grotesk"/>
                <a:cs typeface="Space Grotesk"/>
              </a:defRPr>
            </a:pPr>
            <a:r>
              <a:rPr sz="5350" b="0">
                <a:solidFill>
                  <a:srgbClr val="1A2924"/>
                </a:solidFill>
                <a:latin typeface="Space Grotesk"/>
                <a:ea typeface="Space Grotesk"/>
                <a:cs typeface="Space Grotesk"/>
              </a:rPr>
              <a:t>Research that</a:t>
            </a:r>
          </a:p>
          <a:p xmlns:a="http://schemas.openxmlformats.org/drawingml/2006/main">
            <a:pPr algn="l">
              <a:defRPr sz="5350" b="0">
                <a:solidFill>
                  <a:srgbClr val="1A2924"/>
                </a:solidFill>
                <a:latin typeface="Space Grotesk"/>
                <a:ea typeface="Space Grotesk"/>
                <a:cs typeface="Space Grotesk"/>
              </a:defRPr>
            </a:pPr>
            <a:r>
              <a:rPr sz="5350" b="0">
                <a:solidFill>
                  <a:srgbClr val="1A2924"/>
                </a:solidFill>
                <a:latin typeface="Space Grotesk"/>
                <a:ea typeface="Space Grotesk"/>
                <a:cs typeface="Space Grotesk"/>
              </a:rPr>
              <a:t>keeps its</a:t>
            </a:r>
          </a:p>
          <a:p xmlns:a="http://schemas.openxmlformats.org/drawingml/2006/main">
            <a:pPr algn="l">
              <a:defRPr sz="5350" b="0">
                <a:solidFill>
                  <a:srgbClr val="1A2924"/>
                </a:solidFill>
                <a:latin typeface="Space Grotesk"/>
                <a:ea typeface="Space Grotesk"/>
                <a:cs typeface="Space Grotesk"/>
              </a:defRPr>
            </a:pPr>
            <a:r>
              <a:rPr sz="5350" b="0">
                <a:solidFill>
                  <a:srgbClr val="1A2924"/>
                </a:solidFill>
                <a:latin typeface="Space Grotesk"/>
                <a:ea typeface="Space Grotesk"/>
                <a:cs typeface="Space Grotesk"/>
              </a:rPr>
              <a:t>progress</a:t>
            </a:r>
          </a:p>
        </p:txBody>
      </p:sp>
      <p:sp>
        <p:nvSpPr>
          <p:cNvPr id="9" name="">
            <a:extLst xmlns:a="http://schemas.openxmlformats.org/drawingml/2006/main">
              <a:ext uri="{FF2B5EF4-FFF2-40B4-BE49-F238E27FC236}">
                <a16:creationId xmlns:a16="http://schemas.microsoft.com/office/drawing/2014/main" id="{59BDD9A7-72A3-438D-AB8C-1F3E591E2B88}"/>
              </a:ext>
            </a:extLst>
          </p:cNvPr>
          <p:cNvSpPr>
            <a:spLocks xmlns:a="http://schemas.openxmlformats.org/drawingml/2006/main" noGrp="1"/>
          </p:cNvSpPr>
          <p:nvPr/>
        </p:nvSpPr>
        <p:spPr>
          <a:xfrm xmlns:a="http://schemas.openxmlformats.org/drawingml/2006/main">
            <a:off x="635000" y="4006850"/>
            <a:ext cx="577850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00" b="0">
                <a:solidFill>
                  <a:srgbClr val="5B6861"/>
                </a:solidFill>
                <a:latin typeface="Source Sans 3"/>
                <a:ea typeface="Source Sans 3"/>
                <a:cs typeface="Source Sans 3"/>
              </a:defRPr>
            </a:pPr>
            <a:r>
              <a:rPr sz="1900" b="0">
                <a:solidFill>
                  <a:srgbClr val="5B6861"/>
                </a:solidFill>
                <a:latin typeface="Source Sans 3"/>
                <a:ea typeface="Source Sans 3"/>
                <a:cs typeface="Source Sans 3"/>
              </a:rPr>
              <a:t>Tested with 10,000 distractor notes.</a:t>
            </a:r>
          </a:p>
          <a:p xmlns:a="http://schemas.openxmlformats.org/drawingml/2006/main">
            <a:pPr algn="l">
              <a:defRPr sz="1900" b="0">
                <a:solidFill>
                  <a:srgbClr val="5B6861"/>
                </a:solidFill>
                <a:latin typeface="Source Sans 3"/>
                <a:ea typeface="Source Sans 3"/>
                <a:cs typeface="Source Sans 3"/>
              </a:defRPr>
            </a:pPr>
            <a:r>
              <a:rPr sz="1900" b="0">
                <a:solidFill>
                  <a:srgbClr val="5B6861"/>
                </a:solidFill>
                <a:latin typeface="Source Sans 3"/>
                <a:ea typeface="Source Sans 3"/>
                <a:cs typeface="Source Sans 3"/>
              </a:rPr>
              <a:t>Billions of tokens is the long term target.</a:t>
            </a:r>
          </a:p>
        </p:txBody>
      </p:sp>
      <p:sp>
        <p:nvSpPr>
          <p:cNvPr id="10" name="">
            <a:extLst xmlns:a="http://schemas.openxmlformats.org/drawingml/2006/main">
              <a:ext uri="{FF2B5EF4-FFF2-40B4-BE49-F238E27FC236}">
                <a16:creationId xmlns:a16="http://schemas.microsoft.com/office/drawing/2014/main" id="{A072252C-4348-4ED3-A476-905FEB503BCF}"/>
              </a:ext>
            </a:extLst>
          </p:cNvPr>
          <p:cNvSpPr>
            <a:spLocks xmlns:a="http://schemas.openxmlformats.org/drawingml/2006/main" noGrp="1"/>
          </p:cNvSpPr>
          <p:nvPr/>
        </p:nvSpPr>
        <p:spPr>
          <a:xfrm xmlns:a="http://schemas.openxmlformats.org/drawingml/2006/main">
            <a:off x="635000" y="5346700"/>
            <a:ext cx="539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ource Sans 3"/>
                <a:ea typeface="Source Sans 3"/>
                <a:cs typeface="Source Sans 3"/>
              </a:defRPr>
            </a:pPr>
            <a:r>
              <a:rPr sz="1550" b="1">
                <a:solidFill>
                  <a:srgbClr val="1A2924"/>
                </a:solidFill>
                <a:latin typeface="Source Sans 3"/>
                <a:ea typeface="Source Sans 3"/>
                <a:cs typeface="Source Sans 3"/>
              </a:rPr>
              <a:t>Andrew Shatsky and David Shatsky</a:t>
            </a:r>
          </a:p>
        </p:txBody>
      </p:sp>
      <p:sp>
        <p:nvSpPr>
          <p:cNvPr id="11" name="">
            <a:extLst xmlns:a="http://schemas.openxmlformats.org/drawingml/2006/main">
              <a:ext uri="{FF2B5EF4-FFF2-40B4-BE49-F238E27FC236}">
                <a16:creationId xmlns:a16="http://schemas.microsoft.com/office/drawing/2014/main" id="{BBD3CB17-34F8-4549-B1DA-9D9F547353F2}"/>
              </a:ext>
            </a:extLst>
          </p:cNvPr>
          <p:cNvSpPr>
            <a:spLocks xmlns:a="http://schemas.openxmlformats.org/drawingml/2006/main" noGrp="1"/>
          </p:cNvSpPr>
          <p:nvPr/>
        </p:nvSpPr>
        <p:spPr>
          <a:xfrm xmlns:a="http://schemas.openxmlformats.org/drawingml/2006/main">
            <a:off x="635000" y="5791200"/>
            <a:ext cx="56515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50" b="0">
                <a:solidFill>
                  <a:srgbClr val="006D46"/>
                </a:solidFill>
                <a:latin typeface="Source Sans 3"/>
                <a:ea typeface="Source Sans 3"/>
                <a:cs typeface="Source Sans 3"/>
              </a:defRPr>
            </a:pPr>
            <a:r>
              <a:rPr sz="1450" b="0">
                <a:solidFill>
                  <a:srgbClr val="006D46"/>
                </a:solidFill>
                <a:latin typeface="Source Sans 3"/>
                <a:ea typeface="Source Sans 3"/>
                <a:cs typeface="Source Sans 3"/>
                <a:hlinkClick xmlns:r="http://schemas.openxmlformats.org/officeDocument/2006/relationships" r:id="R751887a1242f437b"/>
              </a:rPr>
              <a:t>github.com/uyqv/MongoDB-Hackathon</a:t>
            </a:r>
          </a:p>
        </p:txBody>
      </p:sp>
    </p:spTree>
    <p:extLst>
      <p:ext uri="{BB962C8B-B14F-4D97-AF65-F5344CB8AC3E}">
        <p14:creationId xmlns:p14="http://schemas.microsoft.com/office/powerpoint/2010/main" val="17051435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2026-09-26T21:07:28.9270000Z</dcterms:created>
  <dcterms:modified xsi:type="dcterms:W3CDTF">2026-09-26T21:07:28.9270000Z</dcterms:modified>
</coreProperties>
</file>