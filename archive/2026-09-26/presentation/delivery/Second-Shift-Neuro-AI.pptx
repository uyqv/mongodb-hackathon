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8f616868619466d" /><Relationship Type="http://schemas.openxmlformats.org/officeDocument/2006/relationships/extended-properties" Target="/docProps/app.xml" Id="R0e0224fd82a64045" /><Relationship Type="http://schemas.openxmlformats.org/officeDocument/2006/relationships/officeDocument" Target="/ppt/presentation.xml" Id="R5c5a3df03d8e4478" /></Relationships>
</file>

<file path=ppt/presentation.xml><?xml version="1.0" encoding="utf-8"?>
<p:presentation xmlns:p="http://schemas.openxmlformats.org/presentationml/2006/main">
  <p:sldMasterIdLst>
    <p:sldMasterId xmlns:r="http://schemas.openxmlformats.org/officeDocument/2006/relationships" id="2147483648" r:id="R51c2a2bae94b4ae3"/>
  </p:sldMasterIdLst>
  <p:notesMasterIdLst>
    <p:notesMasterId xmlns:r="http://schemas.openxmlformats.org/officeDocument/2006/relationships" r:id="R30462ed6a1134ee0"/>
  </p:notesMasterIdLst>
  <p:sldIdLst>
    <p:sldId xmlns:r="http://schemas.openxmlformats.org/officeDocument/2006/relationships" id="256" r:id="R883eff648b2b44ac"/>
    <p:sldId xmlns:r="http://schemas.openxmlformats.org/officeDocument/2006/relationships" id="257" r:id="Rda0bc775cdf743c3"/>
    <p:sldId xmlns:r="http://schemas.openxmlformats.org/officeDocument/2006/relationships" id="258" r:id="R369a39ed11ea4ba9"/>
    <p:sldId xmlns:r="http://schemas.openxmlformats.org/officeDocument/2006/relationships" id="259" r:id="Rdf73bc8b067643b4"/>
    <p:sldId xmlns:r="http://schemas.openxmlformats.org/officeDocument/2006/relationships" id="260" r:id="Rba0d5d4f22e74b77"/>
    <p:sldId xmlns:r="http://schemas.openxmlformats.org/officeDocument/2006/relationships" id="261" r:id="R490d9675d6b34e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04922174eb4941" /><Relationship Type="http://schemas.openxmlformats.org/officeDocument/2006/relationships/slideMaster" Target="/ppt/slideMasters/slideMaster1.xml" Id="R51c2a2bae94b4ae3" /><Relationship Type="http://schemas.openxmlformats.org/officeDocument/2006/relationships/notesMaster" Target="/ppt/notesMasters/notesMaster1.xml" Id="R30462ed6a1134ee0" /><Relationship Type="http://schemas.openxmlformats.org/officeDocument/2006/relationships/presProps" Target="/ppt/presProps.xml" Id="Rd2048c4b729746cb" /><Relationship Type="http://schemas.openxmlformats.org/officeDocument/2006/relationships/tableStyles" Target="/ppt/tableStyles.xml" Id="R8fc708afa31246ac" /><Relationship Type="http://schemas.openxmlformats.org/officeDocument/2006/relationships/slide" Target="/ppt/slides/slide1.xml" Id="R883eff648b2b44ac" /><Relationship Type="http://schemas.openxmlformats.org/officeDocument/2006/relationships/slide" Target="/ppt/slides/slide2.xml" Id="Rda0bc775cdf743c3" /><Relationship Type="http://schemas.openxmlformats.org/officeDocument/2006/relationships/slide" Target="/ppt/slides/slide3.xml" Id="R369a39ed11ea4ba9" /><Relationship Type="http://schemas.openxmlformats.org/officeDocument/2006/relationships/slide" Target="/ppt/slides/slide4.xml" Id="Rdf73bc8b067643b4" /><Relationship Type="http://schemas.openxmlformats.org/officeDocument/2006/relationships/slide" Target="/ppt/slides/slide5.xml" Id="Rba0d5d4f22e74b77" /><Relationship Type="http://schemas.openxmlformats.org/officeDocument/2006/relationships/slide" Target="/ppt/slides/slide6.xml" Id="R490d9675d6b34e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8de79ebd5345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52be75d92642b5" /><Relationship Type="http://schemas.openxmlformats.org/officeDocument/2006/relationships/notesMaster" Target="/ppt/notesMasters/notesMaster1.xml" Id="Rc857e9964add49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fd2df57b6b4c3b" /><Relationship Type="http://schemas.openxmlformats.org/officeDocument/2006/relationships/notesMaster" Target="/ppt/notesMasters/notesMaster1.xml" Id="R453d45d2cf804a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d671068c9d404f" /><Relationship Type="http://schemas.openxmlformats.org/officeDocument/2006/relationships/notesMaster" Target="/ppt/notesMasters/notesMaster1.xml" Id="Ra30fa56d0a9248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fe9e9b9352442d" /><Relationship Type="http://schemas.openxmlformats.org/officeDocument/2006/relationships/notesMaster" Target="/ppt/notesMasters/notesMaster1.xml" Id="R66fa3026bd024e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e5afd6b5a54b99" /><Relationship Type="http://schemas.openxmlformats.org/officeDocument/2006/relationships/notesMaster" Target="/ppt/notesMasters/notesMaster1.xml" Id="R234f1c77e9da42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0d7cc7698f46b8" /><Relationship Type="http://schemas.openxmlformats.org/officeDocument/2006/relationships/notesMaster" Target="/ppt/notesMasters/notesMaster1.xml" Id="R52d69f1e354942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 seconds</a:t>
            </a:r>
          </a:p>
          <a:p xmlns:a="http://schemas.openxmlformats.org/drawingml/2006/main">
            <a:r>
              <a:t/>
            </a:r>
          </a:p>
          <a:p xmlns:a="http://schemas.openxmlformats.org/drawingml/2006/main">
            <a:r>
              <a:t>We built Second Shift, an autonomous research assistant for brain signals. It runs EEG experiments and keeps the research moving, even when its agent crashes, loses context, or receives a new constraint.</a:t>
            </a:r>
          </a:p>
          <a:p xmlns:a="http://schemas.openxmlformats.org/drawingml/2006/main">
            <a:r>
              <a:t/>
            </a:r>
          </a:p>
          <a:p xmlns:a="http://schemas.openxmlformats.org/drawingml/2006/main">
            <a:r>
              <a:t>Sources and context</a:t>
            </a:r>
          </a:p>
          <a:p xmlns:a="http://schemas.openxmlformats.org/drawingml/2006/main">
            <a:r>
              <a:t>- README.md: What it does</a:t>
            </a:r>
          </a:p>
          <a:p xmlns:a="http://schemas.openxmlformats.org/drawingml/2006/main">
            <a:r>
              <a:t>- Conceptual artwork generated with built-in image_gen. Electrode placement is illustrative, not a measured montage.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15–35 seconds</a:t>
            </a:r>
          </a:p>
          <a:p xmlns:a="http://schemas.openxmlformats.org/drawingml/2006/main">
            <a:r>
              <a:t/>
            </a:r>
          </a:p>
          <a:p xmlns:a="http://schemas.openxmlformats.org/drawingml/2006/main">
            <a:r>
              <a:t>EEG records electrical activity from the scalp. Our task is concrete: distinguish imagined fists from imagined feet. Second Shift searches 225 configurations of electrodes, frequency bands, time windows, and classifiers. Every experiment produces a measured result that the next decision can use.</a:t>
            </a:r>
          </a:p>
          <a:p xmlns:a="http://schemas.openxmlformats.org/drawingml/2006/main">
            <a:r>
              <a:t/>
            </a:r>
          </a:p>
          <a:p xmlns:a="http://schemas.openxmlformats.org/drawingml/2006/main">
            <a:r>
              <a:t>Sources and context</a:t>
            </a:r>
          </a:p>
          <a:p xmlns:a="http://schemas.openxmlformats.org/drawingml/2006/main">
            <a:r>
              <a:t>- harness/contracts.py: 225 effective configurations</a:t>
            </a:r>
          </a:p>
          <a:p xmlns:a="http://schemas.openxmlformats.org/drawingml/2006/main">
            <a:r>
              <a:t>- harness/eeg.py: within-subject run 6 training, run 10 validation, run 14 sealed test</a:t>
            </a:r>
          </a:p>
          <a:p xmlns:a="http://schemas.openxmlformats.org/drawingml/2006/main">
            <a:r>
              <a:t>- PhysioNet EEG Motor Movement/Imagery v1.0.0: https://physionet.org/content/eegmmidb/1.0.0/</a:t>
            </a:r>
          </a:p>
          <a:p xmlns:a="http://schemas.openxmlformats.org/drawingml/2006/main">
            <a:r>
              <a:t>- Plot: S001R06.edf, channel C3, first T1 cue at 12.5 seconds, unfiltered 160 Hz samples. See source/eeg.json.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35–60 seconds</a:t>
            </a:r>
          </a:p>
          <a:p xmlns:a="http://schemas.openxmlformats.org/drawingml/2006/main">
            <a:r>
              <a:t/>
            </a:r>
          </a:p>
          <a:p xmlns:a="http://schemas.openxmlformats.org/drawingml/2006/main">
            <a:r>
              <a:t>The planner chooses the next configuration using recorded evidence. Numerical code trains and evaluates it. MongoDB Atlas stores the goal, experiments, and results. Each decision starts with a fresh evidence packet. Exact database reads supply measured results. Vector search retrieves research notes. A replacement worker can continue the same campaign.</a:t>
            </a:r>
          </a:p>
          <a:p xmlns:a="http://schemas.openxmlformats.org/drawingml/2006/main">
            <a:r>
              <a:t/>
            </a:r>
          </a:p>
          <a:p xmlns:a="http://schemas.openxmlformats.org/drawingml/2006/main">
            <a:r>
              <a:t>Sources and context</a:t>
            </a:r>
          </a:p>
          <a:p xmlns:a="http://schemas.openxmlformats.org/drawingml/2006/main">
            <a:r>
              <a:t>- harness/worker.py</a:t>
            </a:r>
          </a:p>
          <a:p xmlns:a="http://schemas.openxmlformats.org/drawingml/2006/main">
            <a:r>
              <a:t>- harness/context.py: exact reads of best, leaders, laggards, recent results; semantic retrieval over notes</a:t>
            </a:r>
          </a:p>
          <a:p xmlns:a="http://schemas.openxmlformats.org/drawingml/2006/main">
            <a:r>
              <a:t>- harness/store.py: deduplication, protocol identity, lease-fenced commits</a:t>
            </a:r>
          </a:p>
          <a:p xmlns:a="http://schemas.openxmlformats.org/drawingml/2006/main">
            <a:r>
              <a:t>- harness/eeg.py: numerical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60–120 seconds</a:t>
            </a:r>
          </a:p>
          <a:p xmlns:a="http://schemas.openxmlformats.org/drawingml/2006/main">
            <a:r>
              <a:t/>
            </a:r>
          </a:p>
          <a:p xmlns:a="http://schemas.openxmlformats.org/drawingml/2006/main">
            <a:r>
              <a:t>Play the new, narrated 60-second dashboard demo. Do not speak over the recorded voiceover. At the end, advance to the measured-results slide. This slot intentionally contains no previous recording. The final demo must show the actual newly recorded actions.</a:t>
            </a:r>
          </a:p>
          <a:p xmlns:a="http://schemas.openxmlformats.org/drawingml/2006/main">
            <a:r>
              <a:t/>
            </a:r>
          </a:p>
          <a:p xmlns:a="http://schemas.openxmlformats.org/drawingml/2006/main">
            <a:r>
              <a:t>Sources and context</a:t>
            </a:r>
          </a:p>
          <a:p xmlns:a="http://schemas.openxmlformats.org/drawingml/2006/main">
            <a:r>
              <a:t>- New recording required. Previous recordings and raw frames are excluded at the user’s request.</a:t>
            </a:r>
          </a:p>
          <a:p xmlns:a="http://schemas.openxmlformats.org/drawingml/2006/main">
            <a:r>
              <a:t>- Use the voiceover embedded in the user’s new finished demo. The separately generated Eric narration is an optional alternate and must not be layered over that soundtrack.</a:t>
            </a:r>
          </a:p>
          <a:p xmlns:a="http://schemas.openxmlformats.org/drawingml/2006/main">
            <a:r>
              <a:t/>
            </a:r>
          </a:p>
          <a:p xmlns:a="http://schemas.openxmlformats.org/drawingml/2006/main">
            <a:r>
              <a:t>Play the accompanying new 60-second MP4 from the media folder. Do not use previous demo recordings.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120–150 seconds</a:t>
            </a:r>
          </a:p>
          <a:p xmlns:a="http://schemas.openxmlformats.org/drawingml/2006/main">
            <a:r>
              <a:t/>
            </a:r>
          </a:p>
          <a:p xmlns:a="http://schemas.openxmlformats.org/drawingml/2006/main">
            <a:r>
              <a:t>Our reference campaign reached seventy-three point two percent balanced accuracy on a held-out test scored once. That used twenty-one electrodes across five participants and seventy-five test trials. Separately, all eight recovery checks and all five constraint-change checks passed. These are small, offline experiments. They demonstrate the research loop, not clinical performance or a real-time decoder.</a:t>
            </a:r>
          </a:p>
          <a:p xmlns:a="http://schemas.openxmlformats.org/drawingml/2006/main">
            <a:r>
              <a:t/>
            </a:r>
          </a:p>
          <a:p xmlns:a="http://schemas.openxmlformats.org/drawingml/2006/main">
            <a:r>
              <a:t>Sources and context</a:t>
            </a:r>
          </a:p>
          <a:p xmlns:a="http://schemas.openxmlformats.org/drawingml/2006/main">
            <a:r>
              <a:t>- README.md: camp_0f8981ee, 0.774 validation, 0.732 sealed test, 21 electrodes, 75 test trials, subjects 1–5</a:t>
            </a:r>
          </a:p>
          <a:p xmlns:a="http://schemas.openxmlformats.org/drawingml/2006/main">
            <a:r>
              <a:t>- eval/checks.json: camp_51b0f538 recovery 8/8; camp_66e4900c constraint 5/5</a:t>
            </a:r>
          </a:p>
          <a:p xmlns:a="http://schemas.openxmlformats.org/drawingml/2006/main">
            <a:r>
              <a:t>- Reference campaign and reliability checks are separate from the new demo campaign.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150–175 seconds</a:t>
            </a:r>
          </a:p>
          <a:p xmlns:a="http://schemas.openxmlformats.org/drawingml/2006/main">
            <a:r>
              <a:t/>
            </a:r>
          </a:p>
          <a:p xmlns:a="http://schemas.openxmlformats.org/drawingml/2006/main">
            <a:r>
              <a:t>The Neuro AI value is a research assistant that can test ideas on real brain signals and preserve what it learns. Researchers can inspect the evidence, change an electrode budget, and continue from completed work. We built Second Shift to give the next experiment a reliable starting point. Thank you.</a:t>
            </a:r>
          </a:p>
          <a:p xmlns:a="http://schemas.openxmlformats.org/drawingml/2006/main">
            <a:r>
              <a:t/>
            </a:r>
          </a:p>
          <a:p xmlns:a="http://schemas.openxmlformats.org/drawingml/2006/main">
            <a:r>
              <a:t>Sources and context</a:t>
            </a:r>
          </a:p>
          <a:p xmlns:a="http://schemas.openxmlformats.org/drawingml/2006/main">
            <a:r>
              <a:t>- README.md: project scope and team</a:t>
            </a:r>
          </a:p>
          <a:p xmlns:a="http://schemas.openxmlformats.org/drawingml/2006/main">
            <a:r>
              <a:t>- Repository: https://github.com/uyqv/MongoDB-Hackathon</a:t>
            </a:r>
          </a:p>
          <a:p xmlns:a="http://schemas.openxmlformats.org/drawingml/2006/main">
            <a:r>
              <a:t>- Conceptual brain and evidence-layer artwork generated with built-in image_gen.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73e56072044e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a412ed3c6b4899" /><Relationship Type="http://schemas.openxmlformats.org/officeDocument/2006/relationships/slideLayout" Target="/ppt/slideLayouts/slideLayout1.xml" Id="Rd97f06d22a8540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7f06d22a8540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fcfe328bb44782" /><Relationship Type="http://schemas.openxmlformats.org/officeDocument/2006/relationships/image" Target="/ppt/media/image.png" Id="R38c94200bdf74dcb" /><Relationship Type="http://schemas.openxmlformats.org/officeDocument/2006/relationships/image" Target="/ppt/media/image.svg" Id="R567a0621cf2142f2" /><Relationship Type="http://schemas.openxmlformats.org/officeDocument/2006/relationships/image" Target="/ppt/media/image2.png" Id="R79904b6321aa4819" /><Relationship Type="http://schemas.openxmlformats.org/officeDocument/2006/relationships/notesSlide" Target="/ppt/notesSlides/notesSlide1.xml" Id="R1efb21fcea6f48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915bf366d14b54" /><Relationship Type="http://schemas.openxmlformats.org/officeDocument/2006/relationships/image" Target="/ppt/media/image3.png" Id="Rf823c73f08a74e3d" /><Relationship Type="http://schemas.openxmlformats.org/officeDocument/2006/relationships/image" Target="/ppt/media/image2.svg" Id="R30a6be0e9e9e4a5c" /><Relationship Type="http://schemas.openxmlformats.org/officeDocument/2006/relationships/chart" Target="/ppt/slides/charts/chart1.xml" Id="R34c6fb714bdf4b4c" /><Relationship Type="http://schemas.openxmlformats.org/officeDocument/2006/relationships/notesSlide" Target="/ppt/notesSlides/notesSlide2.xml" Id="Rf3c47f73fa9041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3fe4dc5d2d4c52" /><Relationship Type="http://schemas.openxmlformats.org/officeDocument/2006/relationships/image" Target="/ppt/media/image4.png" Id="R625af6cadf284de5" /><Relationship Type="http://schemas.openxmlformats.org/officeDocument/2006/relationships/image" Target="/ppt/media/image3.svg" Id="R0c3db8be87c84569" /><Relationship Type="http://schemas.openxmlformats.org/officeDocument/2006/relationships/notesSlide" Target="/ppt/notesSlides/notesSlide3.xml" Id="Rfe6b7457d59a4b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df8ba90f754604" /><Relationship Type="http://schemas.openxmlformats.org/officeDocument/2006/relationships/image" Target="/ppt/media/image5.png" Id="Rad64ae93380547aa" /><Relationship Type="http://schemas.openxmlformats.org/officeDocument/2006/relationships/image" Target="/ppt/media/image4.svg" Id="Rb6ef5ac889d74a98" /><Relationship Type="http://schemas.openxmlformats.org/officeDocument/2006/relationships/notesSlide" Target="/ppt/notesSlides/notesSlide4.xml" Id="Ra01f265cc7e54c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ba2efacc5449c5" /><Relationship Type="http://schemas.openxmlformats.org/officeDocument/2006/relationships/image" Target="/ppt/media/image6.png" Id="R1dd9408614b04018" /><Relationship Type="http://schemas.openxmlformats.org/officeDocument/2006/relationships/image" Target="/ppt/media/image5.svg" Id="R4510070dbb9f4592" /><Relationship Type="http://schemas.openxmlformats.org/officeDocument/2006/relationships/notesSlide" Target="/ppt/notesSlides/notesSlide5.xml" Id="R4d177caa763143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ad109d816944a2d" /><Relationship Type="http://schemas.openxmlformats.org/officeDocument/2006/relationships/image" Target="/ppt/media/image7.png" Id="Rcf45c13c91ee4a70" /><Relationship Type="http://schemas.openxmlformats.org/officeDocument/2006/relationships/image" Target="/ppt/media/image6.svg" Id="Rdcf95ac0ce4540ea" /><Relationship Type="http://schemas.openxmlformats.org/officeDocument/2006/relationships/image" Target="/ppt/media/image8.png" Id="R92b82dedf71b49f4" /><Relationship Type="http://schemas.openxmlformats.org/officeDocument/2006/relationships/hyperlink" Target="https://github.com/uyqv/MongoDB-Hackathon" TargetMode="External" Id="R1370171a1d4949c2" /><Relationship Type="http://schemas.openxmlformats.org/officeDocument/2006/relationships/notesSlide" Target="/ppt/notesSlides/notesSlide6.xml" Id="Rd656d37904d0412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C3 EEG (µV)</c:v>
          </c:tx>
          <c:spPr>
            <a:solidFill xmlns:a="http://schemas.openxmlformats.org/drawingml/2006/main">
              <a:srgbClr val="006D46"/>
            </a:solidFill>
            <a:ln xmlns:a="http://schemas.openxmlformats.org/drawingml/2006/main" w="12383">
              <a:solidFill>
                <a:srgbClr val="006D46"/>
              </a:solidFill>
            </a:ln>
          </c:spPr>
          <c:marker>
            <c:symbol val="none"/>
          </c:marker>
          <c:xVal>
            <c:numRef>
              <c:f>'Chart Data'!$A$2:$A$321</c:f>
              <c:numCache>
                <c:formatCode>General</c:formatCode>
                <c:ptCount val="320"/>
                <c:pt idx="0">
                  <c:v>0</c:v>
                </c:pt>
                <c:pt idx="1">
                  <c:v>0.00625</c:v>
                </c:pt>
                <c:pt idx="2">
                  <c:v>0.0125</c:v>
                </c:pt>
                <c:pt idx="3">
                  <c:v>0.01875</c:v>
                </c:pt>
                <c:pt idx="4">
                  <c:v>0.025</c:v>
                </c:pt>
                <c:pt idx="5">
                  <c:v>0.03125</c:v>
                </c:pt>
                <c:pt idx="6">
                  <c:v>0.0375</c:v>
                </c:pt>
                <c:pt idx="7">
                  <c:v>0.04375</c:v>
                </c:pt>
                <c:pt idx="8">
                  <c:v>0.05</c:v>
                </c:pt>
                <c:pt idx="9">
                  <c:v>0.05625</c:v>
                </c:pt>
                <c:pt idx="10">
                  <c:v>0.0625</c:v>
                </c:pt>
                <c:pt idx="11">
                  <c:v>0.06875</c:v>
                </c:pt>
                <c:pt idx="12">
                  <c:v>0.075</c:v>
                </c:pt>
                <c:pt idx="13">
                  <c:v>0.08125</c:v>
                </c:pt>
                <c:pt idx="14">
                  <c:v>0.0875</c:v>
                </c:pt>
                <c:pt idx="15">
                  <c:v>0.09375</c:v>
                </c:pt>
                <c:pt idx="16">
                  <c:v>0.1</c:v>
                </c:pt>
                <c:pt idx="17">
                  <c:v>0.10625</c:v>
                </c:pt>
                <c:pt idx="18">
                  <c:v>0.1125</c:v>
                </c:pt>
                <c:pt idx="19">
                  <c:v>0.11875</c:v>
                </c:pt>
                <c:pt idx="20">
                  <c:v>0.125</c:v>
                </c:pt>
                <c:pt idx="21">
                  <c:v>0.13125</c:v>
                </c:pt>
                <c:pt idx="22">
                  <c:v>0.1375</c:v>
                </c:pt>
                <c:pt idx="23">
                  <c:v>0.14375</c:v>
                </c:pt>
                <c:pt idx="24">
                  <c:v>0.15</c:v>
                </c:pt>
                <c:pt idx="25">
                  <c:v>0.15625</c:v>
                </c:pt>
                <c:pt idx="26">
                  <c:v>0.1625</c:v>
                </c:pt>
                <c:pt idx="27">
                  <c:v>0.16875</c:v>
                </c:pt>
                <c:pt idx="28">
                  <c:v>0.175</c:v>
                </c:pt>
                <c:pt idx="29">
                  <c:v>0.18125</c:v>
                </c:pt>
                <c:pt idx="30">
                  <c:v>0.1875</c:v>
                </c:pt>
                <c:pt idx="31">
                  <c:v>0.19375</c:v>
                </c:pt>
                <c:pt idx="32">
                  <c:v>0.2</c:v>
                </c:pt>
                <c:pt idx="33">
                  <c:v>0.20625</c:v>
                </c:pt>
                <c:pt idx="34">
                  <c:v>0.2125</c:v>
                </c:pt>
                <c:pt idx="35">
                  <c:v>0.21875</c:v>
                </c:pt>
                <c:pt idx="36">
                  <c:v>0.225</c:v>
                </c:pt>
                <c:pt idx="37">
                  <c:v>0.23125</c:v>
                </c:pt>
                <c:pt idx="38">
                  <c:v>0.2375</c:v>
                </c:pt>
                <c:pt idx="39">
                  <c:v>0.24375</c:v>
                </c:pt>
                <c:pt idx="40">
                  <c:v>0.25</c:v>
                </c:pt>
                <c:pt idx="41">
                  <c:v>0.25625</c:v>
                </c:pt>
                <c:pt idx="42">
                  <c:v>0.2625</c:v>
                </c:pt>
                <c:pt idx="43">
                  <c:v>0.26875</c:v>
                </c:pt>
                <c:pt idx="44">
                  <c:v>0.275</c:v>
                </c:pt>
                <c:pt idx="45">
                  <c:v>0.28125</c:v>
                </c:pt>
                <c:pt idx="46">
                  <c:v>0.2875</c:v>
                </c:pt>
                <c:pt idx="47">
                  <c:v>0.29375</c:v>
                </c:pt>
                <c:pt idx="48">
                  <c:v>0.3</c:v>
                </c:pt>
                <c:pt idx="49">
                  <c:v>0.30625</c:v>
                </c:pt>
                <c:pt idx="50">
                  <c:v>0.3125</c:v>
                </c:pt>
                <c:pt idx="51">
                  <c:v>0.31875</c:v>
                </c:pt>
                <c:pt idx="52">
                  <c:v>0.325</c:v>
                </c:pt>
                <c:pt idx="53">
                  <c:v>0.33125</c:v>
                </c:pt>
                <c:pt idx="54">
                  <c:v>0.3375</c:v>
                </c:pt>
                <c:pt idx="55">
                  <c:v>0.34375</c:v>
                </c:pt>
                <c:pt idx="56">
                  <c:v>0.35</c:v>
                </c:pt>
                <c:pt idx="57">
                  <c:v>0.35625</c:v>
                </c:pt>
                <c:pt idx="58">
                  <c:v>0.3625</c:v>
                </c:pt>
                <c:pt idx="59">
                  <c:v>0.36875</c:v>
                </c:pt>
                <c:pt idx="60">
                  <c:v>0.375</c:v>
                </c:pt>
                <c:pt idx="61">
                  <c:v>0.38125</c:v>
                </c:pt>
                <c:pt idx="62">
                  <c:v>0.3875</c:v>
                </c:pt>
                <c:pt idx="63">
                  <c:v>0.39375</c:v>
                </c:pt>
                <c:pt idx="64">
                  <c:v>0.4</c:v>
                </c:pt>
                <c:pt idx="65">
                  <c:v>0.40625</c:v>
                </c:pt>
                <c:pt idx="66">
                  <c:v>0.4125</c:v>
                </c:pt>
                <c:pt idx="67">
                  <c:v>0.41875</c:v>
                </c:pt>
                <c:pt idx="68">
                  <c:v>0.425</c:v>
                </c:pt>
                <c:pt idx="69">
                  <c:v>0.43125</c:v>
                </c:pt>
                <c:pt idx="70">
                  <c:v>0.4375</c:v>
                </c:pt>
                <c:pt idx="71">
                  <c:v>0.44375</c:v>
                </c:pt>
                <c:pt idx="72">
                  <c:v>0.45</c:v>
                </c:pt>
                <c:pt idx="73">
                  <c:v>0.45625</c:v>
                </c:pt>
                <c:pt idx="74">
                  <c:v>0.4625</c:v>
                </c:pt>
                <c:pt idx="75">
                  <c:v>0.46875</c:v>
                </c:pt>
                <c:pt idx="76">
                  <c:v>0.475</c:v>
                </c:pt>
                <c:pt idx="77">
                  <c:v>0.48125</c:v>
                </c:pt>
                <c:pt idx="78">
                  <c:v>0.4875</c:v>
                </c:pt>
                <c:pt idx="79">
                  <c:v>0.49375</c:v>
                </c:pt>
                <c:pt idx="80">
                  <c:v>0.5</c:v>
                </c:pt>
                <c:pt idx="81">
                  <c:v>0.50625</c:v>
                </c:pt>
                <c:pt idx="82">
                  <c:v>0.5125</c:v>
                </c:pt>
                <c:pt idx="83">
                  <c:v>0.51875</c:v>
                </c:pt>
                <c:pt idx="84">
                  <c:v>0.525</c:v>
                </c:pt>
                <c:pt idx="85">
                  <c:v>0.53125</c:v>
                </c:pt>
                <c:pt idx="86">
                  <c:v>0.5375</c:v>
                </c:pt>
                <c:pt idx="87">
                  <c:v>0.54375</c:v>
                </c:pt>
                <c:pt idx="88">
                  <c:v>0.55</c:v>
                </c:pt>
                <c:pt idx="89">
                  <c:v>0.55625</c:v>
                </c:pt>
                <c:pt idx="90">
                  <c:v>0.5625</c:v>
                </c:pt>
                <c:pt idx="91">
                  <c:v>0.56875</c:v>
                </c:pt>
                <c:pt idx="92">
                  <c:v>0.575</c:v>
                </c:pt>
                <c:pt idx="93">
                  <c:v>0.58125</c:v>
                </c:pt>
                <c:pt idx="94">
                  <c:v>0.5875</c:v>
                </c:pt>
                <c:pt idx="95">
                  <c:v>0.59375</c:v>
                </c:pt>
                <c:pt idx="96">
                  <c:v>0.6</c:v>
                </c:pt>
                <c:pt idx="97">
                  <c:v>0.60625</c:v>
                </c:pt>
                <c:pt idx="98">
                  <c:v>0.6125</c:v>
                </c:pt>
                <c:pt idx="99">
                  <c:v>0.61875</c:v>
                </c:pt>
                <c:pt idx="100">
                  <c:v>0.625</c:v>
                </c:pt>
                <c:pt idx="101">
                  <c:v>0.63125</c:v>
                </c:pt>
                <c:pt idx="102">
                  <c:v>0.6375</c:v>
                </c:pt>
                <c:pt idx="103">
                  <c:v>0.64375</c:v>
                </c:pt>
                <c:pt idx="104">
                  <c:v>0.65</c:v>
                </c:pt>
                <c:pt idx="105">
                  <c:v>0.65625</c:v>
                </c:pt>
                <c:pt idx="106">
                  <c:v>0.6625</c:v>
                </c:pt>
                <c:pt idx="107">
                  <c:v>0.66875</c:v>
                </c:pt>
                <c:pt idx="108">
                  <c:v>0.675</c:v>
                </c:pt>
                <c:pt idx="109">
                  <c:v>0.68125</c:v>
                </c:pt>
                <c:pt idx="110">
                  <c:v>0.6875</c:v>
                </c:pt>
                <c:pt idx="111">
                  <c:v>0.69375</c:v>
                </c:pt>
                <c:pt idx="112">
                  <c:v>0.7</c:v>
                </c:pt>
                <c:pt idx="113">
                  <c:v>0.70625</c:v>
                </c:pt>
                <c:pt idx="114">
                  <c:v>0.7125</c:v>
                </c:pt>
                <c:pt idx="115">
                  <c:v>0.71875</c:v>
                </c:pt>
                <c:pt idx="116">
                  <c:v>0.725</c:v>
                </c:pt>
                <c:pt idx="117">
                  <c:v>0.73125</c:v>
                </c:pt>
                <c:pt idx="118">
                  <c:v>0.7375</c:v>
                </c:pt>
                <c:pt idx="119">
                  <c:v>0.74375</c:v>
                </c:pt>
                <c:pt idx="120">
                  <c:v>0.75</c:v>
                </c:pt>
                <c:pt idx="121">
                  <c:v>0.75625</c:v>
                </c:pt>
                <c:pt idx="122">
                  <c:v>0.7625</c:v>
                </c:pt>
                <c:pt idx="123">
                  <c:v>0.76875</c:v>
                </c:pt>
                <c:pt idx="124">
                  <c:v>0.775</c:v>
                </c:pt>
                <c:pt idx="125">
                  <c:v>0.78125</c:v>
                </c:pt>
                <c:pt idx="126">
                  <c:v>0.7875</c:v>
                </c:pt>
                <c:pt idx="127">
                  <c:v>0.79375</c:v>
                </c:pt>
                <c:pt idx="128">
                  <c:v>0.8</c:v>
                </c:pt>
                <c:pt idx="129">
                  <c:v>0.80625</c:v>
                </c:pt>
                <c:pt idx="130">
                  <c:v>0.8125</c:v>
                </c:pt>
                <c:pt idx="131">
                  <c:v>0.81875</c:v>
                </c:pt>
                <c:pt idx="132">
                  <c:v>0.825</c:v>
                </c:pt>
                <c:pt idx="133">
                  <c:v>0.83125</c:v>
                </c:pt>
                <c:pt idx="134">
                  <c:v>0.8375</c:v>
                </c:pt>
                <c:pt idx="135">
                  <c:v>0.84375</c:v>
                </c:pt>
                <c:pt idx="136">
                  <c:v>0.85</c:v>
                </c:pt>
                <c:pt idx="137">
                  <c:v>0.85625</c:v>
                </c:pt>
                <c:pt idx="138">
                  <c:v>0.8625</c:v>
                </c:pt>
                <c:pt idx="139">
                  <c:v>0.86875</c:v>
                </c:pt>
                <c:pt idx="140">
                  <c:v>0.875</c:v>
                </c:pt>
                <c:pt idx="141">
                  <c:v>0.88125</c:v>
                </c:pt>
                <c:pt idx="142">
                  <c:v>0.8875</c:v>
                </c:pt>
                <c:pt idx="143">
                  <c:v>0.89375</c:v>
                </c:pt>
                <c:pt idx="144">
                  <c:v>0.9</c:v>
                </c:pt>
                <c:pt idx="145">
                  <c:v>0.90625</c:v>
                </c:pt>
                <c:pt idx="146">
                  <c:v>0.9125</c:v>
                </c:pt>
                <c:pt idx="147">
                  <c:v>0.91875</c:v>
                </c:pt>
                <c:pt idx="148">
                  <c:v>0.925</c:v>
                </c:pt>
                <c:pt idx="149">
                  <c:v>0.93125</c:v>
                </c:pt>
                <c:pt idx="150">
                  <c:v>0.9375</c:v>
                </c:pt>
                <c:pt idx="151">
                  <c:v>0.94375</c:v>
                </c:pt>
                <c:pt idx="152">
                  <c:v>0.95</c:v>
                </c:pt>
                <c:pt idx="153">
                  <c:v>0.95625</c:v>
                </c:pt>
                <c:pt idx="154">
                  <c:v>0.9625</c:v>
                </c:pt>
                <c:pt idx="155">
                  <c:v>0.96875</c:v>
                </c:pt>
                <c:pt idx="156">
                  <c:v>0.975</c:v>
                </c:pt>
                <c:pt idx="157">
                  <c:v>0.98125</c:v>
                </c:pt>
                <c:pt idx="158">
                  <c:v>0.9875</c:v>
                </c:pt>
                <c:pt idx="159">
                  <c:v>0.99375</c:v>
                </c:pt>
                <c:pt idx="160">
                  <c:v>1</c:v>
                </c:pt>
                <c:pt idx="161">
                  <c:v>1.00625</c:v>
                </c:pt>
                <c:pt idx="162">
                  <c:v>1.0125</c:v>
                </c:pt>
                <c:pt idx="163">
                  <c:v>1.01875</c:v>
                </c:pt>
                <c:pt idx="164">
                  <c:v>1.025</c:v>
                </c:pt>
                <c:pt idx="165">
                  <c:v>1.03125</c:v>
                </c:pt>
                <c:pt idx="166">
                  <c:v>1.0375</c:v>
                </c:pt>
                <c:pt idx="167">
                  <c:v>1.04375</c:v>
                </c:pt>
                <c:pt idx="168">
                  <c:v>1.05</c:v>
                </c:pt>
                <c:pt idx="169">
                  <c:v>1.05625</c:v>
                </c:pt>
                <c:pt idx="170">
                  <c:v>1.0625</c:v>
                </c:pt>
                <c:pt idx="171">
                  <c:v>1.06875</c:v>
                </c:pt>
                <c:pt idx="172">
                  <c:v>1.075</c:v>
                </c:pt>
                <c:pt idx="173">
                  <c:v>1.08125</c:v>
                </c:pt>
                <c:pt idx="174">
                  <c:v>1.0875</c:v>
                </c:pt>
                <c:pt idx="175">
                  <c:v>1.09375</c:v>
                </c:pt>
                <c:pt idx="176">
                  <c:v>1.1</c:v>
                </c:pt>
                <c:pt idx="177">
                  <c:v>1.10625</c:v>
                </c:pt>
                <c:pt idx="178">
                  <c:v>1.1125</c:v>
                </c:pt>
                <c:pt idx="179">
                  <c:v>1.11875</c:v>
                </c:pt>
                <c:pt idx="180">
                  <c:v>1.125</c:v>
                </c:pt>
                <c:pt idx="181">
                  <c:v>1.13125</c:v>
                </c:pt>
                <c:pt idx="182">
                  <c:v>1.1375</c:v>
                </c:pt>
                <c:pt idx="183">
                  <c:v>1.14375</c:v>
                </c:pt>
                <c:pt idx="184">
                  <c:v>1.15</c:v>
                </c:pt>
                <c:pt idx="185">
                  <c:v>1.15625</c:v>
                </c:pt>
                <c:pt idx="186">
                  <c:v>1.1625</c:v>
                </c:pt>
                <c:pt idx="187">
                  <c:v>1.16875</c:v>
                </c:pt>
                <c:pt idx="188">
                  <c:v>1.175</c:v>
                </c:pt>
                <c:pt idx="189">
                  <c:v>1.18125</c:v>
                </c:pt>
                <c:pt idx="190">
                  <c:v>1.1875</c:v>
                </c:pt>
                <c:pt idx="191">
                  <c:v>1.19375</c:v>
                </c:pt>
                <c:pt idx="192">
                  <c:v>1.2</c:v>
                </c:pt>
                <c:pt idx="193">
                  <c:v>1.20625</c:v>
                </c:pt>
                <c:pt idx="194">
                  <c:v>1.2125</c:v>
                </c:pt>
                <c:pt idx="195">
                  <c:v>1.21875</c:v>
                </c:pt>
                <c:pt idx="196">
                  <c:v>1.225</c:v>
                </c:pt>
                <c:pt idx="197">
                  <c:v>1.23125</c:v>
                </c:pt>
                <c:pt idx="198">
                  <c:v>1.2375</c:v>
                </c:pt>
                <c:pt idx="199">
                  <c:v>1.24375</c:v>
                </c:pt>
                <c:pt idx="200">
                  <c:v>1.25</c:v>
                </c:pt>
                <c:pt idx="201">
                  <c:v>1.25625</c:v>
                </c:pt>
                <c:pt idx="202">
                  <c:v>1.2625</c:v>
                </c:pt>
                <c:pt idx="203">
                  <c:v>1.26875</c:v>
                </c:pt>
                <c:pt idx="204">
                  <c:v>1.275</c:v>
                </c:pt>
                <c:pt idx="205">
                  <c:v>1.28125</c:v>
                </c:pt>
                <c:pt idx="206">
                  <c:v>1.2875</c:v>
                </c:pt>
                <c:pt idx="207">
                  <c:v>1.29375</c:v>
                </c:pt>
                <c:pt idx="208">
                  <c:v>1.3</c:v>
                </c:pt>
                <c:pt idx="209">
                  <c:v>1.30625</c:v>
                </c:pt>
                <c:pt idx="210">
                  <c:v>1.3125</c:v>
                </c:pt>
                <c:pt idx="211">
                  <c:v>1.31875</c:v>
                </c:pt>
                <c:pt idx="212">
                  <c:v>1.325</c:v>
                </c:pt>
                <c:pt idx="213">
                  <c:v>1.33125</c:v>
                </c:pt>
                <c:pt idx="214">
                  <c:v>1.3375</c:v>
                </c:pt>
                <c:pt idx="215">
                  <c:v>1.34375</c:v>
                </c:pt>
                <c:pt idx="216">
                  <c:v>1.35</c:v>
                </c:pt>
                <c:pt idx="217">
                  <c:v>1.35625</c:v>
                </c:pt>
                <c:pt idx="218">
                  <c:v>1.3625</c:v>
                </c:pt>
                <c:pt idx="219">
                  <c:v>1.36875</c:v>
                </c:pt>
                <c:pt idx="220">
                  <c:v>1.375</c:v>
                </c:pt>
                <c:pt idx="221">
                  <c:v>1.38125</c:v>
                </c:pt>
                <c:pt idx="222">
                  <c:v>1.3875</c:v>
                </c:pt>
                <c:pt idx="223">
                  <c:v>1.39375</c:v>
                </c:pt>
                <c:pt idx="224">
                  <c:v>1.4</c:v>
                </c:pt>
                <c:pt idx="225">
                  <c:v>1.40625</c:v>
                </c:pt>
                <c:pt idx="226">
                  <c:v>1.4125</c:v>
                </c:pt>
                <c:pt idx="227">
                  <c:v>1.41875</c:v>
                </c:pt>
                <c:pt idx="228">
                  <c:v>1.425</c:v>
                </c:pt>
                <c:pt idx="229">
                  <c:v>1.43125</c:v>
                </c:pt>
                <c:pt idx="230">
                  <c:v>1.4375</c:v>
                </c:pt>
                <c:pt idx="231">
                  <c:v>1.44375</c:v>
                </c:pt>
                <c:pt idx="232">
                  <c:v>1.45</c:v>
                </c:pt>
                <c:pt idx="233">
                  <c:v>1.45625</c:v>
                </c:pt>
                <c:pt idx="234">
                  <c:v>1.4625</c:v>
                </c:pt>
                <c:pt idx="235">
                  <c:v>1.46875</c:v>
                </c:pt>
                <c:pt idx="236">
                  <c:v>1.475</c:v>
                </c:pt>
                <c:pt idx="237">
                  <c:v>1.48125</c:v>
                </c:pt>
                <c:pt idx="238">
                  <c:v>1.4875</c:v>
                </c:pt>
                <c:pt idx="239">
                  <c:v>1.49375</c:v>
                </c:pt>
                <c:pt idx="240">
                  <c:v>1.5</c:v>
                </c:pt>
                <c:pt idx="241">
                  <c:v>1.50625</c:v>
                </c:pt>
                <c:pt idx="242">
                  <c:v>1.5125</c:v>
                </c:pt>
                <c:pt idx="243">
                  <c:v>1.51875</c:v>
                </c:pt>
                <c:pt idx="244">
                  <c:v>1.525</c:v>
                </c:pt>
                <c:pt idx="245">
                  <c:v>1.53125</c:v>
                </c:pt>
                <c:pt idx="246">
                  <c:v>1.5375</c:v>
                </c:pt>
                <c:pt idx="247">
                  <c:v>1.54375</c:v>
                </c:pt>
                <c:pt idx="248">
                  <c:v>1.55</c:v>
                </c:pt>
                <c:pt idx="249">
                  <c:v>1.55625</c:v>
                </c:pt>
                <c:pt idx="250">
                  <c:v>1.5625</c:v>
                </c:pt>
                <c:pt idx="251">
                  <c:v>1.56875</c:v>
                </c:pt>
                <c:pt idx="252">
                  <c:v>1.575</c:v>
                </c:pt>
                <c:pt idx="253">
                  <c:v>1.58125</c:v>
                </c:pt>
                <c:pt idx="254">
                  <c:v>1.5875</c:v>
                </c:pt>
                <c:pt idx="255">
                  <c:v>1.59375</c:v>
                </c:pt>
                <c:pt idx="256">
                  <c:v>1.6</c:v>
                </c:pt>
                <c:pt idx="257">
                  <c:v>1.60625</c:v>
                </c:pt>
                <c:pt idx="258">
                  <c:v>1.6125</c:v>
                </c:pt>
                <c:pt idx="259">
                  <c:v>1.61875</c:v>
                </c:pt>
                <c:pt idx="260">
                  <c:v>1.625</c:v>
                </c:pt>
                <c:pt idx="261">
                  <c:v>1.63125</c:v>
                </c:pt>
                <c:pt idx="262">
                  <c:v>1.6375</c:v>
                </c:pt>
                <c:pt idx="263">
                  <c:v>1.64375</c:v>
                </c:pt>
                <c:pt idx="264">
                  <c:v>1.65</c:v>
                </c:pt>
                <c:pt idx="265">
                  <c:v>1.65625</c:v>
                </c:pt>
                <c:pt idx="266">
                  <c:v>1.6625</c:v>
                </c:pt>
                <c:pt idx="267">
                  <c:v>1.66875</c:v>
                </c:pt>
                <c:pt idx="268">
                  <c:v>1.675</c:v>
                </c:pt>
                <c:pt idx="269">
                  <c:v>1.68125</c:v>
                </c:pt>
                <c:pt idx="270">
                  <c:v>1.6875</c:v>
                </c:pt>
                <c:pt idx="271">
                  <c:v>1.69375</c:v>
                </c:pt>
                <c:pt idx="272">
                  <c:v>1.7</c:v>
                </c:pt>
                <c:pt idx="273">
                  <c:v>1.70625</c:v>
                </c:pt>
                <c:pt idx="274">
                  <c:v>1.7125</c:v>
                </c:pt>
                <c:pt idx="275">
                  <c:v>1.71875</c:v>
                </c:pt>
                <c:pt idx="276">
                  <c:v>1.725</c:v>
                </c:pt>
                <c:pt idx="277">
                  <c:v>1.73125</c:v>
                </c:pt>
                <c:pt idx="278">
                  <c:v>1.7375</c:v>
                </c:pt>
                <c:pt idx="279">
                  <c:v>1.74375</c:v>
                </c:pt>
                <c:pt idx="280">
                  <c:v>1.75</c:v>
                </c:pt>
                <c:pt idx="281">
                  <c:v>1.75625</c:v>
                </c:pt>
                <c:pt idx="282">
                  <c:v>1.7625</c:v>
                </c:pt>
                <c:pt idx="283">
                  <c:v>1.76875</c:v>
                </c:pt>
                <c:pt idx="284">
                  <c:v>1.775</c:v>
                </c:pt>
                <c:pt idx="285">
                  <c:v>1.78125</c:v>
                </c:pt>
                <c:pt idx="286">
                  <c:v>1.7875</c:v>
                </c:pt>
                <c:pt idx="287">
                  <c:v>1.79375</c:v>
                </c:pt>
                <c:pt idx="288">
                  <c:v>1.8</c:v>
                </c:pt>
                <c:pt idx="289">
                  <c:v>1.80625</c:v>
                </c:pt>
                <c:pt idx="290">
                  <c:v>1.8125</c:v>
                </c:pt>
                <c:pt idx="291">
                  <c:v>1.81875</c:v>
                </c:pt>
                <c:pt idx="292">
                  <c:v>1.825</c:v>
                </c:pt>
                <c:pt idx="293">
                  <c:v>1.83125</c:v>
                </c:pt>
                <c:pt idx="294">
                  <c:v>1.8375</c:v>
                </c:pt>
                <c:pt idx="295">
                  <c:v>1.84375</c:v>
                </c:pt>
                <c:pt idx="296">
                  <c:v>1.85</c:v>
                </c:pt>
                <c:pt idx="297">
                  <c:v>1.85625</c:v>
                </c:pt>
                <c:pt idx="298">
                  <c:v>1.8625</c:v>
                </c:pt>
                <c:pt idx="299">
                  <c:v>1.86875</c:v>
                </c:pt>
                <c:pt idx="300">
                  <c:v>1.875</c:v>
                </c:pt>
                <c:pt idx="301">
                  <c:v>1.88125</c:v>
                </c:pt>
                <c:pt idx="302">
                  <c:v>1.8875</c:v>
                </c:pt>
                <c:pt idx="303">
                  <c:v>1.89375</c:v>
                </c:pt>
                <c:pt idx="304">
                  <c:v>1.9</c:v>
                </c:pt>
                <c:pt idx="305">
                  <c:v>1.90625</c:v>
                </c:pt>
                <c:pt idx="306">
                  <c:v>1.9125</c:v>
                </c:pt>
                <c:pt idx="307">
                  <c:v>1.91875</c:v>
                </c:pt>
                <c:pt idx="308">
                  <c:v>1.925</c:v>
                </c:pt>
                <c:pt idx="309">
                  <c:v>1.93125</c:v>
                </c:pt>
                <c:pt idx="310">
                  <c:v>1.9375</c:v>
                </c:pt>
                <c:pt idx="311">
                  <c:v>1.94375</c:v>
                </c:pt>
                <c:pt idx="312">
                  <c:v>1.95</c:v>
                </c:pt>
                <c:pt idx="313">
                  <c:v>1.95625</c:v>
                </c:pt>
                <c:pt idx="314">
                  <c:v>1.9625</c:v>
                </c:pt>
                <c:pt idx="315">
                  <c:v>1.96875</c:v>
                </c:pt>
                <c:pt idx="316">
                  <c:v>1.975</c:v>
                </c:pt>
                <c:pt idx="317">
                  <c:v>1.98125</c:v>
                </c:pt>
                <c:pt idx="318">
                  <c:v>1.9875</c:v>
                </c:pt>
                <c:pt idx="319">
                  <c:v>1.99375</c:v>
                </c:pt>
              </c:numCache>
            </c:numRef>
          </c:xVal>
          <c:yVal>
            <c:numRef>
              <c:f>'Chart Data'!$B$2:$B$321</c:f>
              <c:numCache>
                <c:formatCode>0</c:formatCode>
                <c:ptCount val="320"/>
                <c:pt idx="0">
                  <c:v>53</c:v>
                </c:pt>
                <c:pt idx="1">
                  <c:v>42</c:v>
                </c:pt>
                <c:pt idx="2">
                  <c:v>15</c:v>
                </c:pt>
                <c:pt idx="3">
                  <c:v>11</c:v>
                </c:pt>
                <c:pt idx="4">
                  <c:v>-1</c:v>
                </c:pt>
                <c:pt idx="5">
                  <c:v>16</c:v>
                </c:pt>
                <c:pt idx="6">
                  <c:v>45</c:v>
                </c:pt>
                <c:pt idx="7">
                  <c:v>33</c:v>
                </c:pt>
                <c:pt idx="8">
                  <c:v>24</c:v>
                </c:pt>
                <c:pt idx="9">
                  <c:v>26</c:v>
                </c:pt>
                <c:pt idx="10">
                  <c:v>41</c:v>
                </c:pt>
                <c:pt idx="11">
                  <c:v>35</c:v>
                </c:pt>
                <c:pt idx="12">
                  <c:v>38</c:v>
                </c:pt>
                <c:pt idx="13">
                  <c:v>47</c:v>
                </c:pt>
                <c:pt idx="14">
                  <c:v>8</c:v>
                </c:pt>
                <c:pt idx="15">
                  <c:v>1</c:v>
                </c:pt>
                <c:pt idx="16">
                  <c:v>18</c:v>
                </c:pt>
                <c:pt idx="17">
                  <c:v>17</c:v>
                </c:pt>
                <c:pt idx="18">
                  <c:v>13</c:v>
                </c:pt>
                <c:pt idx="19">
                  <c:v>21</c:v>
                </c:pt>
                <c:pt idx="20">
                  <c:v>15</c:v>
                </c:pt>
                <c:pt idx="21">
                  <c:v>42</c:v>
                </c:pt>
                <c:pt idx="22">
                  <c:v>44</c:v>
                </c:pt>
                <c:pt idx="23">
                  <c:v>49</c:v>
                </c:pt>
                <c:pt idx="24">
                  <c:v>62</c:v>
                </c:pt>
                <c:pt idx="25">
                  <c:v>44</c:v>
                </c:pt>
                <c:pt idx="26">
                  <c:v>26</c:v>
                </c:pt>
                <c:pt idx="27">
                  <c:v>18</c:v>
                </c:pt>
                <c:pt idx="28">
                  <c:v>9</c:v>
                </c:pt>
                <c:pt idx="29">
                  <c:v>14</c:v>
                </c:pt>
                <c:pt idx="30">
                  <c:v>27</c:v>
                </c:pt>
                <c:pt idx="31">
                  <c:v>34</c:v>
                </c:pt>
                <c:pt idx="32">
                  <c:v>47</c:v>
                </c:pt>
                <c:pt idx="33">
                  <c:v>64</c:v>
                </c:pt>
                <c:pt idx="34">
                  <c:v>58</c:v>
                </c:pt>
                <c:pt idx="35">
                  <c:v>40</c:v>
                </c:pt>
                <c:pt idx="36">
                  <c:v>16</c:v>
                </c:pt>
                <c:pt idx="37">
                  <c:v>19</c:v>
                </c:pt>
                <c:pt idx="38">
                  <c:v>27</c:v>
                </c:pt>
                <c:pt idx="39">
                  <c:v>44</c:v>
                </c:pt>
                <c:pt idx="40">
                  <c:v>61</c:v>
                </c:pt>
                <c:pt idx="41">
                  <c:v>53</c:v>
                </c:pt>
                <c:pt idx="42">
                  <c:v>70</c:v>
                </c:pt>
                <c:pt idx="43">
                  <c:v>105</c:v>
                </c:pt>
                <c:pt idx="44">
                  <c:v>112</c:v>
                </c:pt>
                <c:pt idx="45">
                  <c:v>125</c:v>
                </c:pt>
                <c:pt idx="46">
                  <c:v>108</c:v>
                </c:pt>
                <c:pt idx="47">
                  <c:v>76</c:v>
                </c:pt>
                <c:pt idx="48">
                  <c:v>61</c:v>
                </c:pt>
                <c:pt idx="49">
                  <c:v>59</c:v>
                </c:pt>
                <c:pt idx="50">
                  <c:v>49</c:v>
                </c:pt>
                <c:pt idx="51">
                  <c:v>55</c:v>
                </c:pt>
                <c:pt idx="52">
                  <c:v>54</c:v>
                </c:pt>
                <c:pt idx="53">
                  <c:v>71</c:v>
                </c:pt>
                <c:pt idx="54">
                  <c:v>83</c:v>
                </c:pt>
                <c:pt idx="55">
                  <c:v>91</c:v>
                </c:pt>
                <c:pt idx="56">
                  <c:v>86</c:v>
                </c:pt>
                <c:pt idx="57">
                  <c:v>63</c:v>
                </c:pt>
                <c:pt idx="58">
                  <c:v>87</c:v>
                </c:pt>
                <c:pt idx="59">
                  <c:v>73</c:v>
                </c:pt>
                <c:pt idx="60">
                  <c:v>51</c:v>
                </c:pt>
                <c:pt idx="61">
                  <c:v>53</c:v>
                </c:pt>
                <c:pt idx="62">
                  <c:v>46</c:v>
                </c:pt>
                <c:pt idx="63">
                  <c:v>68</c:v>
                </c:pt>
                <c:pt idx="64">
                  <c:v>48</c:v>
                </c:pt>
                <c:pt idx="65">
                  <c:v>26</c:v>
                </c:pt>
                <c:pt idx="66">
                  <c:v>36</c:v>
                </c:pt>
                <c:pt idx="67">
                  <c:v>33</c:v>
                </c:pt>
                <c:pt idx="68">
                  <c:v>41</c:v>
                </c:pt>
                <c:pt idx="69">
                  <c:v>55</c:v>
                </c:pt>
                <c:pt idx="70">
                  <c:v>82</c:v>
                </c:pt>
                <c:pt idx="71">
                  <c:v>107</c:v>
                </c:pt>
                <c:pt idx="72">
                  <c:v>106</c:v>
                </c:pt>
                <c:pt idx="73">
                  <c:v>85</c:v>
                </c:pt>
                <c:pt idx="74">
                  <c:v>88</c:v>
                </c:pt>
                <c:pt idx="75">
                  <c:v>91</c:v>
                </c:pt>
                <c:pt idx="76">
                  <c:v>78</c:v>
                </c:pt>
                <c:pt idx="77">
                  <c:v>71</c:v>
                </c:pt>
                <c:pt idx="78">
                  <c:v>67</c:v>
                </c:pt>
                <c:pt idx="79">
                  <c:v>55</c:v>
                </c:pt>
                <c:pt idx="80">
                  <c:v>15</c:v>
                </c:pt>
                <c:pt idx="81">
                  <c:v>-33</c:v>
                </c:pt>
                <c:pt idx="82">
                  <c:v>-51</c:v>
                </c:pt>
                <c:pt idx="83">
                  <c:v>-51</c:v>
                </c:pt>
                <c:pt idx="84">
                  <c:v>-13</c:v>
                </c:pt>
                <c:pt idx="85">
                  <c:v>-4</c:v>
                </c:pt>
                <c:pt idx="86">
                  <c:v>13</c:v>
                </c:pt>
                <c:pt idx="87">
                  <c:v>39</c:v>
                </c:pt>
                <c:pt idx="88">
                  <c:v>41</c:v>
                </c:pt>
                <c:pt idx="89">
                  <c:v>12</c:v>
                </c:pt>
                <c:pt idx="90">
                  <c:v>-14</c:v>
                </c:pt>
                <c:pt idx="91">
                  <c:v>-14</c:v>
                </c:pt>
                <c:pt idx="92">
                  <c:v>-21</c:v>
                </c:pt>
                <c:pt idx="93">
                  <c:v>-14</c:v>
                </c:pt>
                <c:pt idx="94">
                  <c:v>-14</c:v>
                </c:pt>
                <c:pt idx="95">
                  <c:v>-16</c:v>
                </c:pt>
                <c:pt idx="96">
                  <c:v>-2</c:v>
                </c:pt>
                <c:pt idx="97">
                  <c:v>-3</c:v>
                </c:pt>
                <c:pt idx="98">
                  <c:v>-23</c:v>
                </c:pt>
                <c:pt idx="99">
                  <c:v>-8</c:v>
                </c:pt>
                <c:pt idx="100">
                  <c:v>-10</c:v>
                </c:pt>
                <c:pt idx="101">
                  <c:v>-3</c:v>
                </c:pt>
                <c:pt idx="102">
                  <c:v>-4</c:v>
                </c:pt>
                <c:pt idx="103">
                  <c:v>-23</c:v>
                </c:pt>
                <c:pt idx="104">
                  <c:v>-25</c:v>
                </c:pt>
                <c:pt idx="105">
                  <c:v>-2</c:v>
                </c:pt>
                <c:pt idx="106">
                  <c:v>19</c:v>
                </c:pt>
                <c:pt idx="107">
                  <c:v>7</c:v>
                </c:pt>
                <c:pt idx="108">
                  <c:v>-1</c:v>
                </c:pt>
                <c:pt idx="109">
                  <c:v>7</c:v>
                </c:pt>
                <c:pt idx="110">
                  <c:v>21</c:v>
                </c:pt>
                <c:pt idx="111">
                  <c:v>-14</c:v>
                </c:pt>
                <c:pt idx="112">
                  <c:v>-22</c:v>
                </c:pt>
                <c:pt idx="113">
                  <c:v>-16</c:v>
                </c:pt>
                <c:pt idx="114">
                  <c:v>-23</c:v>
                </c:pt>
                <c:pt idx="115">
                  <c:v>-6</c:v>
                </c:pt>
                <c:pt idx="116">
                  <c:v>4</c:v>
                </c:pt>
                <c:pt idx="117">
                  <c:v>25</c:v>
                </c:pt>
                <c:pt idx="118">
                  <c:v>20</c:v>
                </c:pt>
                <c:pt idx="119">
                  <c:v>6</c:v>
                </c:pt>
                <c:pt idx="120">
                  <c:v>14</c:v>
                </c:pt>
                <c:pt idx="121">
                  <c:v>17</c:v>
                </c:pt>
                <c:pt idx="122">
                  <c:v>15</c:v>
                </c:pt>
                <c:pt idx="123">
                  <c:v>27</c:v>
                </c:pt>
                <c:pt idx="124">
                  <c:v>24</c:v>
                </c:pt>
                <c:pt idx="125">
                  <c:v>31</c:v>
                </c:pt>
                <c:pt idx="126">
                  <c:v>19</c:v>
                </c:pt>
                <c:pt idx="127">
                  <c:v>11</c:v>
                </c:pt>
                <c:pt idx="128">
                  <c:v>1</c:v>
                </c:pt>
                <c:pt idx="129">
                  <c:v>-11</c:v>
                </c:pt>
                <c:pt idx="130">
                  <c:v>-25</c:v>
                </c:pt>
                <c:pt idx="131">
                  <c:v>-29</c:v>
                </c:pt>
                <c:pt idx="132">
                  <c:v>-31</c:v>
                </c:pt>
                <c:pt idx="133">
                  <c:v>-23</c:v>
                </c:pt>
                <c:pt idx="134">
                  <c:v>-45</c:v>
                </c:pt>
                <c:pt idx="135">
                  <c:v>-65</c:v>
                </c:pt>
                <c:pt idx="136">
                  <c:v>-59</c:v>
                </c:pt>
                <c:pt idx="137">
                  <c:v>-58</c:v>
                </c:pt>
                <c:pt idx="138">
                  <c:v>-25</c:v>
                </c:pt>
                <c:pt idx="139">
                  <c:v>-36</c:v>
                </c:pt>
                <c:pt idx="140">
                  <c:v>-69</c:v>
                </c:pt>
                <c:pt idx="141">
                  <c:v>-33</c:v>
                </c:pt>
                <c:pt idx="142">
                  <c:v>-38</c:v>
                </c:pt>
                <c:pt idx="143">
                  <c:v>-56</c:v>
                </c:pt>
                <c:pt idx="144">
                  <c:v>-30</c:v>
                </c:pt>
                <c:pt idx="145">
                  <c:v>-22</c:v>
                </c:pt>
                <c:pt idx="146">
                  <c:v>-36</c:v>
                </c:pt>
                <c:pt idx="147">
                  <c:v>-16</c:v>
                </c:pt>
                <c:pt idx="148">
                  <c:v>-11</c:v>
                </c:pt>
                <c:pt idx="149">
                  <c:v>3</c:v>
                </c:pt>
                <c:pt idx="150">
                  <c:v>7</c:v>
                </c:pt>
                <c:pt idx="151">
                  <c:v>-5</c:v>
                </c:pt>
                <c:pt idx="152">
                  <c:v>-6</c:v>
                </c:pt>
                <c:pt idx="153">
                  <c:v>-2</c:v>
                </c:pt>
                <c:pt idx="154">
                  <c:v>-12</c:v>
                </c:pt>
                <c:pt idx="155">
                  <c:v>-13</c:v>
                </c:pt>
                <c:pt idx="156">
                  <c:v>-11</c:v>
                </c:pt>
                <c:pt idx="157">
                  <c:v>-11</c:v>
                </c:pt>
                <c:pt idx="158">
                  <c:v>-15</c:v>
                </c:pt>
                <c:pt idx="159">
                  <c:v>5</c:v>
                </c:pt>
                <c:pt idx="160">
                  <c:v>7</c:v>
                </c:pt>
                <c:pt idx="161">
                  <c:v>-5</c:v>
                </c:pt>
                <c:pt idx="162">
                  <c:v>7</c:v>
                </c:pt>
                <c:pt idx="163">
                  <c:v>9</c:v>
                </c:pt>
                <c:pt idx="164">
                  <c:v>10</c:v>
                </c:pt>
                <c:pt idx="165">
                  <c:v>7</c:v>
                </c:pt>
                <c:pt idx="166">
                  <c:v>1</c:v>
                </c:pt>
                <c:pt idx="167">
                  <c:v>-14</c:v>
                </c:pt>
                <c:pt idx="168">
                  <c:v>1</c:v>
                </c:pt>
                <c:pt idx="169">
                  <c:v>19</c:v>
                </c:pt>
                <c:pt idx="170">
                  <c:v>29</c:v>
                </c:pt>
                <c:pt idx="171">
                  <c:v>-4</c:v>
                </c:pt>
                <c:pt idx="172">
                  <c:v>-16</c:v>
                </c:pt>
                <c:pt idx="173">
                  <c:v>-9</c:v>
                </c:pt>
                <c:pt idx="174">
                  <c:v>-13</c:v>
                </c:pt>
                <c:pt idx="175">
                  <c:v>22</c:v>
                </c:pt>
                <c:pt idx="176">
                  <c:v>18</c:v>
                </c:pt>
                <c:pt idx="177">
                  <c:v>27</c:v>
                </c:pt>
                <c:pt idx="178">
                  <c:v>27</c:v>
                </c:pt>
                <c:pt idx="179">
                  <c:v>-3</c:v>
                </c:pt>
                <c:pt idx="180">
                  <c:v>10</c:v>
                </c:pt>
                <c:pt idx="181">
                  <c:v>31</c:v>
                </c:pt>
                <c:pt idx="182">
                  <c:v>23</c:v>
                </c:pt>
                <c:pt idx="183">
                  <c:v>-1</c:v>
                </c:pt>
                <c:pt idx="184">
                  <c:v>-3</c:v>
                </c:pt>
                <c:pt idx="185">
                  <c:v>-12</c:v>
                </c:pt>
                <c:pt idx="186">
                  <c:v>11</c:v>
                </c:pt>
                <c:pt idx="187">
                  <c:v>24</c:v>
                </c:pt>
                <c:pt idx="188">
                  <c:v>20</c:v>
                </c:pt>
                <c:pt idx="189">
                  <c:v>22</c:v>
                </c:pt>
                <c:pt idx="190">
                  <c:v>-1</c:v>
                </c:pt>
                <c:pt idx="191">
                  <c:v>-10</c:v>
                </c:pt>
                <c:pt idx="192">
                  <c:v>4</c:v>
                </c:pt>
                <c:pt idx="193">
                  <c:v>7</c:v>
                </c:pt>
                <c:pt idx="194">
                  <c:v>1</c:v>
                </c:pt>
                <c:pt idx="195">
                  <c:v>-16</c:v>
                </c:pt>
                <c:pt idx="196">
                  <c:v>-10</c:v>
                </c:pt>
                <c:pt idx="197">
                  <c:v>3</c:v>
                </c:pt>
                <c:pt idx="198">
                  <c:v>1</c:v>
                </c:pt>
                <c:pt idx="199">
                  <c:v>-2</c:v>
                </c:pt>
                <c:pt idx="200">
                  <c:v>5</c:v>
                </c:pt>
                <c:pt idx="201">
                  <c:v>-8</c:v>
                </c:pt>
                <c:pt idx="202">
                  <c:v>-25</c:v>
                </c:pt>
                <c:pt idx="203">
                  <c:v>-33</c:v>
                </c:pt>
                <c:pt idx="204">
                  <c:v>-20</c:v>
                </c:pt>
                <c:pt idx="205">
                  <c:v>-6</c:v>
                </c:pt>
                <c:pt idx="206">
                  <c:v>-6</c:v>
                </c:pt>
                <c:pt idx="207">
                  <c:v>-13</c:v>
                </c:pt>
                <c:pt idx="208">
                  <c:v>-31</c:v>
                </c:pt>
                <c:pt idx="209">
                  <c:v>-39</c:v>
                </c:pt>
                <c:pt idx="210">
                  <c:v>-29</c:v>
                </c:pt>
                <c:pt idx="211">
                  <c:v>-12</c:v>
                </c:pt>
                <c:pt idx="212">
                  <c:v>-15</c:v>
                </c:pt>
                <c:pt idx="213">
                  <c:v>-8</c:v>
                </c:pt>
                <c:pt idx="214">
                  <c:v>-12</c:v>
                </c:pt>
                <c:pt idx="215">
                  <c:v>-2</c:v>
                </c:pt>
                <c:pt idx="216">
                  <c:v>23</c:v>
                </c:pt>
                <c:pt idx="217">
                  <c:v>2</c:v>
                </c:pt>
                <c:pt idx="218">
                  <c:v>7</c:v>
                </c:pt>
                <c:pt idx="219">
                  <c:v>8</c:v>
                </c:pt>
                <c:pt idx="220">
                  <c:v>13</c:v>
                </c:pt>
                <c:pt idx="221">
                  <c:v>-2</c:v>
                </c:pt>
                <c:pt idx="222">
                  <c:v>17</c:v>
                </c:pt>
                <c:pt idx="223">
                  <c:v>18</c:v>
                </c:pt>
                <c:pt idx="224">
                  <c:v>3</c:v>
                </c:pt>
                <c:pt idx="225">
                  <c:v>-10</c:v>
                </c:pt>
                <c:pt idx="226">
                  <c:v>-27</c:v>
                </c:pt>
                <c:pt idx="227">
                  <c:v>-51</c:v>
                </c:pt>
                <c:pt idx="228">
                  <c:v>-50</c:v>
                </c:pt>
                <c:pt idx="229">
                  <c:v>-24</c:v>
                </c:pt>
                <c:pt idx="230">
                  <c:v>-30</c:v>
                </c:pt>
                <c:pt idx="231">
                  <c:v>-26</c:v>
                </c:pt>
                <c:pt idx="232">
                  <c:v>-33</c:v>
                </c:pt>
                <c:pt idx="233">
                  <c:v>-23</c:v>
                </c:pt>
                <c:pt idx="234">
                  <c:v>-11</c:v>
                </c:pt>
                <c:pt idx="235">
                  <c:v>4</c:v>
                </c:pt>
                <c:pt idx="236">
                  <c:v>20</c:v>
                </c:pt>
                <c:pt idx="237">
                  <c:v>39</c:v>
                </c:pt>
                <c:pt idx="238">
                  <c:v>69</c:v>
                </c:pt>
                <c:pt idx="239">
                  <c:v>85</c:v>
                </c:pt>
                <c:pt idx="240">
                  <c:v>67</c:v>
                </c:pt>
                <c:pt idx="241">
                  <c:v>20</c:v>
                </c:pt>
                <c:pt idx="242">
                  <c:v>0</c:v>
                </c:pt>
                <c:pt idx="243">
                  <c:v>-4</c:v>
                </c:pt>
                <c:pt idx="244">
                  <c:v>-15</c:v>
                </c:pt>
                <c:pt idx="245">
                  <c:v>-34</c:v>
                </c:pt>
                <c:pt idx="246">
                  <c:v>-36</c:v>
                </c:pt>
                <c:pt idx="247">
                  <c:v>-44</c:v>
                </c:pt>
                <c:pt idx="248">
                  <c:v>-35</c:v>
                </c:pt>
                <c:pt idx="249">
                  <c:v>-58</c:v>
                </c:pt>
                <c:pt idx="250">
                  <c:v>-86</c:v>
                </c:pt>
                <c:pt idx="251">
                  <c:v>-50</c:v>
                </c:pt>
                <c:pt idx="252">
                  <c:v>-51</c:v>
                </c:pt>
                <c:pt idx="253">
                  <c:v>-52</c:v>
                </c:pt>
                <c:pt idx="254">
                  <c:v>-61</c:v>
                </c:pt>
                <c:pt idx="255">
                  <c:v>-58</c:v>
                </c:pt>
                <c:pt idx="256">
                  <c:v>-65</c:v>
                </c:pt>
                <c:pt idx="257">
                  <c:v>-83</c:v>
                </c:pt>
                <c:pt idx="258">
                  <c:v>-63</c:v>
                </c:pt>
                <c:pt idx="259">
                  <c:v>-53</c:v>
                </c:pt>
                <c:pt idx="260">
                  <c:v>-62</c:v>
                </c:pt>
                <c:pt idx="261">
                  <c:v>-52</c:v>
                </c:pt>
                <c:pt idx="262">
                  <c:v>-40</c:v>
                </c:pt>
                <c:pt idx="263">
                  <c:v>-23</c:v>
                </c:pt>
                <c:pt idx="264">
                  <c:v>-43</c:v>
                </c:pt>
                <c:pt idx="265">
                  <c:v>-63</c:v>
                </c:pt>
                <c:pt idx="266">
                  <c:v>-64</c:v>
                </c:pt>
                <c:pt idx="267">
                  <c:v>-53</c:v>
                </c:pt>
                <c:pt idx="268">
                  <c:v>-54</c:v>
                </c:pt>
                <c:pt idx="269">
                  <c:v>-72</c:v>
                </c:pt>
                <c:pt idx="270">
                  <c:v>-65</c:v>
                </c:pt>
                <c:pt idx="271">
                  <c:v>-25</c:v>
                </c:pt>
                <c:pt idx="272">
                  <c:v>-7</c:v>
                </c:pt>
                <c:pt idx="273">
                  <c:v>17</c:v>
                </c:pt>
                <c:pt idx="274">
                  <c:v>15</c:v>
                </c:pt>
                <c:pt idx="275">
                  <c:v>14</c:v>
                </c:pt>
                <c:pt idx="276">
                  <c:v>7</c:v>
                </c:pt>
                <c:pt idx="277">
                  <c:v>21</c:v>
                </c:pt>
                <c:pt idx="278">
                  <c:v>26</c:v>
                </c:pt>
                <c:pt idx="279">
                  <c:v>22</c:v>
                </c:pt>
                <c:pt idx="280">
                  <c:v>14</c:v>
                </c:pt>
                <c:pt idx="281">
                  <c:v>-3</c:v>
                </c:pt>
                <c:pt idx="282">
                  <c:v>2</c:v>
                </c:pt>
                <c:pt idx="283">
                  <c:v>15</c:v>
                </c:pt>
                <c:pt idx="284">
                  <c:v>6</c:v>
                </c:pt>
                <c:pt idx="285">
                  <c:v>10</c:v>
                </c:pt>
                <c:pt idx="286">
                  <c:v>13</c:v>
                </c:pt>
                <c:pt idx="287">
                  <c:v>23</c:v>
                </c:pt>
                <c:pt idx="288">
                  <c:v>47</c:v>
                </c:pt>
                <c:pt idx="289">
                  <c:v>48</c:v>
                </c:pt>
                <c:pt idx="290">
                  <c:v>46</c:v>
                </c:pt>
                <c:pt idx="291">
                  <c:v>39</c:v>
                </c:pt>
                <c:pt idx="292">
                  <c:v>2</c:v>
                </c:pt>
                <c:pt idx="293">
                  <c:v>31</c:v>
                </c:pt>
                <c:pt idx="294">
                  <c:v>36</c:v>
                </c:pt>
                <c:pt idx="295">
                  <c:v>18</c:v>
                </c:pt>
                <c:pt idx="296">
                  <c:v>-17</c:v>
                </c:pt>
                <c:pt idx="297">
                  <c:v>-35</c:v>
                </c:pt>
                <c:pt idx="298">
                  <c:v>-34</c:v>
                </c:pt>
                <c:pt idx="299">
                  <c:v>-43</c:v>
                </c:pt>
                <c:pt idx="300">
                  <c:v>-15</c:v>
                </c:pt>
                <c:pt idx="301">
                  <c:v>-18</c:v>
                </c:pt>
                <c:pt idx="302">
                  <c:v>-13</c:v>
                </c:pt>
                <c:pt idx="303">
                  <c:v>-10</c:v>
                </c:pt>
                <c:pt idx="304">
                  <c:v>-44</c:v>
                </c:pt>
                <c:pt idx="305">
                  <c:v>-48</c:v>
                </c:pt>
                <c:pt idx="306">
                  <c:v>-60</c:v>
                </c:pt>
                <c:pt idx="307">
                  <c:v>-77</c:v>
                </c:pt>
                <c:pt idx="308">
                  <c:v>-86</c:v>
                </c:pt>
                <c:pt idx="309">
                  <c:v>-88</c:v>
                </c:pt>
                <c:pt idx="310">
                  <c:v>-63</c:v>
                </c:pt>
                <c:pt idx="311">
                  <c:v>-76</c:v>
                </c:pt>
                <c:pt idx="312">
                  <c:v>-76</c:v>
                </c:pt>
                <c:pt idx="313">
                  <c:v>-61</c:v>
                </c:pt>
                <c:pt idx="314">
                  <c:v>-75</c:v>
                </c:pt>
                <c:pt idx="315">
                  <c:v>-86</c:v>
                </c:pt>
                <c:pt idx="316">
                  <c:v>-92</c:v>
                </c:pt>
                <c:pt idx="317">
                  <c:v>-117</c:v>
                </c:pt>
                <c:pt idx="318">
                  <c:v>-108</c:v>
                </c:pt>
                <c:pt idx="319">
                  <c:v>-125</c:v>
                </c:pt>
              </c:numCache>
            </c:numRef>
          </c:yVal>
        </c:ser>
        <c:dLbls>
          <c:txPr>
            <a:bodyPr xmlns:a="http://schemas.openxmlformats.org/drawingml/2006/main" anchorCtr="1"/>
            <a:lstStyle xmlns:a="http://schemas.openxmlformats.org/drawingml/2006/main"/>
            <a:p xmlns:a="http://schemas.openxmlformats.org/drawingml/2006/main">
              <a:pPr>
                <a:defRPr>
                  <a:latin typeface="Source Sans 3"/>
                  <a:ea typeface="Source Sans 3"/>
                  <a:cs typeface="Source Sans 3"/>
                </a:defRPr>
              </a:pPr>
            </a:p>
          </c:txPr>
          <c:showLegendKey val="0"/>
          <c:showVal val="0"/>
          <c:showCatName val="0"/>
          <c:showSerName val="0"/>
          <c:showPercent val="0"/>
          <c:showBubbleSize val="0"/>
          <c:showLeaderLines val="0"/>
        </c:dLbls>
        <c:axId val="48650112"/>
        <c:axId val="48672768"/>
      </c:scatterChart>
      <c:valAx>
        <c:axId val="48672768"/>
        <c:scaling>
          <c:orientation val="minMax"/>
          <c:max val="130"/>
          <c:min val="-130"/>
        </c:scaling>
        <c:delete val="0"/>
        <c:axPos val="l"/>
        <c:majorGridlines>
          <c:spPr>
            <a:ln xmlns:a="http://schemas.openxmlformats.org/drawingml/2006/main" w="5715">
              <a:solidFill>
                <a:srgbClr val="CFD6CB"/>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5B6861"/>
                </a:solidFill>
                <a:latin typeface="Source Sans 3"/>
                <a:ea typeface="Source Sans 3"/>
                <a:cs typeface="Source Sans 3"/>
              </a:defRPr>
            </a:pPr>
          </a:p>
        </c:txPr>
        <c:crossAx val="48650112"/>
        <c:majorUnit val="130"/>
      </c:valAx>
      <c:valAx>
        <c:axId val="48650112"/>
        <c:scaling>
          <c:orientation val="minMax"/>
          <c:max val="2"/>
          <c:min val="0"/>
        </c:scaling>
        <c:delete val="0"/>
        <c:axPos val="b"/>
        <c:numFmt formatCode="0&quot; s&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5B6861"/>
                </a:solidFill>
                <a:latin typeface="Source Sans 3"/>
                <a:ea typeface="Source Sans 3"/>
                <a:cs typeface="Source Sans 3"/>
              </a:defRPr>
            </a:pPr>
          </a:p>
        </c:txPr>
        <c:crossAx val="48672768"/>
        <c:majorUnit val="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8c94200bdf74dcb">
            <a:extLst>
              <a:ext uri="{96DAC541-7B7A-43D3-8B79-37D633B846F1}">
                <asvg:svgBlip xmlns:asvg="http://schemas.microsoft.com/office/drawing/2016/SVG/main" r:embed="R567a0621cf2142f2"/>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E01C44F-49CC-4BEC-AA16-695817C8ABCA}"/>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D2517318-EFFA-46B1-87D3-89518BE0F927}"/>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MongoDB × Cerebral Valley</a:t>
            </a:r>
          </a:p>
        </p:txBody>
      </p:sp>
      <p:sp>
        <p:nvSpPr>
          <p:cNvPr id="4" name="">
            <a:extLst xmlns:a="http://schemas.openxmlformats.org/drawingml/2006/main">
              <a:ext uri="{FF2B5EF4-FFF2-40B4-BE49-F238E27FC236}">
                <a16:creationId xmlns:a16="http://schemas.microsoft.com/office/drawing/2014/main" id="{D54021C7-0BD4-40D5-A75B-2C9B052A79D6}"/>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F82C40ED-7EC5-41A8-9E9C-A302A341CC88}"/>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97D4C79D-E339-4C0B-88C6-285E4FBAC413}"/>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01 / 06</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9904b6321aa4819"/>
          <a:stretch xmlns:a="http://schemas.openxmlformats.org/drawingml/2006/main"/>
        </p:blipFill>
        <p:spPr>
          <a:xfrm xmlns:a="http://schemas.openxmlformats.org/drawingml/2006/main">
            <a:off x="6108700" y="857250"/>
            <a:ext cx="5397500" cy="5397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AAA8514-31A2-4D22-89A8-EE898EDF07C6}"/>
              </a:ext>
            </a:extLst>
          </p:cNvPr>
          <p:cNvSpPr>
            <a:spLocks xmlns:a="http://schemas.openxmlformats.org/drawingml/2006/main" noGrp="1"/>
          </p:cNvSpPr>
          <p:nvPr/>
        </p:nvSpPr>
        <p:spPr>
          <a:xfrm xmlns:a="http://schemas.openxmlformats.org/drawingml/2006/main">
            <a:off x="609600" y="1524000"/>
            <a:ext cx="5143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50" b="1">
                <a:solidFill>
                  <a:srgbClr val="006D46"/>
                </a:solidFill>
                <a:latin typeface="Source Sans 3"/>
                <a:ea typeface="Source Sans 3"/>
                <a:cs typeface="Source Sans 3"/>
              </a:defRPr>
            </a:pPr>
            <a:r>
              <a:rPr sz="1250" b="1">
                <a:solidFill>
                  <a:srgbClr val="006D46"/>
                </a:solidFill>
                <a:latin typeface="Source Sans 3"/>
                <a:ea typeface="Source Sans 3"/>
                <a:cs typeface="Source Sans 3"/>
              </a:rPr>
              <a:t>AUTONOMOUS NEUROSCIENCE RESEARCH</a:t>
            </a:r>
          </a:p>
        </p:txBody>
      </p:sp>
      <p:sp>
        <p:nvSpPr>
          <p:cNvPr id="9" name="">
            <a:extLst xmlns:a="http://schemas.openxmlformats.org/drawingml/2006/main">
              <a:ext uri="{FF2B5EF4-FFF2-40B4-BE49-F238E27FC236}">
                <a16:creationId xmlns:a16="http://schemas.microsoft.com/office/drawing/2014/main" id="{6190ACE4-1783-47A1-BF7C-B74BE99C0E76}"/>
              </a:ext>
            </a:extLst>
          </p:cNvPr>
          <p:cNvSpPr>
            <a:spLocks xmlns:a="http://schemas.openxmlformats.org/drawingml/2006/main" noGrp="1"/>
          </p:cNvSpPr>
          <p:nvPr/>
        </p:nvSpPr>
        <p:spPr>
          <a:xfrm xmlns:a="http://schemas.openxmlformats.org/drawingml/2006/main">
            <a:off x="565150" y="1936750"/>
            <a:ext cx="53340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800" b="0">
                <a:solidFill>
                  <a:srgbClr val="1A2924"/>
                </a:solidFill>
                <a:latin typeface="Space Grotesk"/>
                <a:ea typeface="Space Grotesk"/>
                <a:cs typeface="Space Grotesk"/>
              </a:defRPr>
            </a:pPr>
            <a:r>
              <a:rPr sz="8800" b="0">
                <a:solidFill>
                  <a:srgbClr val="1A2924"/>
                </a:solidFill>
                <a:latin typeface="Space Grotesk"/>
                <a:ea typeface="Space Grotesk"/>
                <a:cs typeface="Space Grotesk"/>
              </a:rPr>
              <a:t>Second</a:t>
            </a:r>
          </a:p>
        </p:txBody>
      </p:sp>
      <p:sp>
        <p:nvSpPr>
          <p:cNvPr id="10" name="">
            <a:extLst xmlns:a="http://schemas.openxmlformats.org/drawingml/2006/main">
              <a:ext uri="{FF2B5EF4-FFF2-40B4-BE49-F238E27FC236}">
                <a16:creationId xmlns:a16="http://schemas.microsoft.com/office/drawing/2014/main" id="{4373FCB9-8F58-4FC1-A7D1-4BED69E82900}"/>
              </a:ext>
            </a:extLst>
          </p:cNvPr>
          <p:cNvSpPr>
            <a:spLocks xmlns:a="http://schemas.openxmlformats.org/drawingml/2006/main" noGrp="1"/>
          </p:cNvSpPr>
          <p:nvPr/>
        </p:nvSpPr>
        <p:spPr>
          <a:xfrm xmlns:a="http://schemas.openxmlformats.org/drawingml/2006/main">
            <a:off x="565150" y="3028950"/>
            <a:ext cx="48895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800" b="0">
                <a:solidFill>
                  <a:srgbClr val="1A2924"/>
                </a:solidFill>
                <a:latin typeface="Space Grotesk"/>
                <a:ea typeface="Space Grotesk"/>
                <a:cs typeface="Space Grotesk"/>
              </a:defRPr>
            </a:pPr>
            <a:r>
              <a:rPr sz="8800" b="0">
                <a:solidFill>
                  <a:srgbClr val="1A2924"/>
                </a:solidFill>
                <a:latin typeface="Space Grotesk"/>
                <a:ea typeface="Space Grotesk"/>
                <a:cs typeface="Space Grotesk"/>
              </a:rPr>
              <a:t>Shift</a:t>
            </a:r>
          </a:p>
        </p:txBody>
      </p:sp>
      <p:sp>
        <p:nvSpPr>
          <p:cNvPr id="11" name="">
            <a:extLst xmlns:a="http://schemas.openxmlformats.org/drawingml/2006/main">
              <a:ext uri="{FF2B5EF4-FFF2-40B4-BE49-F238E27FC236}">
                <a16:creationId xmlns:a16="http://schemas.microsoft.com/office/drawing/2014/main" id="{43F95DF2-4E8A-462E-A0BE-390E739B5DE2}"/>
              </a:ext>
            </a:extLst>
          </p:cNvPr>
          <p:cNvSpPr>
            <a:spLocks xmlns:a="http://schemas.openxmlformats.org/drawingml/2006/main" noGrp="1"/>
          </p:cNvSpPr>
          <p:nvPr/>
        </p:nvSpPr>
        <p:spPr>
          <a:xfrm xmlns:a="http://schemas.openxmlformats.org/drawingml/2006/main">
            <a:off x="622300" y="4508500"/>
            <a:ext cx="488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50" b="0">
                <a:solidFill>
                  <a:srgbClr val="1A2924"/>
                </a:solidFill>
                <a:latin typeface="Source Sans 3"/>
                <a:ea typeface="Source Sans 3"/>
                <a:cs typeface="Source Sans 3"/>
              </a:defRPr>
            </a:pPr>
            <a:r>
              <a:rPr sz="2450" b="0">
                <a:solidFill>
                  <a:srgbClr val="1A2924"/>
                </a:solidFill>
                <a:latin typeface="Source Sans 3"/>
                <a:ea typeface="Source Sans 3"/>
                <a:cs typeface="Source Sans 3"/>
              </a:rPr>
              <a:t>An autonomous research assistant</a:t>
            </a:r>
          </a:p>
          <a:p xmlns:a="http://schemas.openxmlformats.org/drawingml/2006/main">
            <a:pPr algn="l">
              <a:defRPr sz="2450" b="0">
                <a:solidFill>
                  <a:srgbClr val="1A2924"/>
                </a:solidFill>
                <a:latin typeface="Source Sans 3"/>
                <a:ea typeface="Source Sans 3"/>
                <a:cs typeface="Source Sans 3"/>
              </a:defRPr>
            </a:pPr>
            <a:r>
              <a:rPr sz="2450" b="0">
                <a:solidFill>
                  <a:srgbClr val="1A2924"/>
                </a:solidFill>
                <a:latin typeface="Source Sans 3"/>
                <a:ea typeface="Source Sans 3"/>
                <a:cs typeface="Source Sans 3"/>
              </a:rPr>
              <a:t>for brain signals.</a:t>
            </a:r>
          </a:p>
        </p:txBody>
      </p:sp>
      <p:sp>
        <p:nvSpPr>
          <p:cNvPr id="12" name="">
            <a:extLst xmlns:a="http://schemas.openxmlformats.org/drawingml/2006/main">
              <a:ext uri="{FF2B5EF4-FFF2-40B4-BE49-F238E27FC236}">
                <a16:creationId xmlns:a16="http://schemas.microsoft.com/office/drawing/2014/main" id="{FCDD256D-97EB-4BD9-81EA-B6028A597C89}"/>
              </a:ext>
            </a:extLst>
          </p:cNvPr>
          <p:cNvSpPr>
            <a:spLocks xmlns:a="http://schemas.openxmlformats.org/drawingml/2006/main" noGrp="1"/>
          </p:cNvSpPr>
          <p:nvPr/>
        </p:nvSpPr>
        <p:spPr>
          <a:xfrm xmlns:a="http://schemas.openxmlformats.org/drawingml/2006/main">
            <a:off x="622300" y="5803900"/>
            <a:ext cx="4953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5B6861"/>
                </a:solidFill>
                <a:latin typeface="Source Sans 3"/>
                <a:ea typeface="Source Sans 3"/>
                <a:cs typeface="Source Sans 3"/>
              </a:defRPr>
            </a:pPr>
            <a:r>
              <a:rPr sz="1300" b="0">
                <a:solidFill>
                  <a:srgbClr val="5B6861"/>
                </a:solidFill>
                <a:latin typeface="Source Sans 3"/>
                <a:ea typeface="Source Sans 3"/>
                <a:cs typeface="Source Sans 3"/>
              </a:rPr>
              <a:t>Andrew Shatsky and David Shatsky</a:t>
            </a:r>
          </a:p>
        </p:txBody>
      </p:sp>
    </p:spTree>
    <p:extLst>
      <p:ext uri="{BB962C8B-B14F-4D97-AF65-F5344CB8AC3E}">
        <p14:creationId xmlns:p14="http://schemas.microsoft.com/office/powerpoint/2010/main" val="2126918346"/>
      </p:ext>
    </p:extLst>
  </p:cSld>
</p:sld>
</file>

<file path=ppt/slides/slide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823c73f08a74e3d">
            <a:extLst>
              <a:ext uri="{96DAC541-7B7A-43D3-8B79-37D633B846F1}">
                <asvg:svgBlip xmlns:asvg="http://schemas.microsoft.com/office/drawing/2016/SVG/main" r:embed="R30a6be0e9e9e4a5c"/>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EAB120-3DE2-45C0-92F2-08447B769925}"/>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832A6DC4-5B5B-4C0F-88A4-3A8012750A72}"/>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The research question</a:t>
            </a:r>
          </a:p>
        </p:txBody>
      </p:sp>
      <p:sp>
        <p:nvSpPr>
          <p:cNvPr id="4" name="">
            <a:extLst xmlns:a="http://schemas.openxmlformats.org/drawingml/2006/main">
              <a:ext uri="{FF2B5EF4-FFF2-40B4-BE49-F238E27FC236}">
                <a16:creationId xmlns:a16="http://schemas.microsoft.com/office/drawing/2014/main" id="{8DDA210B-B582-4340-A9FE-16AB3D9E3770}"/>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36416B0E-13D9-4D76-BA31-78A6017EE379}"/>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29A56AB1-5B48-471A-8578-C4D60AFC4828}"/>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02 / 06</a:t>
            </a:r>
          </a:p>
        </p:txBody>
      </p:sp>
      <p:sp>
        <p:nvSpPr>
          <p:cNvPr id="7" name="">
            <a:extLst xmlns:a="http://schemas.openxmlformats.org/drawingml/2006/main">
              <a:ext uri="{FF2B5EF4-FFF2-40B4-BE49-F238E27FC236}">
                <a16:creationId xmlns:a16="http://schemas.microsoft.com/office/drawing/2014/main" id="{C5F20E57-E7F3-49FC-9BDB-6483444BE465}"/>
              </a:ext>
            </a:extLst>
          </p:cNvPr>
          <p:cNvSpPr>
            <a:spLocks xmlns:a="http://schemas.openxmlformats.org/drawingml/2006/main" noGrp="1"/>
          </p:cNvSpPr>
          <p:nvPr/>
        </p:nvSpPr>
        <p:spPr>
          <a:xfrm xmlns:a="http://schemas.openxmlformats.org/drawingml/2006/main">
            <a:off x="609600" y="984250"/>
            <a:ext cx="9080500" cy="153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300" b="0">
                <a:solidFill>
                  <a:srgbClr val="1A2924"/>
                </a:solidFill>
                <a:latin typeface="Space Grotesk"/>
                <a:ea typeface="Space Grotesk"/>
                <a:cs typeface="Space Grotesk"/>
              </a:defRPr>
            </a:pPr>
            <a:r>
              <a:rPr sz="5300" b="0">
                <a:solidFill>
                  <a:srgbClr val="1A2924"/>
                </a:solidFill>
                <a:latin typeface="Space Grotesk"/>
                <a:ea typeface="Space Grotesk"/>
                <a:cs typeface="Space Grotesk"/>
              </a:rPr>
              <a:t>Finding patterns in</a:t>
            </a:r>
          </a:p>
          <a:p xmlns:a="http://schemas.openxmlformats.org/drawingml/2006/main">
            <a:pPr algn="l">
              <a:defRPr sz="5300" b="0">
                <a:solidFill>
                  <a:srgbClr val="1A2924"/>
                </a:solidFill>
                <a:latin typeface="Space Grotesk"/>
                <a:ea typeface="Space Grotesk"/>
                <a:cs typeface="Space Grotesk"/>
              </a:defRPr>
            </a:pPr>
            <a:r>
              <a:rPr sz="5300" b="0">
                <a:solidFill>
                  <a:srgbClr val="1A2924"/>
                </a:solidFill>
                <a:latin typeface="Space Grotesk"/>
                <a:ea typeface="Space Grotesk"/>
                <a:cs typeface="Space Grotesk"/>
              </a:rPr>
              <a:t>brain signals</a:t>
            </a:r>
          </a:p>
        </p:txBody>
      </p:sp>
      <p:sp>
        <p:nvSpPr>
          <p:cNvPr id="8" name="">
            <a:extLst xmlns:a="http://schemas.openxmlformats.org/drawingml/2006/main">
              <a:ext uri="{FF2B5EF4-FFF2-40B4-BE49-F238E27FC236}">
                <a16:creationId xmlns:a16="http://schemas.microsoft.com/office/drawing/2014/main" id="{04D8236F-9A63-4E11-AF87-BBAF5EA6DD9D}"/>
              </a:ext>
            </a:extLst>
          </p:cNvPr>
          <p:cNvSpPr>
            <a:spLocks xmlns:a="http://schemas.openxmlformats.org/drawingml/2006/main" noGrp="1"/>
          </p:cNvSpPr>
          <p:nvPr/>
        </p:nvSpPr>
        <p:spPr>
          <a:xfrm xmlns:a="http://schemas.openxmlformats.org/drawingml/2006/main">
            <a:off x="622300" y="2667000"/>
            <a:ext cx="768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50" b="1">
                <a:solidFill>
                  <a:srgbClr val="1A2924"/>
                </a:solidFill>
                <a:latin typeface="Source Sans 3"/>
                <a:ea typeface="Source Sans 3"/>
                <a:cs typeface="Source Sans 3"/>
              </a:defRPr>
            </a:pPr>
            <a:r>
              <a:rPr sz="2650" b="1">
                <a:solidFill>
                  <a:srgbClr val="1A2924"/>
                </a:solidFill>
                <a:latin typeface="Source Sans 3"/>
                <a:ea typeface="Source Sans 3"/>
                <a:cs typeface="Source Sans 3"/>
              </a:rPr>
              <a:t>Imagined fists or imagined feet?</a:t>
            </a:r>
          </a:p>
        </p:txBody>
      </p:sp>
      <p:sp>
        <p:nvSpPr>
          <p:cNvPr id="9" name="">
            <a:extLst xmlns:a="http://schemas.openxmlformats.org/drawingml/2006/main">
              <a:ext uri="{FF2B5EF4-FFF2-40B4-BE49-F238E27FC236}">
                <a16:creationId xmlns:a16="http://schemas.microsoft.com/office/drawing/2014/main" id="{14FC6971-5292-4C0E-8807-03BC41E24056}"/>
              </a:ext>
            </a:extLst>
          </p:cNvPr>
          <p:cNvSpPr>
            <a:spLocks xmlns:a="http://schemas.openxmlformats.org/drawingml/2006/main" noGrp="1"/>
          </p:cNvSpPr>
          <p:nvPr/>
        </p:nvSpPr>
        <p:spPr>
          <a:xfrm xmlns:a="http://schemas.openxmlformats.org/drawingml/2006/main">
            <a:off x="622300" y="31940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861"/>
                </a:solidFill>
                <a:latin typeface="Source Sans 3"/>
                <a:ea typeface="Source Sans 3"/>
                <a:cs typeface="Source Sans 3"/>
              </a:defRPr>
            </a:pPr>
            <a:r>
              <a:rPr sz="1650" b="0">
                <a:solidFill>
                  <a:srgbClr val="5B6861"/>
                </a:solidFill>
                <a:latin typeface="Source Sans 3"/>
                <a:ea typeface="Source Sans 3"/>
                <a:cs typeface="Source Sans 3"/>
              </a:rPr>
              <a:t>Electrical activity recorded from the scalp</a:t>
            </a:r>
          </a:p>
        </p:txBody>
      </p:sp>
      <p:graphicFrame>
        <p:nvGraphicFramePr>
          <p:cNvPr id="25" name="Chart"/>
          <p:cNvGraphicFramePr/>
          <p:nvPr/>
        </p:nvGraphicFramePr>
        <p:xfrm>
          <a:off xmlns:a="http://schemas.openxmlformats.org/drawingml/2006/main" x="609600" y="3924300"/>
          <a:ext xmlns:a="http://schemas.openxmlformats.org/drawingml/2006/main" cx="6604000" cy="1428750"/>
        </p:xfrm>
        <a:graphic xmlns:a="http://schemas.openxmlformats.org/drawingml/2006/main">
          <a:graphicData uri="http://schemas.openxmlformats.org/drawingml/2006/chart">
            <c:chart xmlns:r="http://schemas.openxmlformats.org/officeDocument/2006/relationships" xmlns:c="http://schemas.openxmlformats.org/drawingml/2006/chart" r:id="R34c6fb714bdf4b4c"/>
          </a:graphicData>
        </a:graphic>
      </p:graphicFrame>
      <p:sp>
        <p:nvSpPr>
          <p:cNvPr id="11" name="">
            <a:extLst xmlns:a="http://schemas.openxmlformats.org/drawingml/2006/main">
              <a:ext uri="{FF2B5EF4-FFF2-40B4-BE49-F238E27FC236}">
                <a16:creationId xmlns:a16="http://schemas.microsoft.com/office/drawing/2014/main" id="{EF9EA614-B813-4BAC-AEF6-DE2937A3B4F1}"/>
              </a:ext>
            </a:extLst>
          </p:cNvPr>
          <p:cNvSpPr>
            <a:spLocks xmlns:a="http://schemas.openxmlformats.org/drawingml/2006/main" noGrp="1"/>
          </p:cNvSpPr>
          <p:nvPr/>
        </p:nvSpPr>
        <p:spPr>
          <a:xfrm xmlns:a="http://schemas.openxmlformats.org/drawingml/2006/main">
            <a:off x="622300" y="5524500"/>
            <a:ext cx="6667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B6861"/>
                </a:solidFill>
                <a:latin typeface="Source Sans 3"/>
                <a:ea typeface="Source Sans 3"/>
                <a:cs typeface="Source Sans 3"/>
              </a:defRPr>
            </a:pPr>
            <a:r>
              <a:rPr sz="1350" b="0">
                <a:solidFill>
                  <a:srgbClr val="5B6861"/>
                </a:solidFill>
                <a:latin typeface="Source Sans 3"/>
                <a:ea typeface="Source Sans 3"/>
                <a:cs typeface="Source Sans 3"/>
              </a:rPr>
              <a:t>Real EEG excerpt · C3 · amplitude in µV</a:t>
            </a:r>
          </a:p>
        </p:txBody>
      </p:sp>
      <p:sp>
        <p:nvSpPr>
          <p:cNvPr id="12" name="">
            <a:extLst xmlns:a="http://schemas.openxmlformats.org/drawingml/2006/main">
              <a:ext uri="{FF2B5EF4-FFF2-40B4-BE49-F238E27FC236}">
                <a16:creationId xmlns:a16="http://schemas.microsoft.com/office/drawing/2014/main" id="{BA48BDD6-EB8B-4C33-8274-BF94947385B4}"/>
              </a:ext>
            </a:extLst>
          </p:cNvPr>
          <p:cNvSpPr>
            <a:spLocks xmlns:a="http://schemas.openxmlformats.org/drawingml/2006/main" noGrp="1"/>
          </p:cNvSpPr>
          <p:nvPr/>
        </p:nvSpPr>
        <p:spPr>
          <a:xfrm xmlns:a="http://schemas.openxmlformats.org/drawingml/2006/main">
            <a:off x="7759700" y="2901950"/>
            <a:ext cx="37973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13" name="">
            <a:extLst xmlns:a="http://schemas.openxmlformats.org/drawingml/2006/main">
              <a:ext uri="{FF2B5EF4-FFF2-40B4-BE49-F238E27FC236}">
                <a16:creationId xmlns:a16="http://schemas.microsoft.com/office/drawing/2014/main" id="{7D94E825-3BB8-45A0-84D9-C8263A436624}"/>
              </a:ext>
            </a:extLst>
          </p:cNvPr>
          <p:cNvSpPr>
            <a:spLocks xmlns:a="http://schemas.openxmlformats.org/drawingml/2006/main" noGrp="1"/>
          </p:cNvSpPr>
          <p:nvPr/>
        </p:nvSpPr>
        <p:spPr>
          <a:xfrm xmlns:a="http://schemas.openxmlformats.org/drawingml/2006/main">
            <a:off x="7785100" y="3194050"/>
            <a:ext cx="3683000" cy="1308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500" b="0">
                <a:solidFill>
                  <a:srgbClr val="006D46"/>
                </a:solidFill>
                <a:latin typeface="Space Grotesk"/>
                <a:ea typeface="Space Grotesk"/>
                <a:cs typeface="Space Grotesk"/>
              </a:defRPr>
            </a:pPr>
            <a:r>
              <a:rPr sz="8500" b="0">
                <a:solidFill>
                  <a:srgbClr val="006D46"/>
                </a:solidFill>
                <a:latin typeface="Space Grotesk"/>
                <a:ea typeface="Space Grotesk"/>
                <a:cs typeface="Space Grotesk"/>
              </a:rPr>
              <a:t>225</a:t>
            </a:r>
          </a:p>
        </p:txBody>
      </p:sp>
      <p:sp>
        <p:nvSpPr>
          <p:cNvPr id="14" name="">
            <a:extLst xmlns:a="http://schemas.openxmlformats.org/drawingml/2006/main">
              <a:ext uri="{FF2B5EF4-FFF2-40B4-BE49-F238E27FC236}">
                <a16:creationId xmlns:a16="http://schemas.microsoft.com/office/drawing/2014/main" id="{DB75EFFE-0DA7-4A13-8717-F3B2387A8B6E}"/>
              </a:ext>
            </a:extLst>
          </p:cNvPr>
          <p:cNvSpPr>
            <a:spLocks xmlns:a="http://schemas.openxmlformats.org/drawingml/2006/main" noGrp="1"/>
          </p:cNvSpPr>
          <p:nvPr/>
        </p:nvSpPr>
        <p:spPr>
          <a:xfrm xmlns:a="http://schemas.openxmlformats.org/drawingml/2006/main">
            <a:off x="7810500" y="4641850"/>
            <a:ext cx="3683000" cy="584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A2924"/>
                </a:solidFill>
                <a:latin typeface="Source Sans 3"/>
                <a:ea typeface="Source Sans 3"/>
                <a:cs typeface="Source Sans 3"/>
              </a:defRPr>
            </a:pPr>
            <a:r>
              <a:rPr sz="1800" b="0">
                <a:solidFill>
                  <a:srgbClr val="1A2924"/>
                </a:solidFill>
                <a:latin typeface="Source Sans 3"/>
                <a:ea typeface="Source Sans 3"/>
                <a:cs typeface="Source Sans 3"/>
              </a:rPr>
              <a:t>possible experiment configurations</a:t>
            </a:r>
          </a:p>
        </p:txBody>
      </p:sp>
      <p:sp>
        <p:nvSpPr>
          <p:cNvPr id="15" name="">
            <a:extLst xmlns:a="http://schemas.openxmlformats.org/drawingml/2006/main">
              <a:ext uri="{FF2B5EF4-FFF2-40B4-BE49-F238E27FC236}">
                <a16:creationId xmlns:a16="http://schemas.microsoft.com/office/drawing/2014/main" id="{465D6AE6-D9BE-47DC-9D97-59E2BAAACE25}"/>
              </a:ext>
            </a:extLst>
          </p:cNvPr>
          <p:cNvSpPr>
            <a:spLocks xmlns:a="http://schemas.openxmlformats.org/drawingml/2006/main" noGrp="1"/>
          </p:cNvSpPr>
          <p:nvPr/>
        </p:nvSpPr>
        <p:spPr>
          <a:xfrm xmlns:a="http://schemas.openxmlformats.org/drawingml/2006/main">
            <a:off x="7810500" y="5384800"/>
            <a:ext cx="3683000" cy="622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B6861"/>
                </a:solidFill>
                <a:latin typeface="Source Sans 3"/>
                <a:ea typeface="Source Sans 3"/>
                <a:cs typeface="Source Sans 3"/>
              </a:defRPr>
            </a:pPr>
            <a:r>
              <a:rPr sz="1500" b="0">
                <a:solidFill>
                  <a:srgbClr val="5B6861"/>
                </a:solidFill>
                <a:latin typeface="Source Sans 3"/>
                <a:ea typeface="Source Sans 3"/>
                <a:cs typeface="Source Sans 3"/>
              </a:rPr>
              <a:t>Electrodes, frequency bands,</a:t>
            </a:r>
          </a:p>
          <a:p xmlns:a="http://schemas.openxmlformats.org/drawingml/2006/main">
            <a:pPr algn="l">
              <a:defRPr sz="1500" b="0">
                <a:solidFill>
                  <a:srgbClr val="5B6861"/>
                </a:solidFill>
                <a:latin typeface="Source Sans 3"/>
                <a:ea typeface="Source Sans 3"/>
                <a:cs typeface="Source Sans 3"/>
              </a:defRPr>
            </a:pPr>
            <a:r>
              <a:rPr sz="1500" b="0">
                <a:solidFill>
                  <a:srgbClr val="5B6861"/>
                </a:solidFill>
                <a:latin typeface="Source Sans 3"/>
                <a:ea typeface="Source Sans 3"/>
                <a:cs typeface="Source Sans 3"/>
              </a:rPr>
              <a:t>time windows, classifiers</a:t>
            </a:r>
          </a:p>
        </p:txBody>
      </p:sp>
    </p:spTree>
    <p:extLst>
      <p:ext uri="{BB962C8B-B14F-4D97-AF65-F5344CB8AC3E}">
        <p14:creationId xmlns:p14="http://schemas.microsoft.com/office/powerpoint/2010/main" val="737074523"/>
      </p:ext>
    </p:extLst>
  </p:cSld>
</p:sld>
</file>

<file path=ppt/slides/slide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25af6cadf284de5">
            <a:extLst>
              <a:ext uri="{96DAC541-7B7A-43D3-8B79-37D633B846F1}">
                <asvg:svgBlip xmlns:asvg="http://schemas.microsoft.com/office/drawing/2016/SVG/main" r:embed="R0c3db8be87c84569"/>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83D038-4D5F-45AB-8415-C81D4F644C67}"/>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0DE243F3-DF2A-4ABD-8948-FF843BE46BC8}"/>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The research loop</a:t>
            </a:r>
          </a:p>
        </p:txBody>
      </p:sp>
      <p:sp>
        <p:nvSpPr>
          <p:cNvPr id="4" name="">
            <a:extLst xmlns:a="http://schemas.openxmlformats.org/drawingml/2006/main">
              <a:ext uri="{FF2B5EF4-FFF2-40B4-BE49-F238E27FC236}">
                <a16:creationId xmlns:a16="http://schemas.microsoft.com/office/drawing/2014/main" id="{A6647EF5-21AA-4182-AB5F-B97A9770DFB0}"/>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02F7295C-0184-4D25-BDA7-D9E33B8616F9}"/>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ECFECC85-7ED7-4952-B785-4A9516B6116B}"/>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03 / 06</a:t>
            </a:r>
          </a:p>
        </p:txBody>
      </p:sp>
      <p:sp>
        <p:nvSpPr>
          <p:cNvPr id="7" name="">
            <a:extLst xmlns:a="http://schemas.openxmlformats.org/drawingml/2006/main">
              <a:ext uri="{FF2B5EF4-FFF2-40B4-BE49-F238E27FC236}">
                <a16:creationId xmlns:a16="http://schemas.microsoft.com/office/drawing/2014/main" id="{EEBB7549-625E-437D-82C2-ED4AAE562577}"/>
              </a:ext>
            </a:extLst>
          </p:cNvPr>
          <p:cNvSpPr>
            <a:spLocks xmlns:a="http://schemas.openxmlformats.org/drawingml/2006/main" noGrp="1"/>
          </p:cNvSpPr>
          <p:nvPr/>
        </p:nvSpPr>
        <p:spPr>
          <a:xfrm xmlns:a="http://schemas.openxmlformats.org/drawingml/2006/main">
            <a:off x="609600" y="984250"/>
            <a:ext cx="9525000" cy="155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300" b="0">
                <a:solidFill>
                  <a:srgbClr val="1A2924"/>
                </a:solidFill>
                <a:latin typeface="Space Grotesk"/>
                <a:ea typeface="Space Grotesk"/>
                <a:cs typeface="Space Grotesk"/>
              </a:defRPr>
            </a:pPr>
            <a:r>
              <a:rPr sz="5300" b="0">
                <a:solidFill>
                  <a:srgbClr val="1A2924"/>
                </a:solidFill>
                <a:latin typeface="Space Grotesk"/>
                <a:ea typeface="Space Grotesk"/>
                <a:cs typeface="Space Grotesk"/>
              </a:rPr>
              <a:t>How Second Shift</a:t>
            </a:r>
          </a:p>
          <a:p xmlns:a="http://schemas.openxmlformats.org/drawingml/2006/main">
            <a:pPr algn="l">
              <a:defRPr sz="5300" b="0">
                <a:solidFill>
                  <a:srgbClr val="1A2924"/>
                </a:solidFill>
                <a:latin typeface="Space Grotesk"/>
                <a:ea typeface="Space Grotesk"/>
                <a:cs typeface="Space Grotesk"/>
              </a:defRPr>
            </a:pPr>
            <a:r>
              <a:rPr sz="5300" b="0">
                <a:solidFill>
                  <a:srgbClr val="1A2924"/>
                </a:solidFill>
                <a:latin typeface="Space Grotesk"/>
                <a:ea typeface="Space Grotesk"/>
                <a:cs typeface="Space Grotesk"/>
              </a:rPr>
              <a:t>researches</a:t>
            </a:r>
          </a:p>
        </p:txBody>
      </p:sp>
      <p:sp>
        <p:nvSpPr>
          <p:cNvPr id="8" name="">
            <a:extLst xmlns:a="http://schemas.openxmlformats.org/drawingml/2006/main">
              <a:ext uri="{FF2B5EF4-FFF2-40B4-BE49-F238E27FC236}">
                <a16:creationId xmlns:a16="http://schemas.microsoft.com/office/drawing/2014/main" id="{BCF55D62-0096-4D68-B9FD-C01DFCA3B61A}"/>
              </a:ext>
            </a:extLst>
          </p:cNvPr>
          <p:cNvSpPr>
            <a:spLocks xmlns:a="http://schemas.openxmlformats.org/drawingml/2006/main" noGrp="1"/>
          </p:cNvSpPr>
          <p:nvPr/>
        </p:nvSpPr>
        <p:spPr>
          <a:xfrm xmlns:a="http://schemas.openxmlformats.org/drawingml/2006/main">
            <a:off x="622300" y="2660650"/>
            <a:ext cx="9906000" cy="39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B6861"/>
                </a:solidFill>
                <a:latin typeface="Source Sans 3"/>
                <a:ea typeface="Source Sans 3"/>
                <a:cs typeface="Source Sans 3"/>
              </a:defRPr>
            </a:pPr>
            <a:r>
              <a:rPr sz="2100" b="0">
                <a:solidFill>
                  <a:srgbClr val="5B6861"/>
                </a:solidFill>
                <a:latin typeface="Source Sans 3"/>
                <a:ea typeface="Source Sans 3"/>
                <a:cs typeface="Source Sans 3"/>
              </a:rPr>
              <a:t>A fresh decision. A persistent research record.</a:t>
            </a:r>
          </a:p>
        </p:txBody>
      </p:sp>
      <p:sp>
        <p:nvSpPr>
          <p:cNvPr id="9" name="">
            <a:extLst xmlns:a="http://schemas.openxmlformats.org/drawingml/2006/main">
              <a:ext uri="{FF2B5EF4-FFF2-40B4-BE49-F238E27FC236}">
                <a16:creationId xmlns:a16="http://schemas.microsoft.com/office/drawing/2014/main" id="{2E5E977A-5218-4A22-9F6F-9DBF94C57AD5}"/>
              </a:ext>
            </a:extLst>
          </p:cNvPr>
          <p:cNvSpPr>
            <a:spLocks xmlns:a="http://schemas.openxmlformats.org/drawingml/2006/main" noGrp="1"/>
          </p:cNvSpPr>
          <p:nvPr/>
        </p:nvSpPr>
        <p:spPr>
          <a:xfrm xmlns:a="http://schemas.openxmlformats.org/drawingml/2006/main">
            <a:off x="635000" y="3448050"/>
            <a:ext cx="1460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50" b="0">
                <a:solidFill>
                  <a:srgbClr val="006D46"/>
                </a:solidFill>
                <a:latin typeface="Space Grotesk"/>
                <a:ea typeface="Space Grotesk"/>
                <a:cs typeface="Space Grotesk"/>
              </a:defRPr>
            </a:pPr>
            <a:r>
              <a:rPr sz="3550" b="0">
                <a:solidFill>
                  <a:srgbClr val="006D46"/>
                </a:solidFill>
                <a:latin typeface="Space Grotesk"/>
                <a:ea typeface="Space Grotesk"/>
                <a:cs typeface="Space Grotesk"/>
              </a:rPr>
              <a:t>01</a:t>
            </a:r>
          </a:p>
        </p:txBody>
      </p:sp>
      <p:sp>
        <p:nvSpPr>
          <p:cNvPr id="10" name="">
            <a:extLst xmlns:a="http://schemas.openxmlformats.org/drawingml/2006/main">
              <a:ext uri="{FF2B5EF4-FFF2-40B4-BE49-F238E27FC236}">
                <a16:creationId xmlns:a16="http://schemas.microsoft.com/office/drawing/2014/main" id="{5B68E777-DCCA-46D1-8C3E-6E3FA18B8291}"/>
              </a:ext>
            </a:extLst>
          </p:cNvPr>
          <p:cNvSpPr>
            <a:spLocks xmlns:a="http://schemas.openxmlformats.org/drawingml/2006/main" noGrp="1"/>
          </p:cNvSpPr>
          <p:nvPr/>
        </p:nvSpPr>
        <p:spPr>
          <a:xfrm xmlns:a="http://schemas.openxmlformats.org/drawingml/2006/main">
            <a:off x="4457700" y="3448050"/>
            <a:ext cx="1460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50" b="0">
                <a:solidFill>
                  <a:srgbClr val="006D46"/>
                </a:solidFill>
                <a:latin typeface="Space Grotesk"/>
                <a:ea typeface="Space Grotesk"/>
                <a:cs typeface="Space Grotesk"/>
              </a:defRPr>
            </a:pPr>
            <a:r>
              <a:rPr sz="3550" b="0">
                <a:solidFill>
                  <a:srgbClr val="006D46"/>
                </a:solidFill>
                <a:latin typeface="Space Grotesk"/>
                <a:ea typeface="Space Grotesk"/>
                <a:cs typeface="Space Grotesk"/>
              </a:rPr>
              <a:t>02</a:t>
            </a:r>
          </a:p>
        </p:txBody>
      </p:sp>
      <p:sp>
        <p:nvSpPr>
          <p:cNvPr id="11" name="">
            <a:extLst xmlns:a="http://schemas.openxmlformats.org/drawingml/2006/main">
              <a:ext uri="{FF2B5EF4-FFF2-40B4-BE49-F238E27FC236}">
                <a16:creationId xmlns:a16="http://schemas.microsoft.com/office/drawing/2014/main" id="{81E471CB-9CFB-4AEC-843A-383638AD894C}"/>
              </a:ext>
            </a:extLst>
          </p:cNvPr>
          <p:cNvSpPr>
            <a:spLocks xmlns:a="http://schemas.openxmlformats.org/drawingml/2006/main" noGrp="1"/>
          </p:cNvSpPr>
          <p:nvPr/>
        </p:nvSpPr>
        <p:spPr>
          <a:xfrm xmlns:a="http://schemas.openxmlformats.org/drawingml/2006/main">
            <a:off x="8280400" y="3448050"/>
            <a:ext cx="14605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50" b="0">
                <a:solidFill>
                  <a:srgbClr val="006D46"/>
                </a:solidFill>
                <a:latin typeface="Space Grotesk"/>
                <a:ea typeface="Space Grotesk"/>
                <a:cs typeface="Space Grotesk"/>
              </a:defRPr>
            </a:pPr>
            <a:r>
              <a:rPr sz="3550" b="0">
                <a:solidFill>
                  <a:srgbClr val="006D46"/>
                </a:solidFill>
                <a:latin typeface="Space Grotesk"/>
                <a:ea typeface="Space Grotesk"/>
                <a:cs typeface="Space Grotesk"/>
              </a:rPr>
              <a:t>03</a:t>
            </a:r>
          </a:p>
        </p:txBody>
      </p:sp>
      <p:sp>
        <p:nvSpPr>
          <p:cNvPr id="12" name="">
            <a:extLst xmlns:a="http://schemas.openxmlformats.org/drawingml/2006/main">
              <a:ext uri="{FF2B5EF4-FFF2-40B4-BE49-F238E27FC236}">
                <a16:creationId xmlns:a16="http://schemas.microsoft.com/office/drawing/2014/main" id="{7B8D1C1C-3CEF-4C85-9BBF-C9255423E48F}"/>
              </a:ext>
            </a:extLst>
          </p:cNvPr>
          <p:cNvSpPr>
            <a:spLocks xmlns:a="http://schemas.openxmlformats.org/drawingml/2006/main" noGrp="1"/>
          </p:cNvSpPr>
          <p:nvPr/>
        </p:nvSpPr>
        <p:spPr>
          <a:xfrm xmlns:a="http://schemas.openxmlformats.org/drawingml/2006/main">
            <a:off x="635000" y="4171950"/>
            <a:ext cx="331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50" b="0">
                <a:solidFill>
                  <a:srgbClr val="1A2924"/>
                </a:solidFill>
                <a:latin typeface="Space Grotesk"/>
                <a:ea typeface="Space Grotesk"/>
                <a:cs typeface="Space Grotesk"/>
              </a:defRPr>
            </a:pPr>
            <a:r>
              <a:rPr sz="2950" b="0">
                <a:solidFill>
                  <a:srgbClr val="1A2924"/>
                </a:solidFill>
                <a:latin typeface="Space Grotesk"/>
                <a:ea typeface="Space Grotesk"/>
                <a:cs typeface="Space Grotesk"/>
              </a:rPr>
              <a:t>AI chooses</a:t>
            </a:r>
          </a:p>
        </p:txBody>
      </p:sp>
      <p:sp>
        <p:nvSpPr>
          <p:cNvPr id="13" name="">
            <a:extLst xmlns:a="http://schemas.openxmlformats.org/drawingml/2006/main">
              <a:ext uri="{FF2B5EF4-FFF2-40B4-BE49-F238E27FC236}">
                <a16:creationId xmlns:a16="http://schemas.microsoft.com/office/drawing/2014/main" id="{032DE083-8EC8-49DA-8FF0-2BEFB712E219}"/>
              </a:ext>
            </a:extLst>
          </p:cNvPr>
          <p:cNvSpPr>
            <a:spLocks xmlns:a="http://schemas.openxmlformats.org/drawingml/2006/main" noGrp="1"/>
          </p:cNvSpPr>
          <p:nvPr/>
        </p:nvSpPr>
        <p:spPr>
          <a:xfrm xmlns:a="http://schemas.openxmlformats.org/drawingml/2006/main">
            <a:off x="4457700" y="4171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50" b="0">
                <a:solidFill>
                  <a:srgbClr val="1A2924"/>
                </a:solidFill>
                <a:latin typeface="Space Grotesk"/>
                <a:ea typeface="Space Grotesk"/>
                <a:cs typeface="Space Grotesk"/>
              </a:defRPr>
            </a:pPr>
            <a:r>
              <a:rPr sz="2950" b="0">
                <a:solidFill>
                  <a:srgbClr val="1A2924"/>
                </a:solidFill>
                <a:latin typeface="Space Grotesk"/>
                <a:ea typeface="Space Grotesk"/>
                <a:cs typeface="Space Grotesk"/>
              </a:rPr>
              <a:t>Code measures</a:t>
            </a:r>
          </a:p>
        </p:txBody>
      </p:sp>
      <p:sp>
        <p:nvSpPr>
          <p:cNvPr id="14" name="">
            <a:extLst xmlns:a="http://schemas.openxmlformats.org/drawingml/2006/main">
              <a:ext uri="{FF2B5EF4-FFF2-40B4-BE49-F238E27FC236}">
                <a16:creationId xmlns:a16="http://schemas.microsoft.com/office/drawing/2014/main" id="{F1BB2DE0-738A-46CF-8482-DB2CBE553851}"/>
              </a:ext>
            </a:extLst>
          </p:cNvPr>
          <p:cNvSpPr>
            <a:spLocks xmlns:a="http://schemas.openxmlformats.org/drawingml/2006/main" noGrp="1"/>
          </p:cNvSpPr>
          <p:nvPr/>
        </p:nvSpPr>
        <p:spPr>
          <a:xfrm xmlns:a="http://schemas.openxmlformats.org/drawingml/2006/main">
            <a:off x="8280400" y="41719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1A2924"/>
                </a:solidFill>
                <a:latin typeface="Space Grotesk"/>
                <a:ea typeface="Space Grotesk"/>
                <a:cs typeface="Space Grotesk"/>
              </a:defRPr>
            </a:pPr>
            <a:r>
              <a:rPr sz="2800" b="0">
                <a:solidFill>
                  <a:srgbClr val="1A2924"/>
                </a:solidFill>
                <a:latin typeface="Space Grotesk"/>
                <a:ea typeface="Space Grotesk"/>
                <a:cs typeface="Space Grotesk"/>
              </a:rPr>
              <a:t>Atlas remembers</a:t>
            </a:r>
          </a:p>
        </p:txBody>
      </p:sp>
      <p:sp>
        <p:nvSpPr>
          <p:cNvPr id="15" name="">
            <a:extLst xmlns:a="http://schemas.openxmlformats.org/drawingml/2006/main">
              <a:ext uri="{FF2B5EF4-FFF2-40B4-BE49-F238E27FC236}">
                <a16:creationId xmlns:a16="http://schemas.microsoft.com/office/drawing/2014/main" id="{B9C507EF-1048-4344-A954-DBA4D8854790}"/>
              </a:ext>
            </a:extLst>
          </p:cNvPr>
          <p:cNvSpPr>
            <a:spLocks xmlns:a="http://schemas.openxmlformats.org/drawingml/2006/main" noGrp="1"/>
          </p:cNvSpPr>
          <p:nvPr/>
        </p:nvSpPr>
        <p:spPr>
          <a:xfrm xmlns:a="http://schemas.openxmlformats.org/drawingml/2006/main">
            <a:off x="635000" y="4787900"/>
            <a:ext cx="32766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B6861"/>
                </a:solidFill>
                <a:latin typeface="Source Sans 3"/>
                <a:ea typeface="Source Sans 3"/>
                <a:cs typeface="Source Sans 3"/>
              </a:defRPr>
            </a:pPr>
            <a:r>
              <a:rPr sz="1650" b="0">
                <a:solidFill>
                  <a:srgbClr val="5B6861"/>
                </a:solidFill>
                <a:latin typeface="Source Sans 3"/>
                <a:ea typeface="Source Sans 3"/>
                <a:cs typeface="Source Sans 3"/>
              </a:rPr>
              <a:t>The next EEG experiment</a:t>
            </a:r>
          </a:p>
        </p:txBody>
      </p:sp>
      <p:sp>
        <p:nvSpPr>
          <p:cNvPr id="16" name="">
            <a:extLst xmlns:a="http://schemas.openxmlformats.org/drawingml/2006/main">
              <a:ext uri="{FF2B5EF4-FFF2-40B4-BE49-F238E27FC236}">
                <a16:creationId xmlns:a16="http://schemas.microsoft.com/office/drawing/2014/main" id="{CA117945-C002-4B92-ABB1-DBFCB53EA8F4}"/>
              </a:ext>
            </a:extLst>
          </p:cNvPr>
          <p:cNvSpPr>
            <a:spLocks xmlns:a="http://schemas.openxmlformats.org/drawingml/2006/main" noGrp="1"/>
          </p:cNvSpPr>
          <p:nvPr/>
        </p:nvSpPr>
        <p:spPr>
          <a:xfrm xmlns:a="http://schemas.openxmlformats.org/drawingml/2006/main">
            <a:off x="4457700" y="4787900"/>
            <a:ext cx="34417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5B6861"/>
                </a:solidFill>
                <a:latin typeface="Source Sans 3"/>
                <a:ea typeface="Source Sans 3"/>
                <a:cs typeface="Source Sans 3"/>
              </a:defRPr>
            </a:pPr>
            <a:r>
              <a:rPr sz="1600" b="0">
                <a:solidFill>
                  <a:srgbClr val="5B6861"/>
                </a:solidFill>
                <a:latin typeface="Source Sans 3"/>
                <a:ea typeface="Source Sans 3"/>
                <a:cs typeface="Source Sans 3"/>
              </a:rPr>
              <a:t>A reproducible numerical result</a:t>
            </a:r>
          </a:p>
        </p:txBody>
      </p:sp>
      <p:sp>
        <p:nvSpPr>
          <p:cNvPr id="17" name="">
            <a:extLst xmlns:a="http://schemas.openxmlformats.org/drawingml/2006/main">
              <a:ext uri="{FF2B5EF4-FFF2-40B4-BE49-F238E27FC236}">
                <a16:creationId xmlns:a16="http://schemas.microsoft.com/office/drawing/2014/main" id="{A7DA69D7-7654-409A-A72A-642532C467E8}"/>
              </a:ext>
            </a:extLst>
          </p:cNvPr>
          <p:cNvSpPr>
            <a:spLocks xmlns:a="http://schemas.openxmlformats.org/drawingml/2006/main" noGrp="1"/>
          </p:cNvSpPr>
          <p:nvPr/>
        </p:nvSpPr>
        <p:spPr>
          <a:xfrm xmlns:a="http://schemas.openxmlformats.org/drawingml/2006/main">
            <a:off x="8280400" y="4787900"/>
            <a:ext cx="33147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00" b="0">
                <a:solidFill>
                  <a:srgbClr val="5B6861"/>
                </a:solidFill>
                <a:latin typeface="Source Sans 3"/>
                <a:ea typeface="Source Sans 3"/>
                <a:cs typeface="Source Sans 3"/>
              </a:defRPr>
            </a:pPr>
            <a:r>
              <a:rPr sz="1600" b="0">
                <a:solidFill>
                  <a:srgbClr val="5B6861"/>
                </a:solidFill>
                <a:latin typeface="Source Sans 3"/>
                <a:ea typeface="Source Sans 3"/>
                <a:cs typeface="Source Sans 3"/>
              </a:rPr>
              <a:t>Evidence for the next decision</a:t>
            </a:r>
          </a:p>
        </p:txBody>
      </p:sp>
      <p:sp>
        <p:nvSpPr>
          <p:cNvPr id="18" name="">
            <a:extLst xmlns:a="http://schemas.openxmlformats.org/drawingml/2006/main">
              <a:ext uri="{FF2B5EF4-FFF2-40B4-BE49-F238E27FC236}">
                <a16:creationId xmlns:a16="http://schemas.microsoft.com/office/drawing/2014/main" id="{9A344C75-E14E-4334-8D0F-B87FA19EE902}"/>
              </a:ext>
            </a:extLst>
          </p:cNvPr>
          <p:cNvSpPr>
            <a:spLocks xmlns:a="http://schemas.openxmlformats.org/drawingml/2006/main" noGrp="1"/>
          </p:cNvSpPr>
          <p:nvPr/>
        </p:nvSpPr>
        <p:spPr>
          <a:xfrm xmlns:a="http://schemas.openxmlformats.org/drawingml/2006/main">
            <a:off x="3333750" y="3765550"/>
            <a:ext cx="730250" cy="6350"/>
          </a:xfrm>
          <a:prstGeom xmlns:a="http://schemas.openxmlformats.org/drawingml/2006/main" prst="line">
            <a:avLst/>
          </a:prstGeom>
          <a:noFill xmlns:a="http://schemas.openxmlformats.org/drawingml/2006/main"/>
          <a:ln xmlns:a="http://schemas.openxmlformats.org/drawingml/2006/main" w="11906">
            <a:solidFill>
              <a:srgbClr val="006D46"/>
            </a:solidFill>
          </a:ln>
        </p:spPr>
      </p:sp>
      <p:sp>
        <p:nvSpPr>
          <p:cNvPr id="19" name="">
            <a:extLst xmlns:a="http://schemas.openxmlformats.org/drawingml/2006/main">
              <a:ext uri="{FF2B5EF4-FFF2-40B4-BE49-F238E27FC236}">
                <a16:creationId xmlns:a16="http://schemas.microsoft.com/office/drawing/2014/main" id="{F3890158-3806-4180-A61C-70514860ED70}"/>
              </a:ext>
            </a:extLst>
          </p:cNvPr>
          <p:cNvSpPr>
            <a:spLocks xmlns:a="http://schemas.openxmlformats.org/drawingml/2006/main" noGrp="1"/>
          </p:cNvSpPr>
          <p:nvPr/>
        </p:nvSpPr>
        <p:spPr>
          <a:xfrm xmlns:a="http://schemas.openxmlformats.org/drawingml/2006/main">
            <a:off x="3987800" y="3727450"/>
            <a:ext cx="76200" cy="76200"/>
          </a:xfrm>
          <a:prstGeom xmlns:a="http://schemas.openxmlformats.org/drawingml/2006/main" prst="rightArrow">
            <a:avLst/>
          </a:prstGeom>
          <a:solidFill xmlns:a="http://schemas.openxmlformats.org/drawingml/2006/main">
            <a:srgbClr val="006D4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5919B5B-C270-4D97-9A35-E351AA030A81}"/>
              </a:ext>
            </a:extLst>
          </p:cNvPr>
          <p:cNvSpPr>
            <a:spLocks xmlns:a="http://schemas.openxmlformats.org/drawingml/2006/main" noGrp="1"/>
          </p:cNvSpPr>
          <p:nvPr/>
        </p:nvSpPr>
        <p:spPr>
          <a:xfrm xmlns:a="http://schemas.openxmlformats.org/drawingml/2006/main">
            <a:off x="7175500" y="3765550"/>
            <a:ext cx="723900" cy="6350"/>
          </a:xfrm>
          <a:prstGeom xmlns:a="http://schemas.openxmlformats.org/drawingml/2006/main" prst="line">
            <a:avLst/>
          </a:prstGeom>
          <a:noFill xmlns:a="http://schemas.openxmlformats.org/drawingml/2006/main"/>
          <a:ln xmlns:a="http://schemas.openxmlformats.org/drawingml/2006/main" w="11906">
            <a:solidFill>
              <a:srgbClr val="006D46"/>
            </a:solidFill>
          </a:ln>
        </p:spPr>
      </p:sp>
      <p:sp>
        <p:nvSpPr>
          <p:cNvPr id="21" name="">
            <a:extLst xmlns:a="http://schemas.openxmlformats.org/drawingml/2006/main">
              <a:ext uri="{FF2B5EF4-FFF2-40B4-BE49-F238E27FC236}">
                <a16:creationId xmlns:a16="http://schemas.microsoft.com/office/drawing/2014/main" id="{11976106-6BEA-4FB5-890B-FFA448270EF8}"/>
              </a:ext>
            </a:extLst>
          </p:cNvPr>
          <p:cNvSpPr>
            <a:spLocks xmlns:a="http://schemas.openxmlformats.org/drawingml/2006/main" noGrp="1"/>
          </p:cNvSpPr>
          <p:nvPr/>
        </p:nvSpPr>
        <p:spPr>
          <a:xfrm xmlns:a="http://schemas.openxmlformats.org/drawingml/2006/main">
            <a:off x="7823200" y="3727450"/>
            <a:ext cx="76200" cy="76200"/>
          </a:xfrm>
          <a:prstGeom xmlns:a="http://schemas.openxmlformats.org/drawingml/2006/main" prst="rightArrow">
            <a:avLst/>
          </a:prstGeom>
          <a:solidFill xmlns:a="http://schemas.openxmlformats.org/drawingml/2006/main">
            <a:srgbClr val="006D46"/>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1A15427-6BB7-4FCC-8A56-BA760613F57C}"/>
              </a:ext>
            </a:extLst>
          </p:cNvPr>
          <p:cNvSpPr>
            <a:spLocks xmlns:a="http://schemas.openxmlformats.org/drawingml/2006/main" noGrp="1"/>
          </p:cNvSpPr>
          <p:nvPr/>
        </p:nvSpPr>
        <p:spPr>
          <a:xfrm xmlns:a="http://schemas.openxmlformats.org/drawingml/2006/main">
            <a:off x="635000" y="520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00" b="0">
                <a:solidFill>
                  <a:srgbClr val="006D46"/>
                </a:solidFill>
                <a:latin typeface="Source Sans 3"/>
                <a:ea typeface="Source Sans 3"/>
                <a:cs typeface="Source Sans 3"/>
              </a:defRPr>
            </a:pPr>
            <a:r>
              <a:rPr sz="1300" b="0">
                <a:solidFill>
                  <a:srgbClr val="006D46"/>
                </a:solidFill>
                <a:latin typeface="Source Sans 3"/>
                <a:ea typeface="Source Sans 3"/>
                <a:cs typeface="Source Sans 3"/>
              </a:rPr>
              <a:t>Worker resets → context rebuilt</a:t>
            </a:r>
          </a:p>
        </p:txBody>
      </p:sp>
      <p:sp>
        <p:nvSpPr>
          <p:cNvPr id="23" name="">
            <a:extLst xmlns:a="http://schemas.openxmlformats.org/drawingml/2006/main">
              <a:ext uri="{FF2B5EF4-FFF2-40B4-BE49-F238E27FC236}">
                <a16:creationId xmlns:a16="http://schemas.microsoft.com/office/drawing/2014/main" id="{E22204DE-67A7-4E8E-8634-A6E1FB02BDB3}"/>
              </a:ext>
            </a:extLst>
          </p:cNvPr>
          <p:cNvSpPr>
            <a:spLocks xmlns:a="http://schemas.openxmlformats.org/drawingml/2006/main" noGrp="1"/>
          </p:cNvSpPr>
          <p:nvPr/>
        </p:nvSpPr>
        <p:spPr>
          <a:xfrm xmlns:a="http://schemas.openxmlformats.org/drawingml/2006/main">
            <a:off x="635000" y="5511800"/>
            <a:ext cx="10922000" cy="406400"/>
          </a:xfrm>
          <a:prstGeom xmlns:a="http://schemas.openxmlformats.org/drawingml/2006/main" prst="rect">
            <a:avLst/>
          </a:prstGeom>
          <a:solidFill xmlns:a="http://schemas.openxmlformats.org/drawingml/2006/main">
            <a:srgbClr val="E5EBE0"/>
          </a:solidFill>
          <a:ln xmlns:a="http://schemas.openxmlformats.org/drawingml/2006/main" w="5715">
            <a:solidFill>
              <a:srgbClr val="CFD6CB"/>
            </a:solidFill>
          </a:ln>
        </p:spPr>
      </p:sp>
      <p:sp>
        <p:nvSpPr>
          <p:cNvPr id="24" name="">
            <a:extLst xmlns:a="http://schemas.openxmlformats.org/drawingml/2006/main">
              <a:ext uri="{FF2B5EF4-FFF2-40B4-BE49-F238E27FC236}">
                <a16:creationId xmlns:a16="http://schemas.microsoft.com/office/drawing/2014/main" id="{5BB9FF18-BAA9-4A77-9A33-D9679C7CA729}"/>
              </a:ext>
            </a:extLst>
          </p:cNvPr>
          <p:cNvSpPr>
            <a:spLocks xmlns:a="http://schemas.openxmlformats.org/drawingml/2006/main" noGrp="1"/>
          </p:cNvSpPr>
          <p:nvPr/>
        </p:nvSpPr>
        <p:spPr>
          <a:xfrm xmlns:a="http://schemas.openxmlformats.org/drawingml/2006/main">
            <a:off x="762000" y="5588000"/>
            <a:ext cx="10350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6D46"/>
                </a:solidFill>
                <a:latin typeface="Source Sans 3"/>
                <a:ea typeface="Source Sans 3"/>
                <a:cs typeface="Source Sans 3"/>
              </a:defRPr>
            </a:pPr>
            <a:r>
              <a:rPr sz="1500" b="1">
                <a:solidFill>
                  <a:srgbClr val="006D46"/>
                </a:solidFill>
                <a:latin typeface="Source Sans 3"/>
                <a:ea typeface="Source Sans 3"/>
                <a:cs typeface="Source Sans 3"/>
              </a:rPr>
              <a:t>Completed research persists across worker restarts</a:t>
            </a:r>
          </a:p>
        </p:txBody>
      </p:sp>
    </p:spTree>
    <p:extLst>
      <p:ext uri="{BB962C8B-B14F-4D97-AF65-F5344CB8AC3E}">
        <p14:creationId xmlns:p14="http://schemas.microsoft.com/office/powerpoint/2010/main" val="1546737681"/>
      </p:ext>
    </p:extLst>
  </p:cSld>
</p:sld>
</file>

<file path=ppt/slides/slide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d64ae93380547aa">
            <a:extLst>
              <a:ext uri="{96DAC541-7B7A-43D3-8B79-37D633B846F1}">
                <asvg:svgBlip xmlns:asvg="http://schemas.microsoft.com/office/drawing/2016/SVG/main" r:embed="Rb6ef5ac889d74a98"/>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2BB5C0A-2F5B-40F3-9D0E-312419434BB9}"/>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4B039356-6360-4E73-952D-56FB62489601}"/>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60-second dashboard demo</a:t>
            </a:r>
          </a:p>
        </p:txBody>
      </p:sp>
      <p:sp>
        <p:nvSpPr>
          <p:cNvPr id="4" name="">
            <a:extLst xmlns:a="http://schemas.openxmlformats.org/drawingml/2006/main">
              <a:ext uri="{FF2B5EF4-FFF2-40B4-BE49-F238E27FC236}">
                <a16:creationId xmlns:a16="http://schemas.microsoft.com/office/drawing/2014/main" id="{B3330A1E-7447-4DBA-A52B-AA952C1F4CF0}"/>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B817124A-1B7E-4A8C-8E54-5CDFEF17A06C}"/>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F8596D1A-F020-43B5-B063-D78E6D0C2D57}"/>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04 / 06</a:t>
            </a:r>
          </a:p>
        </p:txBody>
      </p:sp>
      <p:sp>
        <p:nvSpPr>
          <p:cNvPr id="7" name="">
            <a:extLst xmlns:a="http://schemas.openxmlformats.org/drawingml/2006/main">
              <a:ext uri="{FF2B5EF4-FFF2-40B4-BE49-F238E27FC236}">
                <a16:creationId xmlns:a16="http://schemas.microsoft.com/office/drawing/2014/main" id="{C48D7481-73AE-49B4-B23F-09841228AF58}"/>
              </a:ext>
            </a:extLst>
          </p:cNvPr>
          <p:cNvSpPr>
            <a:spLocks xmlns:a="http://schemas.openxmlformats.org/drawingml/2006/main" noGrp="1"/>
          </p:cNvSpPr>
          <p:nvPr/>
        </p:nvSpPr>
        <p:spPr>
          <a:xfrm xmlns:a="http://schemas.openxmlformats.org/drawingml/2006/main">
            <a:off x="609600" y="1193800"/>
            <a:ext cx="10160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250" b="0">
                <a:solidFill>
                  <a:srgbClr val="1A2924"/>
                </a:solidFill>
                <a:latin typeface="Space Grotesk"/>
                <a:ea typeface="Space Grotesk"/>
                <a:cs typeface="Space Grotesk"/>
              </a:defRPr>
            </a:pPr>
            <a:r>
              <a:rPr sz="6250" b="0">
                <a:solidFill>
                  <a:srgbClr val="1A2924"/>
                </a:solidFill>
                <a:latin typeface="Space Grotesk"/>
                <a:ea typeface="Space Grotesk"/>
                <a:cs typeface="Space Grotesk"/>
              </a:rPr>
              <a:t>The working</a:t>
            </a:r>
          </a:p>
          <a:p xmlns:a="http://schemas.openxmlformats.org/drawingml/2006/main">
            <a:pPr algn="l">
              <a:defRPr sz="6250" b="0">
                <a:solidFill>
                  <a:srgbClr val="1A2924"/>
                </a:solidFill>
                <a:latin typeface="Space Grotesk"/>
                <a:ea typeface="Space Grotesk"/>
                <a:cs typeface="Space Grotesk"/>
              </a:defRPr>
            </a:pPr>
            <a:r>
              <a:rPr sz="6250" b="0">
                <a:solidFill>
                  <a:srgbClr val="1A2924"/>
                </a:solidFill>
                <a:latin typeface="Space Grotesk"/>
                <a:ea typeface="Space Grotesk"/>
                <a:cs typeface="Space Grotesk"/>
              </a:rPr>
              <a:t>system</a:t>
            </a:r>
          </a:p>
        </p:txBody>
      </p:sp>
      <p:sp>
        <p:nvSpPr>
          <p:cNvPr id="8" name="">
            <a:extLst xmlns:a="http://schemas.openxmlformats.org/drawingml/2006/main">
              <a:ext uri="{FF2B5EF4-FFF2-40B4-BE49-F238E27FC236}">
                <a16:creationId xmlns:a16="http://schemas.microsoft.com/office/drawing/2014/main" id="{92B8AC14-978C-41FD-B1A0-E2E37C20E2CE}"/>
              </a:ext>
            </a:extLst>
          </p:cNvPr>
          <p:cNvSpPr>
            <a:spLocks xmlns:a="http://schemas.openxmlformats.org/drawingml/2006/main" noGrp="1"/>
          </p:cNvSpPr>
          <p:nvPr/>
        </p:nvSpPr>
        <p:spPr>
          <a:xfrm xmlns:a="http://schemas.openxmlformats.org/drawingml/2006/main">
            <a:off x="635000" y="3365500"/>
            <a:ext cx="8509000" cy="92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0">
                <a:solidFill>
                  <a:srgbClr val="1A2924"/>
                </a:solidFill>
                <a:latin typeface="Source Sans 3"/>
                <a:ea typeface="Source Sans 3"/>
                <a:cs typeface="Source Sans 3"/>
              </a:defRPr>
            </a:pPr>
            <a:r>
              <a:rPr sz="2550" b="0">
                <a:solidFill>
                  <a:srgbClr val="1A2924"/>
                </a:solidFill>
                <a:latin typeface="Source Sans 3"/>
                <a:ea typeface="Source Sans 3"/>
                <a:cs typeface="Source Sans 3"/>
              </a:rPr>
              <a:t>A research campaign survives</a:t>
            </a:r>
          </a:p>
          <a:p xmlns:a="http://schemas.openxmlformats.org/drawingml/2006/main">
            <a:pPr algn="l">
              <a:defRPr sz="2550" b="0">
                <a:solidFill>
                  <a:srgbClr val="1A2924"/>
                </a:solidFill>
                <a:latin typeface="Source Sans 3"/>
                <a:ea typeface="Source Sans 3"/>
                <a:cs typeface="Source Sans 3"/>
              </a:defRPr>
            </a:pPr>
            <a:r>
              <a:rPr sz="2550" b="0">
                <a:solidFill>
                  <a:srgbClr val="1A2924"/>
                </a:solidFill>
                <a:latin typeface="Source Sans 3"/>
                <a:ea typeface="Source Sans 3"/>
                <a:cs typeface="Source Sans 3"/>
              </a:rPr>
              <a:t>a restart and a new electrode limit.</a:t>
            </a:r>
          </a:p>
        </p:txBody>
      </p:sp>
      <p:sp>
        <p:nvSpPr>
          <p:cNvPr id="9" name="">
            <a:extLst xmlns:a="http://schemas.openxmlformats.org/drawingml/2006/main">
              <a:ext uri="{FF2B5EF4-FFF2-40B4-BE49-F238E27FC236}">
                <a16:creationId xmlns:a16="http://schemas.microsoft.com/office/drawing/2014/main" id="{5CC75246-F6E5-4EF7-852F-39BC6A98ADB6}"/>
              </a:ext>
            </a:extLst>
          </p:cNvPr>
          <p:cNvSpPr>
            <a:spLocks xmlns:a="http://schemas.openxmlformats.org/drawingml/2006/main" noGrp="1"/>
          </p:cNvSpPr>
          <p:nvPr/>
        </p:nvSpPr>
        <p:spPr>
          <a:xfrm xmlns:a="http://schemas.openxmlformats.org/drawingml/2006/main">
            <a:off x="635000" y="5314950"/>
            <a:ext cx="6985000" cy="34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50" b="1">
                <a:solidFill>
                  <a:srgbClr val="006D46"/>
                </a:solidFill>
                <a:latin typeface="Source Sans 3"/>
                <a:ea typeface="Source Sans 3"/>
                <a:cs typeface="Source Sans 3"/>
              </a:defRPr>
            </a:pPr>
            <a:r>
              <a:rPr sz="1750" b="1">
                <a:solidFill>
                  <a:srgbClr val="006D46"/>
                </a:solidFill>
                <a:latin typeface="Source Sans 3"/>
                <a:ea typeface="Source Sans 3"/>
                <a:cs typeface="Source Sans 3"/>
              </a:rPr>
              <a:t>Play the accompanying demo MP4</a:t>
            </a:r>
          </a:p>
        </p:txBody>
      </p:sp>
    </p:spTree>
    <p:extLst>
      <p:ext uri="{BB962C8B-B14F-4D97-AF65-F5344CB8AC3E}">
        <p14:creationId xmlns:p14="http://schemas.microsoft.com/office/powerpoint/2010/main" val="1809787191"/>
      </p:ext>
    </p:extLst>
  </p:cSld>
</p:sld>
</file>

<file path=ppt/slides/slide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dd9408614b04018">
            <a:extLst>
              <a:ext uri="{96DAC541-7B7A-43D3-8B79-37D633B846F1}">
                <asvg:svgBlip xmlns:asvg="http://schemas.microsoft.com/office/drawing/2016/SVG/main" r:embed="R4510070dbb9f4592"/>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60BD7C2-E8EC-446C-BB8D-7691A1F3946A}"/>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2787CDE5-DC95-46D7-80DF-DE9793195C6B}"/>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Evidence from completed runs</a:t>
            </a:r>
          </a:p>
        </p:txBody>
      </p:sp>
      <p:sp>
        <p:nvSpPr>
          <p:cNvPr id="4" name="">
            <a:extLst xmlns:a="http://schemas.openxmlformats.org/drawingml/2006/main">
              <a:ext uri="{FF2B5EF4-FFF2-40B4-BE49-F238E27FC236}">
                <a16:creationId xmlns:a16="http://schemas.microsoft.com/office/drawing/2014/main" id="{C87D6676-7275-4E29-9D61-1FA4A5E1F726}"/>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416FBDAA-D288-4630-83FE-5308DC89F615}"/>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EDF3DE32-B158-4DCE-AE52-CC055BFCFBC4}"/>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05 / 06</a:t>
            </a:r>
          </a:p>
        </p:txBody>
      </p:sp>
      <p:sp>
        <p:nvSpPr>
          <p:cNvPr id="7" name="">
            <a:extLst xmlns:a="http://schemas.openxmlformats.org/drawingml/2006/main">
              <a:ext uri="{FF2B5EF4-FFF2-40B4-BE49-F238E27FC236}">
                <a16:creationId xmlns:a16="http://schemas.microsoft.com/office/drawing/2014/main" id="{D6F6D30D-0DFD-426F-9FAB-192F44B257C3}"/>
              </a:ext>
            </a:extLst>
          </p:cNvPr>
          <p:cNvSpPr>
            <a:spLocks xmlns:a="http://schemas.openxmlformats.org/drawingml/2006/main" noGrp="1"/>
          </p:cNvSpPr>
          <p:nvPr/>
        </p:nvSpPr>
        <p:spPr>
          <a:xfrm xmlns:a="http://schemas.openxmlformats.org/drawingml/2006/main">
            <a:off x="609600" y="977900"/>
            <a:ext cx="10985500" cy="908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50" b="0">
                <a:solidFill>
                  <a:srgbClr val="1A2924"/>
                </a:solidFill>
                <a:latin typeface="Space Grotesk"/>
                <a:ea typeface="Space Grotesk"/>
                <a:cs typeface="Space Grotesk"/>
              </a:defRPr>
            </a:pPr>
            <a:r>
              <a:rPr sz="5250" b="0">
                <a:solidFill>
                  <a:srgbClr val="1A2924"/>
                </a:solidFill>
                <a:latin typeface="Space Grotesk"/>
                <a:ea typeface="Space Grotesk"/>
                <a:cs typeface="Space Grotesk"/>
              </a:rPr>
              <a:t>Measured on real EEG</a:t>
            </a:r>
          </a:p>
        </p:txBody>
      </p:sp>
      <p:sp>
        <p:nvSpPr>
          <p:cNvPr id="8" name="">
            <a:extLst xmlns:a="http://schemas.openxmlformats.org/drawingml/2006/main">
              <a:ext uri="{FF2B5EF4-FFF2-40B4-BE49-F238E27FC236}">
                <a16:creationId xmlns:a16="http://schemas.microsoft.com/office/drawing/2014/main" id="{BB79C93B-3609-4003-8826-6CEE75DAF31B}"/>
              </a:ext>
            </a:extLst>
          </p:cNvPr>
          <p:cNvSpPr>
            <a:spLocks xmlns:a="http://schemas.openxmlformats.org/drawingml/2006/main" noGrp="1"/>
          </p:cNvSpPr>
          <p:nvPr/>
        </p:nvSpPr>
        <p:spPr>
          <a:xfrm xmlns:a="http://schemas.openxmlformats.org/drawingml/2006/main">
            <a:off x="635000" y="2349500"/>
            <a:ext cx="6350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6D46"/>
                </a:solidFill>
                <a:latin typeface="Source Sans 3"/>
                <a:ea typeface="Source Sans 3"/>
                <a:cs typeface="Source Sans 3"/>
              </a:defRPr>
            </a:pPr>
            <a:r>
              <a:rPr sz="1350" b="1">
                <a:solidFill>
                  <a:srgbClr val="006D46"/>
                </a:solidFill>
                <a:latin typeface="Source Sans 3"/>
                <a:ea typeface="Source Sans 3"/>
                <a:cs typeface="Source Sans 3"/>
              </a:rPr>
              <a:t>REFERENCE CAMPAIGN · 21 ELECTRODES</a:t>
            </a:r>
          </a:p>
        </p:txBody>
      </p:sp>
      <p:sp>
        <p:nvSpPr>
          <p:cNvPr id="9" name="">
            <a:extLst xmlns:a="http://schemas.openxmlformats.org/drawingml/2006/main">
              <a:ext uri="{FF2B5EF4-FFF2-40B4-BE49-F238E27FC236}">
                <a16:creationId xmlns:a16="http://schemas.microsoft.com/office/drawing/2014/main" id="{1F068A71-2BF1-45DE-A0D2-2723E0B740A8}"/>
              </a:ext>
            </a:extLst>
          </p:cNvPr>
          <p:cNvSpPr>
            <a:spLocks xmlns:a="http://schemas.openxmlformats.org/drawingml/2006/main" noGrp="1"/>
          </p:cNvSpPr>
          <p:nvPr/>
        </p:nvSpPr>
        <p:spPr>
          <a:xfrm xmlns:a="http://schemas.openxmlformats.org/drawingml/2006/main">
            <a:off x="552450" y="2755900"/>
            <a:ext cx="6731000" cy="178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750" b="0">
                <a:solidFill>
                  <a:srgbClr val="006D46"/>
                </a:solidFill>
                <a:latin typeface="Space Grotesk"/>
                <a:ea typeface="Space Grotesk"/>
                <a:cs typeface="Space Grotesk"/>
              </a:defRPr>
            </a:pPr>
            <a:r>
              <a:rPr sz="11750" b="0">
                <a:solidFill>
                  <a:srgbClr val="006D46"/>
                </a:solidFill>
                <a:latin typeface="Space Grotesk"/>
                <a:ea typeface="Space Grotesk"/>
                <a:cs typeface="Space Grotesk"/>
              </a:rPr>
              <a:t>73.2%</a:t>
            </a:r>
          </a:p>
        </p:txBody>
      </p:sp>
      <p:sp>
        <p:nvSpPr>
          <p:cNvPr id="10" name="">
            <a:extLst xmlns:a="http://schemas.openxmlformats.org/drawingml/2006/main">
              <a:ext uri="{FF2B5EF4-FFF2-40B4-BE49-F238E27FC236}">
                <a16:creationId xmlns:a16="http://schemas.microsoft.com/office/drawing/2014/main" id="{E0CD633B-4A12-4818-A2EE-4DF9E4F52AE7}"/>
              </a:ext>
            </a:extLst>
          </p:cNvPr>
          <p:cNvSpPr>
            <a:spLocks xmlns:a="http://schemas.openxmlformats.org/drawingml/2006/main" noGrp="1"/>
          </p:cNvSpPr>
          <p:nvPr/>
        </p:nvSpPr>
        <p:spPr>
          <a:xfrm xmlns:a="http://schemas.openxmlformats.org/drawingml/2006/main">
            <a:off x="635000" y="4692650"/>
            <a:ext cx="6540500" cy="46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A2924"/>
                </a:solidFill>
                <a:latin typeface="Source Sans 3"/>
                <a:ea typeface="Source Sans 3"/>
                <a:cs typeface="Source Sans 3"/>
              </a:defRPr>
            </a:pPr>
            <a:r>
              <a:rPr sz="2400" b="0">
                <a:solidFill>
                  <a:srgbClr val="1A2924"/>
                </a:solidFill>
                <a:latin typeface="Source Sans 3"/>
                <a:ea typeface="Source Sans 3"/>
                <a:cs typeface="Source Sans 3"/>
              </a:rPr>
              <a:t>held-out balanced accuracy</a:t>
            </a:r>
          </a:p>
        </p:txBody>
      </p:sp>
      <p:sp>
        <p:nvSpPr>
          <p:cNvPr id="11" name="">
            <a:extLst xmlns:a="http://schemas.openxmlformats.org/drawingml/2006/main">
              <a:ext uri="{FF2B5EF4-FFF2-40B4-BE49-F238E27FC236}">
                <a16:creationId xmlns:a16="http://schemas.microsoft.com/office/drawing/2014/main" id="{16002088-B4EA-4F09-948D-7B3E8B747482}"/>
              </a:ext>
            </a:extLst>
          </p:cNvPr>
          <p:cNvSpPr>
            <a:spLocks xmlns:a="http://schemas.openxmlformats.org/drawingml/2006/main" noGrp="1"/>
          </p:cNvSpPr>
          <p:nvPr/>
        </p:nvSpPr>
        <p:spPr>
          <a:xfrm xmlns:a="http://schemas.openxmlformats.org/drawingml/2006/main">
            <a:off x="635000" y="5346700"/>
            <a:ext cx="68580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B6861"/>
                </a:solidFill>
                <a:latin typeface="Source Sans 3"/>
                <a:ea typeface="Source Sans 3"/>
                <a:cs typeface="Source Sans 3"/>
              </a:defRPr>
            </a:pPr>
            <a:r>
              <a:rPr sz="1500" b="0">
                <a:solidFill>
                  <a:srgbClr val="5B6861"/>
                </a:solidFill>
                <a:latin typeface="Source Sans 3"/>
                <a:ea typeface="Source Sans 3"/>
                <a:cs typeface="Source Sans 3"/>
              </a:rPr>
              <a:t>5 participants · 75 test trials · test scored once</a:t>
            </a:r>
          </a:p>
        </p:txBody>
      </p:sp>
      <p:sp>
        <p:nvSpPr>
          <p:cNvPr id="12" name="">
            <a:extLst xmlns:a="http://schemas.openxmlformats.org/drawingml/2006/main">
              <a:ext uri="{FF2B5EF4-FFF2-40B4-BE49-F238E27FC236}">
                <a16:creationId xmlns:a16="http://schemas.microsoft.com/office/drawing/2014/main" id="{C748C098-1094-4AA7-B188-5C7599527170}"/>
              </a:ext>
            </a:extLst>
          </p:cNvPr>
          <p:cNvSpPr>
            <a:spLocks xmlns:a="http://schemas.openxmlformats.org/drawingml/2006/main" noGrp="1"/>
          </p:cNvSpPr>
          <p:nvPr/>
        </p:nvSpPr>
        <p:spPr>
          <a:xfrm xmlns:a="http://schemas.openxmlformats.org/drawingml/2006/main">
            <a:off x="8064500" y="2381250"/>
            <a:ext cx="35179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13" name="">
            <a:extLst xmlns:a="http://schemas.openxmlformats.org/drawingml/2006/main">
              <a:ext uri="{FF2B5EF4-FFF2-40B4-BE49-F238E27FC236}">
                <a16:creationId xmlns:a16="http://schemas.microsoft.com/office/drawing/2014/main" id="{32954571-9608-40CA-880C-AE9068E82FA3}"/>
              </a:ext>
            </a:extLst>
          </p:cNvPr>
          <p:cNvSpPr>
            <a:spLocks xmlns:a="http://schemas.openxmlformats.org/drawingml/2006/main" noGrp="1"/>
          </p:cNvSpPr>
          <p:nvPr/>
        </p:nvSpPr>
        <p:spPr>
          <a:xfrm xmlns:a="http://schemas.openxmlformats.org/drawingml/2006/main">
            <a:off x="8064500" y="2540000"/>
            <a:ext cx="352425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50" b="1">
                <a:solidFill>
                  <a:srgbClr val="5B6861"/>
                </a:solidFill>
                <a:latin typeface="Source Sans 3"/>
                <a:ea typeface="Source Sans 3"/>
                <a:cs typeface="Source Sans 3"/>
              </a:defRPr>
            </a:pPr>
            <a:r>
              <a:rPr sz="1250" b="1">
                <a:solidFill>
                  <a:srgbClr val="5B6861"/>
                </a:solidFill>
                <a:latin typeface="Source Sans 3"/>
                <a:ea typeface="Source Sans 3"/>
                <a:cs typeface="Source Sans 3"/>
              </a:rPr>
              <a:t>SEPARATE RELIABILITY CHECKS</a:t>
            </a:r>
          </a:p>
        </p:txBody>
      </p:sp>
      <p:sp>
        <p:nvSpPr>
          <p:cNvPr id="14" name="">
            <a:extLst xmlns:a="http://schemas.openxmlformats.org/drawingml/2006/main">
              <a:ext uri="{FF2B5EF4-FFF2-40B4-BE49-F238E27FC236}">
                <a16:creationId xmlns:a16="http://schemas.microsoft.com/office/drawing/2014/main" id="{62D7AC0B-CDE9-4AB3-B578-F5801587AB20}"/>
              </a:ext>
            </a:extLst>
          </p:cNvPr>
          <p:cNvSpPr>
            <a:spLocks xmlns:a="http://schemas.openxmlformats.org/drawingml/2006/main" noGrp="1"/>
          </p:cNvSpPr>
          <p:nvPr/>
        </p:nvSpPr>
        <p:spPr>
          <a:xfrm xmlns:a="http://schemas.openxmlformats.org/drawingml/2006/main">
            <a:off x="8026400" y="3048000"/>
            <a:ext cx="33020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b="0">
                <a:solidFill>
                  <a:srgbClr val="1A2924"/>
                </a:solidFill>
                <a:latin typeface="Space Grotesk"/>
                <a:ea typeface="Space Grotesk"/>
                <a:cs typeface="Space Grotesk"/>
              </a:defRPr>
            </a:pPr>
            <a:r>
              <a:rPr sz="5100" b="0">
                <a:solidFill>
                  <a:srgbClr val="1A2924"/>
                </a:solidFill>
                <a:latin typeface="Space Grotesk"/>
                <a:ea typeface="Space Grotesk"/>
                <a:cs typeface="Space Grotesk"/>
              </a:rPr>
              <a:t>8 / 8</a:t>
            </a:r>
          </a:p>
        </p:txBody>
      </p:sp>
      <p:sp>
        <p:nvSpPr>
          <p:cNvPr id="15" name="">
            <a:extLst xmlns:a="http://schemas.openxmlformats.org/drawingml/2006/main">
              <a:ext uri="{FF2B5EF4-FFF2-40B4-BE49-F238E27FC236}">
                <a16:creationId xmlns:a16="http://schemas.microsoft.com/office/drawing/2014/main" id="{946B4CA1-3C22-4A95-9B75-C22182C0CCCD}"/>
              </a:ext>
            </a:extLst>
          </p:cNvPr>
          <p:cNvSpPr>
            <a:spLocks xmlns:a="http://schemas.openxmlformats.org/drawingml/2006/main" noGrp="1"/>
          </p:cNvSpPr>
          <p:nvPr/>
        </p:nvSpPr>
        <p:spPr>
          <a:xfrm xmlns:a="http://schemas.openxmlformats.org/drawingml/2006/main">
            <a:off x="8064500" y="3943350"/>
            <a:ext cx="350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A2924"/>
                </a:solidFill>
                <a:latin typeface="Source Sans 3"/>
                <a:ea typeface="Source Sans 3"/>
                <a:cs typeface="Source Sans 3"/>
              </a:defRPr>
            </a:pPr>
            <a:r>
              <a:rPr sz="1650" b="0">
                <a:solidFill>
                  <a:srgbClr val="1A2924"/>
                </a:solidFill>
                <a:latin typeface="Source Sans 3"/>
                <a:ea typeface="Source Sans 3"/>
                <a:cs typeface="Source Sans 3"/>
              </a:rPr>
              <a:t>Recovery checks passed</a:t>
            </a:r>
          </a:p>
        </p:txBody>
      </p:sp>
      <p:sp>
        <p:nvSpPr>
          <p:cNvPr id="16" name="">
            <a:extLst xmlns:a="http://schemas.openxmlformats.org/drawingml/2006/main">
              <a:ext uri="{FF2B5EF4-FFF2-40B4-BE49-F238E27FC236}">
                <a16:creationId xmlns:a16="http://schemas.microsoft.com/office/drawing/2014/main" id="{9EACA507-B2C1-4B39-AD9A-547B820A284E}"/>
              </a:ext>
            </a:extLst>
          </p:cNvPr>
          <p:cNvSpPr>
            <a:spLocks xmlns:a="http://schemas.openxmlformats.org/drawingml/2006/main" noGrp="1"/>
          </p:cNvSpPr>
          <p:nvPr/>
        </p:nvSpPr>
        <p:spPr>
          <a:xfrm xmlns:a="http://schemas.openxmlformats.org/drawingml/2006/main">
            <a:off x="8026400" y="4622800"/>
            <a:ext cx="3302000" cy="79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b="0">
                <a:solidFill>
                  <a:srgbClr val="1A2924"/>
                </a:solidFill>
                <a:latin typeface="Space Grotesk"/>
                <a:ea typeface="Space Grotesk"/>
                <a:cs typeface="Space Grotesk"/>
              </a:defRPr>
            </a:pPr>
            <a:r>
              <a:rPr sz="5100" b="0">
                <a:solidFill>
                  <a:srgbClr val="1A2924"/>
                </a:solidFill>
                <a:latin typeface="Space Grotesk"/>
                <a:ea typeface="Space Grotesk"/>
                <a:cs typeface="Space Grotesk"/>
              </a:rPr>
              <a:t>5 / 5</a:t>
            </a:r>
          </a:p>
        </p:txBody>
      </p:sp>
      <p:sp>
        <p:nvSpPr>
          <p:cNvPr id="17" name="">
            <a:extLst xmlns:a="http://schemas.openxmlformats.org/drawingml/2006/main">
              <a:ext uri="{FF2B5EF4-FFF2-40B4-BE49-F238E27FC236}">
                <a16:creationId xmlns:a16="http://schemas.microsoft.com/office/drawing/2014/main" id="{D4B97EA7-C066-43A5-A70E-A9E106E0BB0B}"/>
              </a:ext>
            </a:extLst>
          </p:cNvPr>
          <p:cNvSpPr>
            <a:spLocks xmlns:a="http://schemas.openxmlformats.org/drawingml/2006/main" noGrp="1"/>
          </p:cNvSpPr>
          <p:nvPr/>
        </p:nvSpPr>
        <p:spPr>
          <a:xfrm xmlns:a="http://schemas.openxmlformats.org/drawingml/2006/main">
            <a:off x="8064500" y="5467350"/>
            <a:ext cx="349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A2924"/>
                </a:solidFill>
                <a:latin typeface="Source Sans 3"/>
                <a:ea typeface="Source Sans 3"/>
                <a:cs typeface="Source Sans 3"/>
              </a:defRPr>
            </a:pPr>
            <a:r>
              <a:rPr sz="1650" b="0">
                <a:solidFill>
                  <a:srgbClr val="1A2924"/>
                </a:solidFill>
                <a:latin typeface="Source Sans 3"/>
                <a:ea typeface="Source Sans 3"/>
                <a:cs typeface="Source Sans 3"/>
              </a:rPr>
              <a:t>Goal-change checks passed</a:t>
            </a:r>
          </a:p>
        </p:txBody>
      </p:sp>
      <p:sp>
        <p:nvSpPr>
          <p:cNvPr id="18" name="">
            <a:extLst xmlns:a="http://schemas.openxmlformats.org/drawingml/2006/main">
              <a:ext uri="{FF2B5EF4-FFF2-40B4-BE49-F238E27FC236}">
                <a16:creationId xmlns:a16="http://schemas.microsoft.com/office/drawing/2014/main" id="{ECB65B27-F84A-4365-A58F-5F6BF632E86E}"/>
              </a:ext>
            </a:extLst>
          </p:cNvPr>
          <p:cNvSpPr>
            <a:spLocks xmlns:a="http://schemas.openxmlformats.org/drawingml/2006/main" noGrp="1"/>
          </p:cNvSpPr>
          <p:nvPr/>
        </p:nvSpPr>
        <p:spPr>
          <a:xfrm xmlns:a="http://schemas.openxmlformats.org/drawingml/2006/main">
            <a:off x="635000" y="5949950"/>
            <a:ext cx="90805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Offline demonstration, not a clinical or real-time decoder</a:t>
            </a:r>
          </a:p>
        </p:txBody>
      </p:sp>
    </p:spTree>
    <p:extLst>
      <p:ext uri="{BB962C8B-B14F-4D97-AF65-F5344CB8AC3E}">
        <p14:creationId xmlns:p14="http://schemas.microsoft.com/office/powerpoint/2010/main" val="1937544328"/>
      </p:ext>
    </p:extLst>
  </p:cSld>
</p:sld>
</file>

<file path=ppt/slides/slide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f45c13c91ee4a70">
            <a:extLst>
              <a:ext uri="{96DAC541-7B7A-43D3-8B79-37D633B846F1}">
                <asvg:svgBlip xmlns:asvg="http://schemas.microsoft.com/office/drawing/2016/SVG/main" r:embed="Rdcf95ac0ce4540ea"/>
              </a:ext>
            </a:extLst>
          </a:blip>
          <a:stretch xmlns:a="http://schemas.openxmlformats.org/drawingml/2006/main"/>
        </p:blipFill>
        <p:spPr>
          <a:xfrm xmlns:a="http://schemas.openxmlformats.org/drawingml/2006/main">
            <a:off x="609600" y="342900"/>
            <a:ext cx="304800"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9FC9F0B-F1DD-4BAD-82F7-8A440B0A2B39}"/>
              </a:ext>
            </a:extLst>
          </p:cNvPr>
          <p:cNvSpPr>
            <a:spLocks xmlns:a="http://schemas.openxmlformats.org/drawingml/2006/main" noGrp="1"/>
          </p:cNvSpPr>
          <p:nvPr/>
        </p:nvSpPr>
        <p:spPr>
          <a:xfrm xmlns:a="http://schemas.openxmlformats.org/drawingml/2006/main">
            <a:off x="1028700" y="374650"/>
            <a:ext cx="2286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pace Grotesk"/>
                <a:ea typeface="Space Grotesk"/>
                <a:cs typeface="Space Grotesk"/>
              </a:defRPr>
            </a:pPr>
            <a:r>
              <a:rPr sz="1550" b="1">
                <a:solidFill>
                  <a:srgbClr val="1A2924"/>
                </a:solidFill>
                <a:latin typeface="Space Grotesk"/>
                <a:ea typeface="Space Grotesk"/>
                <a:cs typeface="Space Grotesk"/>
              </a:rPr>
              <a:t>Second Shift</a:t>
            </a:r>
          </a:p>
        </p:txBody>
      </p:sp>
      <p:sp>
        <p:nvSpPr>
          <p:cNvPr id="3" name="">
            <a:extLst xmlns:a="http://schemas.openxmlformats.org/drawingml/2006/main">
              <a:ext uri="{FF2B5EF4-FFF2-40B4-BE49-F238E27FC236}">
                <a16:creationId xmlns:a16="http://schemas.microsoft.com/office/drawing/2014/main" id="{D3452CC6-1553-4056-8ACD-4861D159FC9C}"/>
              </a:ext>
            </a:extLst>
          </p:cNvPr>
          <p:cNvSpPr>
            <a:spLocks xmlns:a="http://schemas.openxmlformats.org/drawingml/2006/main" noGrp="1"/>
          </p:cNvSpPr>
          <p:nvPr/>
        </p:nvSpPr>
        <p:spPr>
          <a:xfrm xmlns:a="http://schemas.openxmlformats.org/drawingml/2006/main">
            <a:off x="8255000" y="406400"/>
            <a:ext cx="3327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50" b="0">
                <a:solidFill>
                  <a:srgbClr val="5B6861"/>
                </a:solidFill>
                <a:latin typeface="Source Sans 3"/>
                <a:ea typeface="Source Sans 3"/>
                <a:cs typeface="Source Sans 3"/>
              </a:defRPr>
            </a:pPr>
            <a:r>
              <a:rPr sz="1250" b="0">
                <a:solidFill>
                  <a:srgbClr val="5B6861"/>
                </a:solidFill>
                <a:latin typeface="Source Sans 3"/>
                <a:ea typeface="Source Sans 3"/>
                <a:cs typeface="Source Sans 3"/>
              </a:rPr>
              <a:t>Second Shift</a:t>
            </a:r>
          </a:p>
        </p:txBody>
      </p:sp>
      <p:sp>
        <p:nvSpPr>
          <p:cNvPr id="4" name="">
            <a:extLst xmlns:a="http://schemas.openxmlformats.org/drawingml/2006/main">
              <a:ext uri="{FF2B5EF4-FFF2-40B4-BE49-F238E27FC236}">
                <a16:creationId xmlns:a16="http://schemas.microsoft.com/office/drawing/2014/main" id="{81195B41-CE8E-416A-922D-B645CB31A2ED}"/>
              </a:ext>
            </a:extLst>
          </p:cNvPr>
          <p:cNvSpPr>
            <a:spLocks xmlns:a="http://schemas.openxmlformats.org/drawingml/2006/main" noGrp="1"/>
          </p:cNvSpPr>
          <p:nvPr/>
        </p:nvSpPr>
        <p:spPr>
          <a:xfrm xmlns:a="http://schemas.openxmlformats.org/drawingml/2006/main">
            <a:off x="609600" y="6305550"/>
            <a:ext cx="10972800" cy="6350"/>
          </a:xfrm>
          <a:prstGeom xmlns:a="http://schemas.openxmlformats.org/drawingml/2006/main" prst="line">
            <a:avLst/>
          </a:prstGeom>
          <a:noFill xmlns:a="http://schemas.openxmlformats.org/drawingml/2006/main"/>
          <a:ln xmlns:a="http://schemas.openxmlformats.org/drawingml/2006/main" w="6668">
            <a:solidFill>
              <a:srgbClr val="CFD6CB"/>
            </a:solidFill>
          </a:ln>
        </p:spPr>
      </p:sp>
      <p:sp>
        <p:nvSpPr>
          <p:cNvPr id="5" name="">
            <a:extLst xmlns:a="http://schemas.openxmlformats.org/drawingml/2006/main">
              <a:ext uri="{FF2B5EF4-FFF2-40B4-BE49-F238E27FC236}">
                <a16:creationId xmlns:a16="http://schemas.microsoft.com/office/drawing/2014/main" id="{45C5FB76-6EB7-4C49-A5C3-B9A77CF2E7DF}"/>
              </a:ext>
            </a:extLst>
          </p:cNvPr>
          <p:cNvSpPr>
            <a:spLocks xmlns:a="http://schemas.openxmlformats.org/drawingml/2006/main" noGrp="1"/>
          </p:cNvSpPr>
          <p:nvPr/>
        </p:nvSpPr>
        <p:spPr>
          <a:xfrm xmlns:a="http://schemas.openxmlformats.org/drawingml/2006/main">
            <a:off x="609600" y="6426200"/>
            <a:ext cx="38100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0" b="1">
                <a:solidFill>
                  <a:srgbClr val="006D46"/>
                </a:solidFill>
                <a:latin typeface="Source Sans 3"/>
                <a:ea typeface="Source Sans 3"/>
                <a:cs typeface="Source Sans 3"/>
              </a:defRPr>
            </a:pPr>
            <a:r>
              <a:rPr sz="1150" b="1">
                <a:solidFill>
                  <a:srgbClr val="006D46"/>
                </a:solidFill>
                <a:latin typeface="Source Sans 3"/>
                <a:ea typeface="Source Sans 3"/>
                <a:cs typeface="Source Sans 3"/>
              </a:rPr>
              <a:t>NEURO AI</a:t>
            </a:r>
          </a:p>
        </p:txBody>
      </p:sp>
      <p:sp>
        <p:nvSpPr>
          <p:cNvPr id="6" name="">
            <a:extLst xmlns:a="http://schemas.openxmlformats.org/drawingml/2006/main">
              <a:ext uri="{FF2B5EF4-FFF2-40B4-BE49-F238E27FC236}">
                <a16:creationId xmlns:a16="http://schemas.microsoft.com/office/drawing/2014/main" id="{3F275384-8354-4EE0-9D7C-F0279F8ECCEF}"/>
              </a:ext>
            </a:extLst>
          </p:cNvPr>
          <p:cNvSpPr>
            <a:spLocks xmlns:a="http://schemas.openxmlformats.org/drawingml/2006/main" noGrp="1"/>
          </p:cNvSpPr>
          <p:nvPr/>
        </p:nvSpPr>
        <p:spPr>
          <a:xfrm xmlns:a="http://schemas.openxmlformats.org/drawingml/2006/main">
            <a:off x="10541000" y="6426200"/>
            <a:ext cx="1041400" cy="22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50" b="0">
                <a:solidFill>
                  <a:srgbClr val="5B6861"/>
                </a:solidFill>
                <a:latin typeface="Source Sans 3"/>
                <a:ea typeface="Source Sans 3"/>
                <a:cs typeface="Source Sans 3"/>
              </a:defRPr>
            </a:pPr>
            <a:r>
              <a:rPr sz="1150" b="0">
                <a:solidFill>
                  <a:srgbClr val="5B6861"/>
                </a:solidFill>
                <a:latin typeface="Source Sans 3"/>
                <a:ea typeface="Source Sans 3"/>
                <a:cs typeface="Source Sans 3"/>
              </a:rPr>
              <a:t>06 / 06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2b82dedf71b49f4"/>
          <a:stretch xmlns:a="http://schemas.openxmlformats.org/drawingml/2006/main"/>
        </p:blipFill>
        <p:spPr>
          <a:xfrm xmlns:a="http://schemas.openxmlformats.org/drawingml/2006/main">
            <a:off x="6330950" y="952500"/>
            <a:ext cx="5245100" cy="52451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24B6401-9F6B-4025-A78B-2C14DAD0EAC2}"/>
              </a:ext>
            </a:extLst>
          </p:cNvPr>
          <p:cNvSpPr>
            <a:spLocks xmlns:a="http://schemas.openxmlformats.org/drawingml/2006/main" noGrp="1"/>
          </p:cNvSpPr>
          <p:nvPr/>
        </p:nvSpPr>
        <p:spPr>
          <a:xfrm xmlns:a="http://schemas.openxmlformats.org/drawingml/2006/main">
            <a:off x="609600" y="1339850"/>
            <a:ext cx="6159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350" b="0">
                <a:solidFill>
                  <a:srgbClr val="1A2924"/>
                </a:solidFill>
                <a:latin typeface="Space Grotesk"/>
                <a:ea typeface="Space Grotesk"/>
                <a:cs typeface="Space Grotesk"/>
              </a:defRPr>
            </a:pPr>
            <a:r>
              <a:rPr sz="5350" b="0">
                <a:solidFill>
                  <a:srgbClr val="1A2924"/>
                </a:solidFill>
                <a:latin typeface="Space Grotesk"/>
                <a:ea typeface="Space Grotesk"/>
                <a:cs typeface="Space Grotesk"/>
              </a:rPr>
              <a:t>Research that</a:t>
            </a:r>
          </a:p>
          <a:p xmlns:a="http://schemas.openxmlformats.org/drawingml/2006/main">
            <a:pPr algn="l">
              <a:defRPr sz="5350" b="0">
                <a:solidFill>
                  <a:srgbClr val="1A2924"/>
                </a:solidFill>
                <a:latin typeface="Space Grotesk"/>
                <a:ea typeface="Space Grotesk"/>
                <a:cs typeface="Space Grotesk"/>
              </a:defRPr>
            </a:pPr>
            <a:r>
              <a:rPr sz="5350" b="0">
                <a:solidFill>
                  <a:srgbClr val="1A2924"/>
                </a:solidFill>
                <a:latin typeface="Space Grotesk"/>
                <a:ea typeface="Space Grotesk"/>
                <a:cs typeface="Space Grotesk"/>
              </a:rPr>
              <a:t>keeps its</a:t>
            </a:r>
          </a:p>
          <a:p xmlns:a="http://schemas.openxmlformats.org/drawingml/2006/main">
            <a:pPr algn="l">
              <a:defRPr sz="5350" b="0">
                <a:solidFill>
                  <a:srgbClr val="1A2924"/>
                </a:solidFill>
                <a:latin typeface="Space Grotesk"/>
                <a:ea typeface="Space Grotesk"/>
                <a:cs typeface="Space Grotesk"/>
              </a:defRPr>
            </a:pPr>
            <a:r>
              <a:rPr sz="5350" b="0">
                <a:solidFill>
                  <a:srgbClr val="1A2924"/>
                </a:solidFill>
                <a:latin typeface="Space Grotesk"/>
                <a:ea typeface="Space Grotesk"/>
                <a:cs typeface="Space Grotesk"/>
              </a:rPr>
              <a:t>progress</a:t>
            </a:r>
          </a:p>
        </p:txBody>
      </p:sp>
      <p:sp>
        <p:nvSpPr>
          <p:cNvPr id="9" name="">
            <a:extLst xmlns:a="http://schemas.openxmlformats.org/drawingml/2006/main">
              <a:ext uri="{FF2B5EF4-FFF2-40B4-BE49-F238E27FC236}">
                <a16:creationId xmlns:a16="http://schemas.microsoft.com/office/drawing/2014/main" id="{8279421F-8394-4ED0-9070-AA8ECD8F4E3F}"/>
              </a:ext>
            </a:extLst>
          </p:cNvPr>
          <p:cNvSpPr>
            <a:spLocks xmlns:a="http://schemas.openxmlformats.org/drawingml/2006/main" noGrp="1"/>
          </p:cNvSpPr>
          <p:nvPr/>
        </p:nvSpPr>
        <p:spPr>
          <a:xfrm xmlns:a="http://schemas.openxmlformats.org/drawingml/2006/main">
            <a:off x="635000" y="4006850"/>
            <a:ext cx="5715000" cy="84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B6861"/>
                </a:solidFill>
                <a:latin typeface="Source Sans 3"/>
                <a:ea typeface="Source Sans 3"/>
                <a:cs typeface="Source Sans 3"/>
              </a:defRPr>
            </a:pPr>
            <a:r>
              <a:rPr sz="2100" b="0">
                <a:solidFill>
                  <a:srgbClr val="5B6861"/>
                </a:solidFill>
                <a:latin typeface="Source Sans 3"/>
                <a:ea typeface="Source Sans 3"/>
                <a:cs typeface="Source Sans 3"/>
              </a:rPr>
              <a:t>Autonomous EEG experiments.</a:t>
            </a:r>
          </a:p>
          <a:p xmlns:a="http://schemas.openxmlformats.org/drawingml/2006/main">
            <a:pPr algn="l">
              <a:defRPr sz="2100" b="0">
                <a:solidFill>
                  <a:srgbClr val="5B6861"/>
                </a:solidFill>
                <a:latin typeface="Source Sans 3"/>
                <a:ea typeface="Source Sans 3"/>
                <a:cs typeface="Source Sans 3"/>
              </a:defRPr>
            </a:pPr>
            <a:r>
              <a:rPr sz="2100" b="0">
                <a:solidFill>
                  <a:srgbClr val="5B6861"/>
                </a:solidFill>
                <a:latin typeface="Source Sans 3"/>
                <a:ea typeface="Source Sans 3"/>
                <a:cs typeface="Source Sans 3"/>
              </a:rPr>
              <a:t>Evidence that survives the restart.</a:t>
            </a:r>
          </a:p>
        </p:txBody>
      </p:sp>
      <p:sp>
        <p:nvSpPr>
          <p:cNvPr id="10" name="">
            <a:extLst xmlns:a="http://schemas.openxmlformats.org/drawingml/2006/main">
              <a:ext uri="{FF2B5EF4-FFF2-40B4-BE49-F238E27FC236}">
                <a16:creationId xmlns:a16="http://schemas.microsoft.com/office/drawing/2014/main" id="{B3BD3E59-8F4B-4EFA-9280-7A1E20C1B487}"/>
              </a:ext>
            </a:extLst>
          </p:cNvPr>
          <p:cNvSpPr>
            <a:spLocks xmlns:a="http://schemas.openxmlformats.org/drawingml/2006/main" noGrp="1"/>
          </p:cNvSpPr>
          <p:nvPr/>
        </p:nvSpPr>
        <p:spPr>
          <a:xfrm xmlns:a="http://schemas.openxmlformats.org/drawingml/2006/main">
            <a:off x="635000" y="5346700"/>
            <a:ext cx="539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50" b="1">
                <a:solidFill>
                  <a:srgbClr val="1A2924"/>
                </a:solidFill>
                <a:latin typeface="Source Sans 3"/>
                <a:ea typeface="Source Sans 3"/>
                <a:cs typeface="Source Sans 3"/>
              </a:defRPr>
            </a:pPr>
            <a:r>
              <a:rPr sz="1550" b="1">
                <a:solidFill>
                  <a:srgbClr val="1A2924"/>
                </a:solidFill>
                <a:latin typeface="Source Sans 3"/>
                <a:ea typeface="Source Sans 3"/>
                <a:cs typeface="Source Sans 3"/>
              </a:rPr>
              <a:t>Andrew Shatsky and David Shatsky</a:t>
            </a:r>
          </a:p>
        </p:txBody>
      </p:sp>
      <p:sp>
        <p:nvSpPr>
          <p:cNvPr id="11" name="">
            <a:extLst xmlns:a="http://schemas.openxmlformats.org/drawingml/2006/main">
              <a:ext uri="{FF2B5EF4-FFF2-40B4-BE49-F238E27FC236}">
                <a16:creationId xmlns:a16="http://schemas.microsoft.com/office/drawing/2014/main" id="{7B06AF09-0BDB-4A31-8431-905BEB6C7548}"/>
              </a:ext>
            </a:extLst>
          </p:cNvPr>
          <p:cNvSpPr>
            <a:spLocks xmlns:a="http://schemas.openxmlformats.org/drawingml/2006/main" noGrp="1"/>
          </p:cNvSpPr>
          <p:nvPr/>
        </p:nvSpPr>
        <p:spPr>
          <a:xfrm xmlns:a="http://schemas.openxmlformats.org/drawingml/2006/main">
            <a:off x="635000" y="5791200"/>
            <a:ext cx="5651500" cy="29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50" b="0">
                <a:solidFill>
                  <a:srgbClr val="006D46"/>
                </a:solidFill>
                <a:latin typeface="Source Sans 3"/>
                <a:ea typeface="Source Sans 3"/>
                <a:cs typeface="Source Sans 3"/>
              </a:defRPr>
            </a:pPr>
            <a:r>
              <a:rPr sz="1450" b="0">
                <a:solidFill>
                  <a:srgbClr val="006D46"/>
                </a:solidFill>
                <a:latin typeface="Source Sans 3"/>
                <a:ea typeface="Source Sans 3"/>
                <a:cs typeface="Source Sans 3"/>
                <a:hlinkClick xmlns:r="http://schemas.openxmlformats.org/officeDocument/2006/relationships" r:id="R1370171a1d4949c2"/>
              </a:rPr>
              <a:t>github.com/uyqv/MongoDB-Hackathon</a:t>
            </a:r>
          </a:p>
        </p:txBody>
      </p:sp>
    </p:spTree>
    <p:extLst>
      <p:ext uri="{BB962C8B-B14F-4D97-AF65-F5344CB8AC3E}">
        <p14:creationId xmlns:p14="http://schemas.microsoft.com/office/powerpoint/2010/main" val="12341958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2026-09-26T19:41:01.2450000Z</dcterms:created>
  <dcterms:modified xsi:type="dcterms:W3CDTF">2026-09-26T19:41:01.2450000Z</dcterms:modified>
</coreProperties>
</file>